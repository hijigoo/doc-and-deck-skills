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Foundry는 모델, 에이전트, 도구와 관리 기능을 연결하는 플랫폼입니다.</a:t>
            </a:r>
            <a:br/>
            <a:r>
              <a:rPr lang="en-US" dirty="0"/>
              <a:t>이 자료는 기능 관계와 도입 판단을 설명하며 실제 Azure 배포를 수행하지 않았습니다.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오늘은 제품 메뉴보다 업무의 질문을 먼저 보겠습니다.</a:t>
            </a:r>
            <a:br/>
            <a:r>
              <a:rPr lang="en-US" dirty="0"/>
              <a:t>무엇을 만들지, 어떤 권한을 줄지, 어떤 근거로 출시할지를 연결하겠습니다.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COVER</a:t>
            </a:r>
            <a:br/>
            <a:r>
              <a:rPr lang="en-US" dirty="0"/>
              <a:t>모델 실험에서 운영 판단까지</a:t>
            </a:r>
            <a:br/>
            <a:r>
              <a:rPr lang="en-US" dirty="0"/>
              <a:t/>
            </a:r>
            <a:br/>
            <a:r>
              <a:rPr lang="en-US" dirty="0"/>
              <a:t>Microsoft Foundry에서 모델·에이전트·도구와 평가를 함께 이해합니다.</a:t>
            </a:r>
            <a:br/>
            <a:r>
              <a:rPr lang="en-US" dirty="0"/>
              <a:t/>
            </a:r>
            <a:br/>
            <a:r>
              <a:rPr lang="en-US" dirty="0"/>
              <a:t>출발점</a:t>
            </a:r>
            <a:br/>
            <a:r>
              <a:rPr lang="en-US" dirty="0"/>
              <a:t/>
            </a:r>
            <a:br/>
            <a:r>
              <a:rPr lang="en-US" dirty="0"/>
              <a:t>좋은 답변 한 번보다 반복 가능한 업무 결과가 중요합니다. 해결할 문제와 허용할 행동부터 정합니다.</a:t>
            </a:r>
            <a:br/>
            <a:r>
              <a:rPr lang="en-US" dirty="0"/>
              <a:t/>
            </a:r>
            <a:br/>
            <a:r>
              <a:rPr lang="en-US" dirty="0"/>
              <a:t>읽기 전에</a:t>
            </a:r>
            <a:br/>
            <a:r>
              <a:rPr lang="en-US" dirty="0"/>
              <a:t/>
            </a:r>
            <a:br/>
            <a:r>
              <a:rPr lang="en-US" dirty="0"/>
              <a:t>Azure AI Foundry의 현재 브랜드는 Microsoft Foundry입니다. 모든 기능이 모든 리전에 제공되는 것은 아닙니다.</a:t>
            </a:r>
            <a:br/>
            <a:r>
              <a:rPr lang="en-US" dirty="0"/>
              <a:t/>
            </a:r>
            <a:br/>
            <a:r>
              <a:rPr lang="en-US" dirty="0"/>
              <a:t>01</a:t>
            </a:r>
            <a:br/>
            <a:r>
              <a:rPr lang="en-US" dirty="0"/>
              <a:t>역할을 구분합니다</a:t>
            </a:r>
            <a:br/>
            <a:r>
              <a:rPr lang="en-US" dirty="0"/>
              <a:t/>
            </a:r>
            <a:br/>
            <a:r>
              <a:rPr lang="en-US" dirty="0"/>
              <a:t>모델, 에이전트, 도구가 각각 무엇을 담당하는지 살펴봅니다.</a:t>
            </a:r>
            <a:br/>
            <a:r>
              <a:rPr lang="en-US" dirty="0"/>
              <a:t/>
            </a:r>
            <a:br/>
            <a:r>
              <a:rPr lang="en-US" dirty="0"/>
              <a:t>02</a:t>
            </a:r>
            <a:br/>
            <a:r>
              <a:rPr lang="en-US" dirty="0"/>
              <a:t>구현 경로를 고릅니다</a:t>
            </a:r>
            <a:br/>
            <a:r>
              <a:rPr lang="en-US" dirty="0"/>
              <a:t/>
            </a:r>
            <a:br/>
            <a:r>
              <a:rPr lang="en-US" dirty="0"/>
              <a:t>직접 호출부터 코드 기반 에이전트까지 필요한 제어 수준으로 선택합니다.</a:t>
            </a:r>
            <a:br/>
            <a:r>
              <a:rPr lang="en-US" dirty="0"/>
              <a:t/>
            </a:r>
            <a:br/>
            <a:r>
              <a:rPr lang="en-US" dirty="0"/>
              <a:t>03</a:t>
            </a:r>
            <a:br/>
            <a:r>
              <a:rPr lang="en-US" dirty="0"/>
              <a:t>근거로 출시를 판단합니다</a:t>
            </a:r>
            <a:br/>
            <a:r>
              <a:rPr lang="en-US" dirty="0"/>
              <a:t/>
            </a:r>
            <a:br/>
            <a:r>
              <a:rPr lang="en-US" dirty="0"/>
              <a:t>평가 결과와 실패 사례, 운영 책임을 연결해 진행 여부를 결정합니다.</a:t>
            </a:r>
            <a:br/>
            <a:r>
              <a:rPr lang="en-US" dirty="0"/>
              <a:t/>
            </a:r>
            <a:br/>
            <a:r>
              <a:rPr lang="en-US" dirty="0"/>
              <a:t>핵심 관점</a:t>
            </a:r>
            <a:br/>
            <a:r>
              <a:rPr lang="en-US" dirty="0"/>
              <a:t/>
            </a:r>
            <a:br/>
            <a:r>
              <a:rPr lang="en-US" dirty="0"/>
              <a:t>기능을 고르기 전에 업무 범위, 통제 조건, 출시 근거를 연결합니다.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01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평가와 관측은 개발 중 실험과 운영 중 확인에 서로 다른 근거를 제공합니다.</a:t>
            </a:r>
            <a:br/>
            <a:r>
              <a:rPr lang="en-US" dirty="0"/>
              <a:t>실험 응답을 실제 서비스의 품질·안전·비용 보장으로 확대 해석하지 않습니다.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시연은 가능성을 보여줍니다. 운영 판단은 실패 상황에서도 무엇을 할지 묻습니다.</a:t>
            </a:r>
            <a:br/>
            <a:r>
              <a:rPr lang="en-US" dirty="0"/>
              <a:t>이 차이를 먼저 합의하면 평가와 관측을 뒤늦게 붙이지 않을 수 있습니다.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CONTRAST</a:t>
            </a:r>
            <a:br/>
            <a:r>
              <a:rPr lang="en-US" dirty="0"/>
              <a:t>좋은 시연과 운영 준비는 다릅니다</a:t>
            </a:r>
            <a:br/>
            <a:r>
              <a:rPr lang="en-US" dirty="0"/>
              <a:t/>
            </a:r>
            <a:br/>
            <a:r>
              <a:rPr lang="en-US" dirty="0"/>
              <a:t>같은 AI 응답도 실험과 업무 운영에서는 확인해야 할 조건이 달라집니다.</a:t>
            </a:r>
            <a:br/>
            <a:r>
              <a:rPr lang="en-US" dirty="0"/>
              <a:t/>
            </a:r>
            <a:br/>
            <a:r>
              <a:rPr lang="en-US" dirty="0"/>
              <a:t>BEFORE</a:t>
            </a:r>
            <a:br/>
            <a:r>
              <a:rPr lang="en-US" dirty="0"/>
              <a:t>실험 · 가능한가</a:t>
            </a:r>
            <a:br/>
            <a:r>
              <a:rPr lang="en-US" dirty="0"/>
              <a:t/>
            </a:r>
            <a:br/>
            <a:r>
              <a:rPr lang="en-US" dirty="0"/>
              <a:t>짧은 입력으로 모델의 응답을 살펴보고 업무 가설을 좁힙니다.</a:t>
            </a:r>
            <a:br/>
            <a:r>
              <a:rPr lang="en-US" dirty="0"/>
              <a:t/>
            </a:r>
            <a:br/>
            <a:r>
              <a:rPr lang="en-US" dirty="0"/>
              <a:t>전환</a:t>
            </a:r>
            <a:br/>
            <a:r>
              <a:rPr lang="en-US" dirty="0"/>
              <a:t>AFTER</a:t>
            </a:r>
            <a:br/>
            <a:r>
              <a:rPr lang="en-US" dirty="0"/>
              <a:t>운영 · 맡길 수 있는가</a:t>
            </a:r>
            <a:br/>
            <a:r>
              <a:rPr lang="en-US" dirty="0"/>
              <a:t/>
            </a:r>
            <a:br/>
            <a:r>
              <a:rPr lang="en-US" dirty="0"/>
              <a:t>대표 질문과 실패 조건, 허용 행동, 관측과 중단 책임을 함께 확인합니다.</a:t>
            </a:r>
            <a:br/>
            <a:r>
              <a:rPr lang="en-US" dirty="0"/>
              <a:t/>
            </a:r>
            <a:br/>
            <a:r>
              <a:rPr lang="en-US" dirty="0"/>
              <a:t>현재의 제약</a:t>
            </a:r>
            <a:br/>
            <a:r>
              <a:rPr lang="en-US" dirty="0"/>
              <a:t/>
            </a:r>
            <a:br/>
            <a:r>
              <a:rPr lang="en-US" dirty="0"/>
              <a:t>실험은 가능성을 찾는 출발점입니다. 대표 사례 하나가 전체 사용자와 예외 상황을 대신하지는 않습니다.</a:t>
            </a:r>
            <a:br/>
            <a:r>
              <a:rPr lang="en-US" dirty="0"/>
              <a:t/>
            </a:r>
            <a:br/>
            <a:r>
              <a:rPr lang="en-US" dirty="0"/>
              <a:t>달라지는 지점</a:t>
            </a:r>
            <a:br/>
            <a:r>
              <a:rPr lang="en-US" dirty="0"/>
              <a:t/>
            </a:r>
            <a:br/>
            <a:r>
              <a:rPr lang="en-US" dirty="0"/>
              <a:t>실험을 버리는 대신 평가 데이터, 접근 통제, 추적 기록을 더해 반복 가능한 판단으로 발전시킵니다.</a:t>
            </a:r>
            <a:br/>
            <a:r>
              <a:rPr lang="en-US" dirty="0"/>
              <a:t/>
            </a:r>
            <a:br/>
            <a:r>
              <a:rPr lang="en-US" dirty="0"/>
              <a:t>전환의 조건</a:t>
            </a:r>
            <a:br/>
            <a:r>
              <a:rPr lang="en-US" dirty="0"/>
              <a:t/>
            </a:r>
            <a:br/>
            <a:r>
              <a:rPr lang="en-US" dirty="0"/>
              <a:t>아래 비교는 도입 관점의 제안입니다. Foundry를 선택했다는 사실만으로 운영 준비가 끝나지는 않습니다.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02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에이전트가 도구를 호출할 수 있다는 사실과 데이터 접근 권한은 별개입니다.</a:t>
            </a:r>
            <a:br/>
            <a:r>
              <a:rPr lang="en-US" dirty="0"/>
              <a:t>Foundry의 구성 개념을 조직의 보안 경계나 실제 배포 구조와 혼동하지 않습니다.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왼쪽은 사용할 재료와 기능, 가운데는 실행을 구성하는 역할, 오른쪽은 업무 경험입니다.</a:t>
            </a:r>
            <a:br/>
            <a:r>
              <a:rPr lang="en-US" dirty="0"/>
              <a:t>이 그림은 역할 설명이며 검증된 네트워크 배포도가 아닙니다.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ARCHITECTURE</a:t>
            </a:r>
            <a:br/>
            <a:r>
              <a:rPr lang="en-US" dirty="0"/>
              <a:t>Foundry의 역할을 세 층으로 읽습니다</a:t>
            </a:r>
            <a:br/>
            <a:r>
              <a:rPr lang="en-US" dirty="0"/>
              <a:t/>
            </a:r>
            <a:br/>
            <a:r>
              <a:rPr lang="en-US" dirty="0"/>
              <a:t>입력과 모델·도구, 에이전트 구성, 업무 응용을 잇는 개념도입니다.</a:t>
            </a:r>
            <a:br/>
            <a:r>
              <a:rPr lang="en-US" dirty="0"/>
              <a:t/>
            </a:r>
            <a:br/>
            <a:r>
              <a:rPr lang="en-US" dirty="0"/>
              <a:t>01 · 기반 / 원천</a:t>
            </a:r>
            <a:br/>
            <a:r>
              <a:rPr lang="en-US" dirty="0"/>
              <a:t>모델 · 도구 · 지식</a:t>
            </a:r>
            <a:br/>
            <a:r>
              <a:rPr lang="en-US" dirty="0"/>
              <a:t/>
            </a:r>
            <a:br/>
            <a:r>
              <a:rPr lang="en-US" dirty="0"/>
              <a:t>업무에 맞는 추론 모델과 사용할 수 있는 자료·기능을 고릅니다.</a:t>
            </a:r>
            <a:br/>
            <a:r>
              <a:rPr lang="en-US" dirty="0"/>
              <a:t/>
            </a:r>
            <a:br/>
            <a:r>
              <a:rPr lang="en-US" dirty="0"/>
              <a:t>논리적 구성 범위</a:t>
            </a:r>
            <a:br/>
            <a:r>
              <a:rPr lang="en-US" dirty="0"/>
              <a:t>02 · 공통 모델</a:t>
            </a:r>
            <a:br/>
            <a:r>
              <a:rPr lang="en-US" dirty="0"/>
              <a:t>에이전트 구성</a:t>
            </a:r>
            <a:br/>
            <a:r>
              <a:rPr lang="en-US" dirty="0"/>
              <a:t/>
            </a:r>
            <a:br/>
            <a:r>
              <a:rPr lang="en-US" dirty="0"/>
              <a:t>지침과 대화, 도구 사용을 구성하며 허용 행동을 분명히 합니다.</a:t>
            </a:r>
            <a:br/>
            <a:r>
              <a:rPr lang="en-US" dirty="0"/>
              <a:t/>
            </a:r>
            <a:br/>
            <a:r>
              <a:rPr lang="en-US" dirty="0"/>
              <a:t>03 · 의미 / 활용</a:t>
            </a:r>
            <a:br/>
            <a:r>
              <a:rPr lang="en-US" dirty="0"/>
              <a:t>업무 응용</a:t>
            </a:r>
            <a:br/>
            <a:r>
              <a:rPr lang="en-US" dirty="0"/>
              <a:t/>
            </a:r>
            <a:br/>
            <a:r>
              <a:rPr lang="en-US" dirty="0"/>
              <a:t>응답과 근거를 사용자 작업에 연결하고 예외 처리 경로를 제공합니다.</a:t>
            </a:r>
            <a:br/>
            <a:r>
              <a:rPr lang="en-US" dirty="0"/>
              <a:t/>
            </a:r>
            <a:br/>
            <a:r>
              <a:rPr lang="en-US" dirty="0"/>
              <a:t>관계</a:t>
            </a:r>
            <a:br/>
            <a:r>
              <a:rPr lang="en-US" dirty="0"/>
              <a:t>관계</a:t>
            </a:r>
            <a:br/>
            <a:r>
              <a:rPr lang="en-US" dirty="0"/>
              <a:t>통제 · 공통 조건</a:t>
            </a:r>
            <a:br/>
            <a:r>
              <a:rPr lang="en-US" dirty="0"/>
              <a:t/>
            </a:r>
            <a:br/>
            <a:r>
              <a:rPr lang="en-US" dirty="0"/>
              <a:t>Foundry project는 관련 AI 자산과 구성을 조직하는 작업 단위입니다. 그림은 논리적 역할 구분입니다.</a:t>
            </a:r>
            <a:br/>
            <a:r>
              <a:rPr lang="en-US" dirty="0"/>
              <a:t/>
            </a:r>
            <a:br/>
            <a:r>
              <a:rPr lang="en-US" dirty="0"/>
              <a:t>관측 · 확인할 범위</a:t>
            </a:r>
            <a:br/>
            <a:r>
              <a:rPr lang="en-US" dirty="0"/>
              <a:t/>
            </a:r>
            <a:br/>
            <a:r>
              <a:rPr lang="en-US" dirty="0"/>
              <a:t>데이터 접근, 신원, 네트워크 조건과 기록 범위는 별도로 설계하고 검증합니다.</a:t>
            </a:r>
            <a:br/>
            <a:r>
              <a:rPr lang="en-US" dirty="0"/>
              <a:t/>
            </a:r>
            <a:br/>
            <a:r>
              <a:rPr lang="en-US" dirty="0"/>
              <a:t>연결의 의미</a:t>
            </a:r>
            <a:br/>
            <a:r>
              <a:rPr lang="en-US" dirty="0"/>
              <a:t/>
            </a:r>
            <a:br/>
            <a:r>
              <a:rPr lang="en-US" dirty="0"/>
              <a:t>실선은 개념을 읽는 관계입니다. 실제 API 호출, VNet이나 데이터 이동 경로를 뜻하지 않습니다.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03 / 20</a:t>
            </a:r>
            <a:br/>
            <a:r>
              <a:rPr lang="en-US" dirty="0"/>
              <a:t>관계</a:t>
            </a:r>
            <a:br/>
            <a:r>
              <a:rPr lang="en-US" dirty="0"/>
              <a:t>관계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이는 공식 기능을 바탕으로 구성한 도입 제안이며 제품의 자동 승인 절차가 아닙니다.</a:t>
            </a:r>
            <a:br/>
            <a:r>
              <a:rPr lang="en-US" dirty="0"/>
              <a:t>단계의 순서와 산출물은 업무의 위험도와 조직의 검토 절차에 맞게 조정합니다.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먼저 완료 기준을 정한 뒤 작게 만듭니다.</a:t>
            </a:r>
            <a:br/>
            <a:r>
              <a:rPr lang="en-US" dirty="0"/>
              <a:t>평가에서 발견한 실패를 수정하고, 운영 책임이 준비되었는지 확인합니다.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PROCESS</a:t>
            </a:r>
            <a:br/>
            <a:r>
              <a:rPr lang="en-US" dirty="0"/>
              <a:t>평가 기준부터 작은 실행을 연결합니다</a:t>
            </a:r>
            <a:br/>
            <a:r>
              <a:rPr lang="en-US" dirty="0"/>
              <a:t/>
            </a:r>
            <a:br/>
            <a:r>
              <a:rPr lang="en-US" dirty="0"/>
              <a:t>범위 → 구현 → 평가 → 운영 준비로 이어지는 네 단계 도입 제안입니다.</a:t>
            </a:r>
            <a:br/>
            <a:r>
              <a:rPr lang="en-US" dirty="0"/>
              <a:t/>
            </a:r>
            <a:br/>
            <a:r>
              <a:rPr lang="en-US" dirty="0"/>
              <a:t>01</a:t>
            </a:r>
            <a:br/>
            <a:r>
              <a:rPr lang="en-US" dirty="0"/>
              <a:t>업무 범위</a:t>
            </a:r>
            <a:br/>
            <a:r>
              <a:rPr lang="en-US" dirty="0"/>
              <a:t/>
            </a:r>
            <a:br/>
            <a:r>
              <a:rPr lang="en-US" dirty="0"/>
              <a:t>사용자, 질문, 허용 행동과 제외할 상황을 합의합니다.</a:t>
            </a:r>
            <a:br/>
            <a:r>
              <a:rPr lang="en-US" dirty="0"/>
              <a:t/>
            </a:r>
            <a:br/>
            <a:r>
              <a:rPr lang="en-US" dirty="0"/>
              <a:t>→</a:t>
            </a:r>
            <a:br/>
            <a:r>
              <a:rPr lang="en-US" dirty="0"/>
              <a:t>02</a:t>
            </a:r>
            <a:br/>
            <a:r>
              <a:rPr lang="en-US" dirty="0"/>
              <a:t>작은 구현</a:t>
            </a:r>
            <a:br/>
            <a:r>
              <a:rPr lang="en-US" dirty="0"/>
              <a:t/>
            </a:r>
            <a:br/>
            <a:r>
              <a:rPr lang="en-US" dirty="0"/>
              <a:t>모델과 구현 경로를 골라 제한된 데이터로 연결합니다.</a:t>
            </a:r>
            <a:br/>
            <a:r>
              <a:rPr lang="en-US" dirty="0"/>
              <a:t/>
            </a:r>
            <a:br/>
            <a:r>
              <a:rPr lang="en-US" dirty="0"/>
              <a:t>↓</a:t>
            </a:r>
            <a:br/>
            <a:r>
              <a:rPr lang="en-US" dirty="0"/>
              <a:t>03</a:t>
            </a:r>
            <a:br/>
            <a:r>
              <a:rPr lang="en-US" dirty="0"/>
              <a:t>평가와 수정</a:t>
            </a:r>
            <a:br/>
            <a:r>
              <a:rPr lang="en-US" dirty="0"/>
              <a:t/>
            </a:r>
            <a:br/>
            <a:r>
              <a:rPr lang="en-US" dirty="0"/>
              <a:t>대표 질문과 실패 사례에서 품질·안전·도구 동작을 확인합니다.</a:t>
            </a:r>
            <a:br/>
            <a:r>
              <a:rPr lang="en-US" dirty="0"/>
              <a:t/>
            </a:r>
            <a:br/>
            <a:r>
              <a:rPr lang="en-US" dirty="0"/>
              <a:t>←</a:t>
            </a:r>
            <a:br/>
            <a:r>
              <a:rPr lang="en-US" dirty="0"/>
              <a:t>04</a:t>
            </a:r>
            <a:br/>
            <a:r>
              <a:rPr lang="en-US" dirty="0"/>
              <a:t>운영 준비</a:t>
            </a:r>
            <a:br/>
            <a:r>
              <a:rPr lang="en-US" dirty="0"/>
              <a:t/>
            </a:r>
            <a:br/>
            <a:r>
              <a:rPr lang="en-US" dirty="0"/>
              <a:t>추적, 오류 대응, 비용 확인과 중단 책임을 연결합니다.</a:t>
            </a:r>
            <a:br/>
            <a:r>
              <a:rPr lang="en-US" dirty="0"/>
              <a:t/>
            </a:r>
            <a:br/>
            <a:r>
              <a:rPr lang="en-US" dirty="0"/>
              <a:t>입력 조건</a:t>
            </a:r>
            <a:br/>
            <a:r>
              <a:rPr lang="en-US" dirty="0"/>
              <a:t/>
            </a:r>
            <a:br/>
            <a:r>
              <a:rPr lang="en-US" dirty="0"/>
              <a:t>대표 입력, 원하는 출력과 실패 조건을 먼저 적습니다. 그 기록을 다음 단계의 입력으로 사용합니다.</a:t>
            </a:r>
            <a:br/>
            <a:r>
              <a:rPr lang="en-US" dirty="0"/>
              <a:t/>
            </a:r>
            <a:br/>
            <a:r>
              <a:rPr lang="en-US" dirty="0"/>
              <a:t>출력의 기준</a:t>
            </a:r>
            <a:br/>
            <a:r>
              <a:rPr lang="en-US" dirty="0"/>
              <a:t/>
            </a:r>
            <a:br/>
            <a:r>
              <a:rPr lang="en-US" dirty="0"/>
              <a:t>다음 단계에 넘길 산출물로 완료를 판단합니다. 구현 여부와 출시 가능 여부를 구분합니다.</a:t>
            </a:r>
            <a:br/>
            <a:r>
              <a:rPr lang="en-US" dirty="0"/>
              <a:t/>
            </a:r>
            <a:br/>
            <a:r>
              <a:rPr lang="en-US" dirty="0"/>
              <a:t>되돌림 조건</a:t>
            </a:r>
            <a:br/>
            <a:r>
              <a:rPr lang="en-US" dirty="0"/>
              <a:t/>
            </a:r>
            <a:br/>
            <a:r>
              <a:rPr lang="en-US" dirty="0"/>
              <a:t>품질·권한·기록 조건이 부족하면 이전 단계로 돌아갑니다. 실패 사례도 평가 자료에 남깁니다.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04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Prompt agent는 지침과 모델·도구를 설정하는 선언형 경로입니다.</a:t>
            </a:r>
            <a:br/>
            <a:r>
              <a:rPr lang="en-US" dirty="0"/>
              <a:t>Hosted agent는 자체 코드와 프레임워크를 실행하며 코드·의존성에 대한 팀의 책임이 남습니다.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모든 업무가 에이전트를 필요로 하지는 않습니다.</a:t>
            </a:r>
            <a:br/>
            <a:r>
              <a:rPr lang="en-US" dirty="0"/>
              <a:t>필요한 행동과 제어 수준을 먼저 정한 뒤 가장 단순한 구현 경로를 선택합니다.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MATRIX</a:t>
            </a:r>
            <a:br/>
            <a:r>
              <a:rPr lang="en-US" dirty="0"/>
              <a:t>필요한 제어 수준으로 구현을 고릅니다</a:t>
            </a:r>
            <a:br/>
            <a:r>
              <a:rPr lang="en-US" dirty="0"/>
              <a:t/>
            </a:r>
            <a:br/>
            <a:r>
              <a:rPr lang="en-US" dirty="0"/>
              <a:t>직접 모델 호출, prompt agent, hosted agent는 서로 다른 시작점입니다.</a:t>
            </a:r>
            <a:br/>
            <a:r>
              <a:rPr lang="en-US" dirty="0"/>
              <a:t/>
            </a:r>
            <a:br/>
            <a:r>
              <a:rPr lang="en-US" dirty="0"/>
              <a:t>시작 경로	직접 관리하는 것	선택 기준</a:t>
            </a:r>
            <a:br/>
            <a:r>
              <a:rPr lang="en-US" dirty="0"/>
              <a:t>모델 직접 호출	애플리케이션 코드	도구 없이 추론이 필요</a:t>
            </a:r>
            <a:br/>
            <a:r>
              <a:rPr lang="en-US" dirty="0"/>
              <a:t>Prompt agent	지침 · 모델 · 도구	선언형 구성으로 시작</a:t>
            </a:r>
            <a:br/>
            <a:r>
              <a:rPr lang="en-US" dirty="0"/>
              <a:t>Hosted agent	자체 코드와 의존성	고유한 실행 로직 제어</a:t>
            </a:r>
            <a:br/>
            <a:r>
              <a:rPr lang="en-US" dirty="0"/>
              <a:t>비교 범위</a:t>
            </a:r>
            <a:br/>
            <a:r>
              <a:rPr lang="en-US" dirty="0"/>
              <a:t/>
            </a:r>
            <a:br/>
            <a:r>
              <a:rPr lang="en-US" dirty="0"/>
              <a:t>비교는 텍스트 중심 업무 범위입니다. 음성 기반 prompt agent는 이번 표에서 제외합니다.</a:t>
            </a:r>
            <a:br/>
            <a:r>
              <a:rPr lang="en-US" dirty="0"/>
              <a:t/>
            </a:r>
            <a:br/>
            <a:r>
              <a:rPr lang="en-US" dirty="0"/>
              <a:t>판단의 순서</a:t>
            </a:r>
            <a:br/>
            <a:r>
              <a:rPr lang="en-US" dirty="0"/>
              <a:t/>
            </a:r>
            <a:br/>
            <a:r>
              <a:rPr lang="en-US" dirty="0"/>
              <a:t>도구가 필요하지 않다면 직접 호출부터 검토합니다. 고유한 코드가 필요한 경우에만 복잡도를 늘립니다.</a:t>
            </a:r>
            <a:br/>
            <a:r>
              <a:rPr lang="en-US" dirty="0"/>
              <a:t/>
            </a:r>
            <a:br/>
            <a:r>
              <a:rPr lang="en-US" dirty="0"/>
              <a:t>표의 한계</a:t>
            </a:r>
            <a:br/>
            <a:r>
              <a:rPr lang="en-US" dirty="0"/>
              <a:t/>
            </a:r>
            <a:br/>
            <a:r>
              <a:rPr lang="en-US" dirty="0"/>
              <a:t>직접 호출은 에이전트 유형이 아닙니다. 실제 지원 모델·도구·리전과 출시 상태를 별도로 확인합니다.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05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실제 문서나 사용자 데이터를 사용하지 않은 설명용 시나리오입니다.</a:t>
            </a:r>
            <a:br/>
            <a:r>
              <a:rPr lang="en-US" dirty="0"/>
              <a:t>권한 필터, 근거 부족 시 행동과 사람에게 넘기는 경로를 별도 구현·검증해야 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답변을 빨리 만드는 것보다 어떤 근거를 볼 수 있는지 먼저 확인합니다.</a:t>
            </a:r>
            <a:br/>
            <a:r>
              <a:rPr lang="en-US" dirty="0"/>
              <a:t>모델의 지침만으로 접근 권한을 통제했다고 판단하지 않습니다.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SCENARIO</a:t>
            </a:r>
            <a:br/>
            <a:r>
              <a:rPr lang="en-US" dirty="0"/>
              <a:t>사내 문서 Q&amp;A는 근거부터 확인합니다</a:t>
            </a:r>
            <a:br/>
            <a:r>
              <a:rPr lang="en-US" dirty="0"/>
              <a:t/>
            </a:r>
            <a:br/>
            <a:r>
              <a:rPr lang="en-US" dirty="0"/>
              <a:t>질문, 접근 확인, 근거 검토, 답변을 잇는 가상 업무 시나리오입니다.</a:t>
            </a:r>
            <a:br/>
            <a:r>
              <a:rPr lang="en-US" dirty="0"/>
              <a:t/>
            </a:r>
            <a:br/>
            <a:r>
              <a:rPr lang="en-US" dirty="0"/>
              <a:t>공통 상황</a:t>
            </a:r>
            <a:br/>
            <a:r>
              <a:rPr lang="en-US" dirty="0"/>
              <a:t/>
            </a:r>
            <a:br/>
            <a:r>
              <a:rPr lang="en-US" dirty="0"/>
              <a:t>직원이 허용된 사내 문서를 질문합니다. 확인할 근거가 없으면 답을 꾸며내지 않고 추가 확인을 요청합니다.</a:t>
            </a:r>
            <a:br/>
            <a:r>
              <a:rPr lang="en-US" dirty="0"/>
              <a:t/>
            </a:r>
            <a:br/>
            <a:r>
              <a:rPr lang="en-US" dirty="0"/>
              <a:t>01</a:t>
            </a:r>
            <a:br/>
            <a:r>
              <a:rPr lang="en-US" dirty="0"/>
              <a:t>사용자 · 질문</a:t>
            </a:r>
            <a:br/>
            <a:r>
              <a:rPr lang="en-US" dirty="0"/>
              <a:t/>
            </a:r>
            <a:br/>
            <a:r>
              <a:rPr lang="en-US" dirty="0"/>
              <a:t>업무 맥락과 필요한 답변을 제공하며 민감한 입력을 최소화합니다.</a:t>
            </a:r>
            <a:br/>
            <a:r>
              <a:rPr lang="en-US" dirty="0"/>
              <a:t/>
            </a:r>
            <a:br/>
            <a:r>
              <a:rPr lang="en-US" dirty="0"/>
              <a:t>02</a:t>
            </a:r>
            <a:br/>
            <a:r>
              <a:rPr lang="en-US" dirty="0"/>
              <a:t>응용 · 접근 확인</a:t>
            </a:r>
            <a:br/>
            <a:r>
              <a:rPr lang="en-US" dirty="0"/>
              <a:t/>
            </a:r>
            <a:br/>
            <a:r>
              <a:rPr lang="en-US" dirty="0"/>
              <a:t>신원과 허용 자료 범위를 확인한 뒤 검색 요청을 구성합니다.</a:t>
            </a:r>
            <a:br/>
            <a:r>
              <a:rPr lang="en-US" dirty="0"/>
              <a:t/>
            </a:r>
            <a:br/>
            <a:r>
              <a:rPr lang="en-US" dirty="0"/>
              <a:t>03</a:t>
            </a:r>
            <a:br/>
            <a:r>
              <a:rPr lang="en-US" dirty="0"/>
              <a:t>에이전트 · 근거 검토</a:t>
            </a:r>
            <a:br/>
            <a:r>
              <a:rPr lang="en-US" dirty="0"/>
              <a:t/>
            </a:r>
            <a:br/>
            <a:r>
              <a:rPr lang="en-US" dirty="0"/>
              <a:t>검색된 자료가 질문에 답하는지 확인하고 출처를 연결합니다.</a:t>
            </a:r>
            <a:br/>
            <a:r>
              <a:rPr lang="en-US" dirty="0"/>
              <a:t/>
            </a:r>
            <a:br/>
            <a:r>
              <a:rPr lang="en-US" dirty="0"/>
              <a:t>04</a:t>
            </a:r>
            <a:br/>
            <a:r>
              <a:rPr lang="en-US" dirty="0"/>
              <a:t>사용자 · 답변 확인</a:t>
            </a:r>
            <a:br/>
            <a:r>
              <a:rPr lang="en-US" dirty="0"/>
              <a:t/>
            </a:r>
            <a:br/>
            <a:r>
              <a:rPr lang="en-US" dirty="0"/>
              <a:t>답변과 근거를 검토하고 불확실한 내용은 담당자에게 넘깁니다.</a:t>
            </a:r>
            <a:br/>
            <a:r>
              <a:rPr lang="en-US" dirty="0"/>
              <a:t/>
            </a:r>
            <a:br/>
            <a:r>
              <a:rPr lang="en-US" dirty="0"/>
              <a:t>인계 원칙</a:t>
            </a:r>
            <a:br/>
            <a:r>
              <a:rPr lang="en-US" dirty="0"/>
              <a:t/>
            </a:r>
            <a:br/>
            <a:r>
              <a:rPr lang="en-US" dirty="0"/>
              <a:t>단계 사이에는 질문만 아니라 접근 범위와 근거가 함께 전달되어야 합니다.</a:t>
            </a:r>
            <a:br/>
            <a:r>
              <a:rPr lang="en-US" dirty="0"/>
              <a:t/>
            </a:r>
            <a:br/>
            <a:r>
              <a:rPr lang="en-US" dirty="0"/>
              <a:t>권한 경계</a:t>
            </a:r>
            <a:br/>
            <a:r>
              <a:rPr lang="en-US" dirty="0"/>
              <a:t/>
            </a:r>
            <a:br/>
            <a:r>
              <a:rPr lang="en-US" dirty="0"/>
              <a:t>검색·권한·거부 처리는 설계 요구사항입니다. 이 그림이 제품의 자동 차단을 보장하지 않습니다.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06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출시 기준은 팀이 정하는 검토 기준이며 Foundry가 대신 승인해 주는 절차가 아닙니다.</a:t>
            </a:r>
            <a:br/>
            <a:r>
              <a:rPr lang="en-US" dirty="0"/>
              <a:t>제품의 출시 상태와 실제 업무에 대한 검증 근거는 각각 확인해야 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네 개의 체크를 채우는 것이 목적은 아닙니다.</a:t>
            </a:r>
            <a:br/>
            <a:r>
              <a:rPr lang="en-US" dirty="0"/>
              <a:t>각 답변을 뒷받침하는 기록과 책임자가 있는지를 보겠습니다.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Microsoft Foundry portal general availability overview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https://learn.microsoft.com/en-us/azure/foundry/concepts/general-availability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CHECKLIST</a:t>
            </a:r>
            <a:br/>
            <a:r>
              <a:rPr lang="en-US" dirty="0"/>
              <a:t>출시 전 네 가지 근거를 확인합니다</a:t>
            </a:r>
            <a:br/>
            <a:r>
              <a:rPr lang="en-US" dirty="0"/>
              <a:t/>
            </a:r>
            <a:br/>
            <a:r>
              <a:rPr lang="en-US" dirty="0"/>
              <a:t>체크 기호는 검토 대상이지 실제 승인이나 충족 상태가 아닙니다.</a:t>
            </a:r>
            <a:br/>
            <a:r>
              <a:rPr lang="en-US" dirty="0"/>
              <a:t/>
            </a:r>
            <a:br/>
            <a:r>
              <a:rPr lang="en-US" dirty="0"/>
              <a:t>업무 적합성</a:t>
            </a:r>
            <a:br/>
            <a:r>
              <a:rPr lang="en-US" dirty="0"/>
              <a:t/>
            </a:r>
            <a:br/>
            <a:r>
              <a:rPr lang="en-US" dirty="0"/>
              <a:t>대표 질문과 실패 사례에서 원하는 결과를 설명할 수 있습니까?</a:t>
            </a:r>
            <a:br/>
            <a:r>
              <a:rPr lang="en-US" dirty="0"/>
              <a:t/>
            </a:r>
            <a:br/>
            <a:r>
              <a:rPr lang="en-US" dirty="0"/>
              <a:t>접근과 허용 행동</a:t>
            </a:r>
            <a:br/>
            <a:r>
              <a:rPr lang="en-US" dirty="0"/>
              <a:t/>
            </a:r>
            <a:br/>
            <a:r>
              <a:rPr lang="en-US" dirty="0"/>
              <a:t>누가 어떤 자료와 도구를 사용할 수 있는지 검증했습니까?</a:t>
            </a:r>
            <a:br/>
            <a:r>
              <a:rPr lang="en-US" dirty="0"/>
              <a:t/>
            </a:r>
            <a:br/>
            <a:r>
              <a:rPr lang="en-US" dirty="0"/>
              <a:t>기능별 준비 상태</a:t>
            </a:r>
            <a:br/>
            <a:r>
              <a:rPr lang="en-US" dirty="0"/>
              <a:t/>
            </a:r>
            <a:br/>
            <a:r>
              <a:rPr lang="en-US" dirty="0"/>
              <a:t>GA/Preview, 대상 리전과 모델·도구 조건을 확인했습니까?</a:t>
            </a:r>
            <a:br/>
            <a:r>
              <a:rPr lang="en-US" dirty="0"/>
              <a:t/>
            </a:r>
            <a:br/>
            <a:r>
              <a:rPr lang="en-US" dirty="0"/>
              <a:t>운영과 중단 책임</a:t>
            </a:r>
            <a:br/>
            <a:r>
              <a:rPr lang="en-US" dirty="0"/>
              <a:t/>
            </a:r>
            <a:br/>
            <a:r>
              <a:rPr lang="en-US" dirty="0"/>
              <a:t>오류·비용·기록을 확인하고 필요하면 중단할 담당자가 있습니까?</a:t>
            </a:r>
            <a:br/>
            <a:r>
              <a:rPr lang="en-US" dirty="0"/>
              <a:t/>
            </a:r>
            <a:br/>
            <a:r>
              <a:rPr lang="en-US" dirty="0"/>
              <a:t>검토 시점</a:t>
            </a:r>
            <a:br/>
            <a:r>
              <a:rPr lang="en-US" dirty="0"/>
              <a:t/>
            </a:r>
            <a:br/>
            <a:r>
              <a:rPr lang="en-US" dirty="0"/>
              <a:t>기능·모델·도구 또는 데이터 범위가 바뀌면 같은 질문으로 다시 검토합니다.</a:t>
            </a:r>
            <a:br/>
            <a:r>
              <a:rPr lang="en-US" dirty="0"/>
              <a:t/>
            </a:r>
            <a:br/>
            <a:r>
              <a:rPr lang="en-US" dirty="0"/>
              <a:t>진행 판단</a:t>
            </a:r>
            <a:br/>
            <a:r>
              <a:rPr lang="en-US" dirty="0"/>
              <a:t/>
            </a:r>
            <a:br/>
            <a:r>
              <a:rPr lang="en-US" dirty="0"/>
              <a:t>필수 조건을 뒷받침할 기록이 있을 때 제한된 적용을 검토합니다.</a:t>
            </a:r>
            <a:br/>
            <a:r>
              <a:rPr lang="en-US" dirty="0"/>
              <a:t/>
            </a:r>
            <a:br/>
            <a:r>
              <a:rPr lang="en-US" dirty="0"/>
              <a:t>보류 판단</a:t>
            </a:r>
            <a:br/>
            <a:r>
              <a:rPr lang="en-US" dirty="0"/>
              <a:t/>
            </a:r>
            <a:br/>
            <a:r>
              <a:rPr lang="en-US" dirty="0"/>
              <a:t>미확인 조건은 완료로 표시하지 않습니다. 책임자와 다음 확인 시점을 남깁니다.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07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공식 상태는 문서에서 확인한 사실이고, 이를 우리 업무에 적용할지는 별도의 판단입니다.</a:t>
            </a:r>
            <a:br/>
            <a:r>
              <a:rPr lang="en-US" dirty="0"/>
              <a:t>기능별·경험별 범위를 생략해 Foundry 전체가 동일한 출시 상태라고 표현하지 않습니다.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상태 표를 읽을 때는 무엇에 대한 GA인지 확인해야 합니다.</a:t>
            </a:r>
            <a:br/>
            <a:r>
              <a:rPr lang="en-US" dirty="0"/>
              <a:t>공식 문서의 범위와 우리 조직의 도입 조건을 섞지 않겠습니다.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Microsoft Foundry portal general availability overview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https://learn.microsoft.com/en-us/azure/foundry/concepts/general-availability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EVIDENCE</a:t>
            </a:r>
            <a:br/>
            <a:r>
              <a:rPr lang="en-US" dirty="0"/>
              <a:t>공식 상태와 도입 판단을 분리합니다</a:t>
            </a:r>
            <a:br/>
            <a:r>
              <a:rPr lang="en-US" dirty="0"/>
              <a:t/>
            </a:r>
            <a:br/>
            <a:r>
              <a:rPr lang="en-US" dirty="0"/>
              <a:t>포털의 GA와 개별 기능의 GA는 같은 범위가 아닙니다.</a:t>
            </a:r>
            <a:br/>
            <a:r>
              <a:rPr lang="en-US" dirty="0"/>
              <a:t/>
            </a:r>
            <a:br/>
            <a:r>
              <a:rPr lang="en-US" dirty="0"/>
              <a:t>무엇을 살피나</a:t>
            </a:r>
            <a:br/>
            <a:r>
              <a:rPr lang="en-US" dirty="0"/>
              <a:t/>
            </a:r>
            <a:br/>
            <a:r>
              <a:rPr lang="en-US" dirty="0"/>
              <a:t>공식 GA 개요를 2026-09-30에 확인했습니다. 상태는 이후 바뀔 수 있습니다.</a:t>
            </a:r>
            <a:br/>
            <a:r>
              <a:rPr lang="en-US" dirty="0"/>
              <a:t/>
            </a:r>
            <a:br/>
            <a:r>
              <a:rPr lang="en-US" dirty="0"/>
              <a:t>어떻게 읽나</a:t>
            </a:r>
            <a:br/>
            <a:r>
              <a:rPr lang="en-US" dirty="0"/>
              <a:t/>
            </a:r>
            <a:br/>
            <a:r>
              <a:rPr lang="en-US" dirty="0"/>
              <a:t>기능별 상태를 기록한 다음 업무 검증, 대상 리전과 운영 조건을 별도로 판단합니다.</a:t>
            </a:r>
            <a:br/>
            <a:r>
              <a:rPr lang="en-US" dirty="0"/>
              <a:t/>
            </a:r>
            <a:br/>
            <a:r>
              <a:rPr lang="en-US" dirty="0"/>
              <a:t>01</a:t>
            </a:r>
            <a:br/>
            <a:r>
              <a:rPr lang="en-US" dirty="0"/>
              <a:t>Agents 핵심 기능 · GA</a:t>
            </a:r>
            <a:br/>
            <a:r>
              <a:rPr lang="en-US" dirty="0"/>
              <a:t/>
            </a:r>
            <a:br/>
            <a:r>
              <a:rPr lang="en-US" dirty="0"/>
              <a:t>에이전트의 세부 유형, 연결 도구와 모델 조건까지 한꺼번에 보장하는 표기는 아닙니다.</a:t>
            </a:r>
            <a:br/>
            <a:r>
              <a:rPr lang="en-US" dirty="0"/>
              <a:t/>
            </a:r>
            <a:br/>
            <a:r>
              <a:rPr lang="en-US" dirty="0"/>
              <a:t>02</a:t>
            </a:r>
            <a:br/>
            <a:r>
              <a:rPr lang="en-US" dirty="0"/>
              <a:t>Evaluations · GA / 일부 Preview</a:t>
            </a:r>
            <a:br/>
            <a:r>
              <a:rPr lang="en-US" dirty="0"/>
              <a:t/>
            </a:r>
            <a:br/>
            <a:r>
              <a:rPr lang="en-US" dirty="0"/>
              <a:t>평가 기능 안에서도 평가자와 세부 기능의 출시 상태를 나눠 확인합니다.</a:t>
            </a:r>
            <a:br/>
            <a:r>
              <a:rPr lang="en-US" dirty="0"/>
              <a:t/>
            </a:r>
            <a:br/>
            <a:r>
              <a:rPr lang="en-US" dirty="0"/>
              <a:t>03</a:t>
            </a:r>
            <a:br/>
            <a:r>
              <a:rPr lang="en-US" dirty="0"/>
              <a:t>Monitoring · Memory · Preview</a:t>
            </a:r>
            <a:br/>
            <a:r>
              <a:rPr lang="en-US" dirty="0"/>
              <a:t/>
            </a:r>
            <a:br/>
            <a:r>
              <a:rPr lang="en-US" dirty="0"/>
              <a:t>운영 적용 정책과 데이터 보관·사용 조건을 기능별로 검토합니다.</a:t>
            </a:r>
            <a:br/>
            <a:r>
              <a:rPr lang="en-US" dirty="0"/>
              <a:t/>
            </a:r>
            <a:br/>
            <a:r>
              <a:rPr lang="en-US" dirty="0"/>
              <a:t>해석 한계</a:t>
            </a:r>
            <a:br/>
            <a:r>
              <a:rPr lang="en-US" dirty="0"/>
              <a:t/>
            </a:r>
            <a:br/>
            <a:r>
              <a:rPr lang="en-US" dirty="0"/>
              <a:t>GA는 모든 하위 기능·모델·리전의 보장이 아닙니다. 실제 채택 시 최신 표를 다시 확인합니다.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08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세 단계는 프로젝트 관리 제안으로 Microsoft의 납기나 성능 약속이 아닙니다.</a:t>
            </a:r>
            <a:br/>
            <a:r>
              <a:rPr lang="en-US" dirty="0"/>
              <a:t>각 단계에서 필요한 검토와 산출물은 조직 정책에 맞춰 조정합니다.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날짜를 채우기 전에 어떤 근거가 있으면 다음 단계로 갈지 정합니다.</a:t>
            </a:r>
            <a:br/>
            <a:r>
              <a:rPr lang="en-US" dirty="0"/>
              <a:t>범위를 넓힐수록 검증 기록과 책임도 함께 확장해야 합니다.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ROADMAP</a:t>
            </a:r>
            <a:br/>
            <a:r>
              <a:rPr lang="en-US" dirty="0"/>
              <a:t>일정보다 단계별 통과 조건을 정합니다</a:t>
            </a:r>
            <a:br/>
            <a:r>
              <a:rPr lang="en-US" dirty="0"/>
              <a:t/>
            </a:r>
            <a:br/>
            <a:r>
              <a:rPr lang="en-US" dirty="0"/>
              <a:t>탐색, 제한 검증, 운영 준비의 산출물을 연결하는 도입 로드맵 제안입니다.</a:t>
            </a:r>
            <a:br/>
            <a:r>
              <a:rPr lang="en-US" dirty="0"/>
              <a:t/>
            </a:r>
            <a:br/>
            <a:r>
              <a:rPr lang="en-US" dirty="0"/>
              <a:t>01</a:t>
            </a:r>
            <a:br/>
            <a:r>
              <a:rPr lang="en-US" dirty="0"/>
              <a:t>탐색 · 업무 가설</a:t>
            </a:r>
            <a:br/>
            <a:r>
              <a:rPr lang="en-US" dirty="0"/>
              <a:t/>
            </a:r>
            <a:br/>
            <a:r>
              <a:rPr lang="en-US" dirty="0"/>
              <a:t>문제 정의, 대표 질문, 제외 조건과 기대 결과를 문서로 남깁니다.</a:t>
            </a:r>
            <a:br/>
            <a:r>
              <a:rPr lang="en-US" dirty="0"/>
              <a:t/>
            </a:r>
            <a:br/>
            <a:r>
              <a:rPr lang="en-US" dirty="0"/>
              <a:t>02</a:t>
            </a:r>
            <a:br/>
            <a:r>
              <a:rPr lang="en-US" dirty="0"/>
              <a:t>검증 · 실패 근거</a:t>
            </a:r>
            <a:br/>
            <a:r>
              <a:rPr lang="en-US" dirty="0"/>
              <a:t/>
            </a:r>
            <a:br/>
            <a:r>
              <a:rPr lang="en-US" dirty="0"/>
              <a:t>제한된 데이터로 구현하고 평가 기록·권한 시험·수정 이력을 남깁니다.</a:t>
            </a:r>
            <a:br/>
            <a:r>
              <a:rPr lang="en-US" dirty="0"/>
              <a:t/>
            </a:r>
            <a:br/>
            <a:r>
              <a:rPr lang="en-US" dirty="0"/>
              <a:t>03</a:t>
            </a:r>
            <a:br/>
            <a:r>
              <a:rPr lang="en-US" dirty="0"/>
              <a:t>준비 · 운영 책임</a:t>
            </a:r>
            <a:br/>
            <a:r>
              <a:rPr lang="en-US" dirty="0"/>
              <a:t/>
            </a:r>
            <a:br/>
            <a:r>
              <a:rPr lang="en-US" dirty="0"/>
              <a:t>관측, 오류 대응, 비용 확인과 중단 계획을 합의합니다.</a:t>
            </a:r>
            <a:br/>
            <a:r>
              <a:rPr lang="en-US" dirty="0"/>
              <a:t/>
            </a:r>
            <a:br/>
            <a:r>
              <a:rPr lang="en-US" dirty="0"/>
              <a:t>단계의 의미</a:t>
            </a:r>
            <a:br/>
            <a:r>
              <a:rPr lang="en-US" dirty="0"/>
              <a:t/>
            </a:r>
            <a:br/>
            <a:r>
              <a:rPr lang="en-US" dirty="0"/>
              <a:t>날짜와 소요 기간을 보장하지 않습니다. 업무 난도와 데이터·권한 준비 상태에 따라 달라집니다.</a:t>
            </a:r>
            <a:br/>
            <a:r>
              <a:rPr lang="en-US" dirty="0"/>
              <a:t/>
            </a:r>
            <a:br/>
            <a:r>
              <a:rPr lang="en-US" dirty="0"/>
              <a:t>전환 체크포인트</a:t>
            </a:r>
            <a:br/>
            <a:r>
              <a:rPr lang="en-US" dirty="0"/>
              <a:t/>
            </a:r>
            <a:br/>
            <a:r>
              <a:rPr lang="en-US" dirty="0"/>
              <a:t>다음 단계로 넘어갈 때 이전 단계의 실패 사례와 가정을 함께 넘깁니다.</a:t>
            </a:r>
            <a:br/>
            <a:r>
              <a:rPr lang="en-US" dirty="0"/>
              <a:t/>
            </a:r>
            <a:br/>
            <a:r>
              <a:rPr lang="en-US" dirty="0"/>
              <a:t>보류와 재검토</a:t>
            </a:r>
            <a:br/>
            <a:r>
              <a:rPr lang="en-US" dirty="0"/>
              <a:t/>
            </a:r>
            <a:br/>
            <a:r>
              <a:rPr lang="en-US" dirty="0"/>
              <a:t>질문·데이터 범위가 달라지면 검증을 다시 설계합니다. 작은 시연만으로 확대 적용하지 않습니다.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09 / 20</a:t>
            </a:r>
            <a:br/>
            <a:r>
              <a:rPr lang="en-US" dirty="0"/>
              <a:t/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이 그림은 Q&amp;A를 설계할 때 고려할 데이터 준비와 소비 관계의 예시입니다.</a:t>
            </a:r>
            <a:br/>
            <a:r>
              <a:rPr lang="en-US" dirty="0"/>
              <a:t>어떤 검색 도구와 저장소를 선택할지, 삭제·갱신·권한 변경을 어떻게 반영할지는 별도 설계합니다.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문서를 넣었다는 사실보다 어떤 조각이 누구에게 보이는지가 중요합니다.</a:t>
            </a:r>
            <a:br/>
            <a:r>
              <a:rPr lang="en-US" dirty="0"/>
              <a:t>답변과 평가에 같은 근거를 연결해 실패 원인을 되짚을 수 있도록 합니다.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가상 데이터 흐름</a:t>
            </a:r>
            <a:br/>
            <a:r>
              <a:rPr lang="en-US" dirty="0"/>
              <a:t>허용 문서를 검색 근거로 연결합니다</a:t>
            </a:r>
            <a:br/>
            <a:r>
              <a:rPr lang="en-US" dirty="0"/>
              <a:t/>
            </a:r>
            <a:br/>
            <a:r>
              <a:rPr lang="en-US" dirty="0"/>
              <a:t>문서 → 정제 → 검색 자료 → 답변·검토로 분기하는 가상 데이터 흐름입니다.</a:t>
            </a:r>
            <a:br/>
            <a:r>
              <a:rPr lang="en-US" dirty="0"/>
              <a:t/>
            </a:r>
            <a:br/>
            <a:r>
              <a:rPr lang="en-US" dirty="0"/>
              <a:t>가상 처리 경계</a:t>
            </a:r>
            <a:br/>
            <a:r>
              <a:rPr lang="en-US" dirty="0"/>
              <a:t>문서 정제</a:t>
            </a:r>
            <a:br/>
            <a:r>
              <a:rPr lang="en-US" dirty="0"/>
              <a:t>ID · 접근 범위</a:t>
            </a:r>
            <a:br/>
            <a:r>
              <a:rPr lang="en-US" dirty="0"/>
              <a:t>검색 자료</a:t>
            </a:r>
            <a:br/>
            <a:r>
              <a:rPr lang="en-US" dirty="0"/>
              <a:t>조각 + 문서 ID</a:t>
            </a:r>
            <a:br/>
            <a:r>
              <a:rPr lang="en-US" dirty="0"/>
              <a:t>허용 문서</a:t>
            </a:r>
            <a:br/>
            <a:r>
              <a:rPr lang="en-US" dirty="0"/>
              <a:t>본문 · 문서 ID</a:t>
            </a:r>
            <a:br/>
            <a:r>
              <a:rPr lang="en-US" dirty="0"/>
              <a:t>가상 활용 경계</a:t>
            </a:r>
            <a:br/>
            <a:r>
              <a:rPr lang="en-US" dirty="0"/>
              <a:t>답변 근거</a:t>
            </a:r>
            <a:br/>
            <a:r>
              <a:rPr lang="en-US" dirty="0"/>
              <a:t>관련 조각 선택</a:t>
            </a:r>
            <a:br/>
            <a:r>
              <a:rPr lang="en-US" dirty="0"/>
              <a:t>평가 기록</a:t>
            </a:r>
            <a:br/>
            <a:r>
              <a:rPr lang="en-US" dirty="0"/>
              <a:t>질문 · 근거 참조</a:t>
            </a:r>
            <a:br/>
            <a:r>
              <a:rPr lang="en-US" dirty="0"/>
              <a:t>원문</a:t>
            </a:r>
            <a:br/>
            <a:r>
              <a:rPr lang="en-US" dirty="0"/>
              <a:t>문서 조각</a:t>
            </a:r>
            <a:br/>
            <a:r>
              <a:rPr lang="en-US" dirty="0"/>
              <a:t>검색</a:t>
            </a:r>
            <a:br/>
            <a:r>
              <a:rPr lang="en-US" dirty="0"/>
              <a:t>검토</a:t>
            </a:r>
            <a:br/>
            <a:r>
              <a:rPr lang="en-US" dirty="0"/>
              <a:t>변환 계약</a:t>
            </a:r>
            <a:br/>
            <a:r>
              <a:rPr lang="en-US" dirty="0"/>
              <a:t/>
            </a:r>
            <a:br/>
            <a:r>
              <a:rPr lang="en-US" dirty="0"/>
              <a:t>문서 식별자와 접근 범위를 유지하며 조각을 준비합니다. 형식 오류와 권한 검사는 별도 설계합니다.</a:t>
            </a:r>
            <a:br/>
            <a:r>
              <a:rPr lang="en-US" dirty="0"/>
              <a:t/>
            </a:r>
            <a:br/>
            <a:r>
              <a:rPr lang="en-US" dirty="0"/>
              <a:t>분기의 의미</a:t>
            </a:r>
            <a:br/>
            <a:r>
              <a:rPr lang="en-US" dirty="0"/>
              <a:t/>
            </a:r>
            <a:br/>
            <a:r>
              <a:rPr lang="en-US" dirty="0"/>
              <a:t>답변에는 관련 근거를, 평가에는 검토 기록을 연결합니다. 저장했다고 답변 품질이 보장되지는 않습니다.</a:t>
            </a:r>
            <a:br/>
            <a:r>
              <a:rPr lang="en-US" dirty="0"/>
              <a:t/>
            </a:r>
            <a:br/>
            <a:r>
              <a:rPr lang="en-US" dirty="0"/>
              <a:t>범례와 한계</a:t>
            </a:r>
            <a:br/>
            <a:r>
              <a:rPr lang="en-US" dirty="0"/>
              <a:t/>
            </a:r>
            <a:br/>
            <a:r>
              <a:rPr lang="en-US" dirty="0"/>
              <a:t>실선은 제안한 데이터 전달입니다. 실제 Foundry 내부 구조나 자동 수집·동기화를 뜻하지 않습니다.</a:t>
            </a:r>
            <a:br/>
            <a:r>
              <a:rPr lang="en-US" dirty="0"/>
              <a:t/>
            </a:r>
            <a:br/>
            <a:r>
              <a:rPr lang="en-US" dirty="0"/>
              <a:t>가상 예시</a:t>
            </a:r>
            <a:br/>
            <a:r>
              <a:rPr lang="en-US" dirty="0"/>
              <a:t>10 / 20</a:t>
            </a:r>
            <a:br/>
            <a:r>
              <a:rPr lang="en-US" dirty="0"/>
              <a:t>가상 처리 경계</a:t>
            </a:r>
            <a:br/>
            <a:r>
              <a:rPr lang="en-US" dirty="0"/>
              <a:t>문서 정제</a:t>
            </a:r>
            <a:br/>
            <a:r>
              <a:rPr lang="en-US" dirty="0"/>
              <a:t>ID · 접근 범위</a:t>
            </a:r>
            <a:br/>
            <a:r>
              <a:rPr lang="en-US" dirty="0"/>
              <a:t>검색 자료</a:t>
            </a:r>
            <a:br/>
            <a:r>
              <a:rPr lang="en-US" dirty="0"/>
              <a:t>조각 + 문서 ID</a:t>
            </a:r>
            <a:br/>
            <a:r>
              <a:rPr lang="en-US" dirty="0"/>
              <a:t>허용 문서</a:t>
            </a:r>
            <a:br/>
            <a:r>
              <a:rPr lang="en-US" dirty="0"/>
              <a:t>본문 · 문서 ID</a:t>
            </a:r>
            <a:br/>
            <a:r>
              <a:rPr lang="en-US" dirty="0"/>
              <a:t>가상 활용 경계</a:t>
            </a:r>
            <a:br/>
            <a:r>
              <a:rPr lang="en-US" dirty="0"/>
              <a:t>답변 근거</a:t>
            </a:r>
            <a:br/>
            <a:r>
              <a:rPr lang="en-US" dirty="0"/>
              <a:t>관련 조각 선택</a:t>
            </a:r>
            <a:br/>
            <a:r>
              <a:rPr lang="en-US" dirty="0"/>
              <a:t>평가 기록</a:t>
            </a:r>
            <a:br/>
            <a:r>
              <a:rPr lang="en-US" dirty="0"/>
              <a:t>질문 · 근거 참조</a:t>
            </a:r>
            <a:br/>
            <a:r>
              <a:rPr lang="en-US" dirty="0"/>
              <a:t>원문</a:t>
            </a:r>
            <a:br/>
            <a:r>
              <a:rPr lang="en-US" dirty="0"/>
              <a:t>문서 조각</a:t>
            </a:r>
            <a:br/>
            <a:r>
              <a:rPr lang="en-US" dirty="0"/>
              <a:t>검색</a:t>
            </a:r>
            <a:br/>
            <a:r>
              <a:rPr lang="en-US" dirty="0"/>
              <a:t>검토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세 참여자와 네 메시지는 책임과 반환 방향을 설명하기 위한 축약입니다.</a:t>
            </a:r>
            <a:br/>
            <a:r>
              <a:rPr lang="en-US" dirty="0"/>
              <a:t>실제 에이전트 실행에서는 모델 판단과 추가 도구 호출 등 다른 단계가 포함될 수 있습니다.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요청과 응답의 방향을 분리해 읽겠습니다.</a:t>
            </a:r>
            <a:br/>
            <a:r>
              <a:rPr lang="en-US" dirty="0"/>
              <a:t>검색 결과가 곧 답변은 아니며, 근거를 받은 뒤 답변을 구성하는 단계가 필요합니다.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가상 호출 순서</a:t>
            </a:r>
            <a:br/>
            <a:r>
              <a:rPr lang="en-US" dirty="0"/>
              <a:t>검색 요청과 근거 반환을 구분합니다</a:t>
            </a:r>
            <a:br/>
            <a:r>
              <a:rPr lang="en-US" dirty="0"/>
              <a:t/>
            </a:r>
            <a:br/>
            <a:r>
              <a:rPr lang="en-US" dirty="0"/>
              <a:t>응용 → 에이전트 → 검색 도구의 정상 경로를 단순화한 가상 시퀀스입니다.</a:t>
            </a:r>
            <a:br/>
            <a:r>
              <a:rPr lang="en-US" dirty="0"/>
              <a:t/>
            </a:r>
            <a:br/>
            <a:r>
              <a:rPr lang="en-US" dirty="0"/>
              <a:t>응용</a:t>
            </a:r>
            <a:br/>
            <a:r>
              <a:rPr lang="en-US" dirty="0"/>
              <a:t>에이전트</a:t>
            </a:r>
            <a:br/>
            <a:r>
              <a:rPr lang="en-US" dirty="0"/>
              <a:t>검색 도구</a:t>
            </a:r>
            <a:br/>
            <a:r>
              <a:rPr lang="en-US" dirty="0"/>
              <a:t>1 · 질문 요청</a:t>
            </a:r>
            <a:br/>
            <a:r>
              <a:rPr lang="en-US" dirty="0"/>
              <a:t>2 · 근거 검색</a:t>
            </a:r>
            <a:br/>
            <a:r>
              <a:rPr lang="en-US" dirty="0"/>
              <a:t>3 · 근거 반환</a:t>
            </a:r>
            <a:br/>
            <a:r>
              <a:rPr lang="en-US" dirty="0"/>
              <a:t>4 · 답변 반환</a:t>
            </a:r>
            <a:br/>
            <a:r>
              <a:rPr lang="en-US" dirty="0"/>
              <a:t>실선 · 요청</a:t>
            </a:r>
            <a:br/>
            <a:r>
              <a:rPr lang="en-US" dirty="0"/>
              <a:t>점선 · 응답</a:t>
            </a:r>
            <a:br/>
            <a:r>
              <a:rPr lang="en-US" dirty="0"/>
              <a:t>참여자</a:t>
            </a:r>
            <a:br/>
            <a:r>
              <a:rPr lang="en-US" dirty="0"/>
              <a:t/>
            </a:r>
            <a:br/>
            <a:r>
              <a:rPr lang="en-US" dirty="0"/>
              <a:t>응용은 질문을 보내고 에이전트는 도구로 근거를 요청합니다. 도구는 허용된 검색 결과를 반환합니다.</a:t>
            </a:r>
            <a:br/>
            <a:r>
              <a:rPr lang="en-US" dirty="0"/>
              <a:t/>
            </a:r>
            <a:br/>
            <a:r>
              <a:rPr lang="en-US" dirty="0"/>
              <a:t>반환 순서</a:t>
            </a:r>
            <a:br/>
            <a:r>
              <a:rPr lang="en-US" dirty="0"/>
              <a:t/>
            </a:r>
            <a:br/>
            <a:r>
              <a:rPr lang="en-US" dirty="0"/>
              <a:t>검색 근거를 받은 뒤 답변을 구성합니다. 세로 간격과 화살표 길이는 지연 시간을 뜻하지 않습니다.</a:t>
            </a:r>
            <a:br/>
            <a:r>
              <a:rPr lang="en-US" dirty="0"/>
              <a:t/>
            </a:r>
            <a:br/>
            <a:r>
              <a:rPr lang="en-US" dirty="0"/>
              <a:t>생략한 조건</a:t>
            </a:r>
            <a:br/>
            <a:r>
              <a:rPr lang="en-US" dirty="0"/>
              <a:t/>
            </a:r>
            <a:br/>
            <a:r>
              <a:rPr lang="en-US" dirty="0"/>
              <a:t>실제 모델 호출·추가 도구·승인·오류·재시도는 생략했습니다. 특정 SDK 호출 순서를 보장하지 않습니다.</a:t>
            </a:r>
            <a:br/>
            <a:r>
              <a:rPr lang="en-US" dirty="0"/>
              <a:t/>
            </a:r>
            <a:br/>
            <a:r>
              <a:rPr lang="en-US" dirty="0"/>
              <a:t>가상 예시</a:t>
            </a:r>
            <a:br/>
            <a:r>
              <a:rPr lang="en-US" dirty="0"/>
              <a:t>11 / 20</a:t>
            </a:r>
            <a:br/>
            <a:r>
              <a:rPr lang="en-US" dirty="0"/>
              <a:t>응용</a:t>
            </a:r>
            <a:br/>
            <a:r>
              <a:rPr lang="en-US" dirty="0"/>
              <a:t>에이전트</a:t>
            </a:r>
            <a:br/>
            <a:r>
              <a:rPr lang="en-US" dirty="0"/>
              <a:t>검색 도구</a:t>
            </a:r>
            <a:br/>
            <a:r>
              <a:rPr lang="en-US" dirty="0"/>
              <a:t>1 · 질문 요청</a:t>
            </a:r>
            <a:br/>
            <a:r>
              <a:rPr lang="en-US" dirty="0"/>
              <a:t>2 · 근거 검색</a:t>
            </a:r>
            <a:br/>
            <a:r>
              <a:rPr lang="en-US" dirty="0"/>
              <a:t>3 · 근거 반환</a:t>
            </a:r>
            <a:br/>
            <a:r>
              <a:rPr lang="en-US" dirty="0"/>
              <a:t>4 · 답변 반환</a:t>
            </a:r>
            <a:br/>
            <a:r>
              <a:rPr lang="en-US" dirty="0"/>
              <a:t>실선 · 요청</a:t>
            </a:r>
            <a:br/>
            <a:r>
              <a:rPr lang="en-US" dirty="0"/>
              <a:t>점선 · 응답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서비스 간 실제 지원 연결 방식이나 인증 전달은 이 개념도에서 검증하지 않았습니다.</a:t>
            </a:r>
            <a:br/>
            <a:r>
              <a:rPr lang="en-US" dirty="0"/>
              <a:t>Foundry의 관리 경로와 실행 경로, 연결 도구의 권한 체계는 실제 설계에서 따로 확인해야 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선 하나로 보안이 완성되는 것은 아닙니다.</a:t>
            </a:r>
            <a:br/>
            <a:r>
              <a:rPr lang="en-US" dirty="0"/>
              <a:t>네트워크 경계와 데이터 접근 권한을 각각 검증해야 한다는 점을 보여주는 그림입니다.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가상 접근 경계</a:t>
            </a:r>
            <a:br/>
            <a:r>
              <a:rPr lang="en-US" dirty="0"/>
              <a:t>접근 경로와 작업 권한은 별개입니다</a:t>
            </a:r>
            <a:br/>
            <a:r>
              <a:rPr lang="en-US" dirty="0"/>
              <a:t/>
            </a:r>
            <a:br/>
            <a:r>
              <a:rPr lang="en-US" dirty="0"/>
              <a:t>Q&amp;A 응용의 가상 접근 경계입니다. 실제 Azure 배포도나 사설 연결 보장이 아닙니다.</a:t>
            </a:r>
            <a:br/>
            <a:r>
              <a:rPr lang="en-US" dirty="0"/>
              <a:t/>
            </a:r>
            <a:br/>
            <a:r>
              <a:rPr lang="en-US" dirty="0"/>
              <a:t>가상 서비스 구역</a:t>
            </a:r>
            <a:br/>
            <a:r>
              <a:rPr lang="en-US" dirty="0"/>
              <a:t>가상 실행 구역</a:t>
            </a:r>
            <a:br/>
            <a:r>
              <a:rPr lang="en-US" dirty="0"/>
              <a:t>가상 데이터 구역</a:t>
            </a:r>
            <a:br/>
            <a:r>
              <a:rPr lang="en-US" dirty="0"/>
              <a:t>문서</a:t>
            </a:r>
            <a:br/>
            <a:r>
              <a:rPr lang="en-US" dirty="0"/>
              <a:t>Q&amp;A 응용</a:t>
            </a:r>
            <a:br/>
            <a:r>
              <a:rPr lang="en-US" dirty="0"/>
              <a:t>게이트웨이</a:t>
            </a:r>
            <a:br/>
            <a:r>
              <a:rPr lang="en-US" dirty="0"/>
              <a:t>외부</a:t>
            </a:r>
            <a:br/>
            <a:r>
              <a:rPr lang="en-US" dirty="0"/>
              <a:t>직원</a:t>
            </a:r>
            <a:br/>
            <a:r>
              <a:rPr lang="en-US" dirty="0"/>
              <a:t>접속</a:t>
            </a:r>
            <a:br/>
            <a:r>
              <a:rPr lang="en-US" dirty="0"/>
              <a:t>전달</a:t>
            </a:r>
            <a:br/>
            <a:r>
              <a:rPr lang="en-US" dirty="0"/>
              <a:t>읽기</a:t>
            </a:r>
            <a:br/>
            <a:r>
              <a:rPr lang="en-US" dirty="0"/>
              <a:t>직접 접근 · 차단 의도</a:t>
            </a:r>
            <a:br/>
            <a:r>
              <a:rPr lang="en-US" dirty="0"/>
              <a:t>실선 · 허용 의도</a:t>
            </a:r>
            <a:br/>
            <a:r>
              <a:rPr lang="en-US" dirty="0"/>
              <a:t>점선 × · 차단 의도</a:t>
            </a:r>
            <a:br/>
            <a:r>
              <a:rPr lang="en-US" dirty="0"/>
              <a:t>점 테두리 · 가상 구역</a:t>
            </a:r>
            <a:br/>
            <a:r>
              <a:rPr lang="en-US" dirty="0"/>
              <a:t>구조의 의미</a:t>
            </a:r>
            <a:br/>
            <a:r>
              <a:rPr lang="en-US" dirty="0"/>
              <a:t/>
            </a:r>
            <a:br/>
            <a:r>
              <a:rPr lang="en-US" dirty="0"/>
              <a:t>사용자, 진입점, 업무 응용과 문서 자료를 논리적 구역으로 나눴습니다.</a:t>
            </a:r>
            <a:br/>
            <a:r>
              <a:rPr lang="en-US" dirty="0"/>
              <a:t/>
            </a:r>
            <a:br/>
            <a:r>
              <a:rPr lang="en-US" dirty="0"/>
              <a:t>별도 검증 · 신원과 정책</a:t>
            </a:r>
            <a:br/>
            <a:r>
              <a:rPr lang="en-US" dirty="0"/>
              <a:t/>
            </a:r>
            <a:br/>
            <a:r>
              <a:rPr lang="en-US" dirty="0"/>
              <a:t>경로가 열려 있어도 신원과 작업 권한은 따로 확인합니다. 관리 경로와 정책 전파는 생략했습니다.</a:t>
            </a:r>
            <a:br/>
            <a:r>
              <a:rPr lang="en-US" dirty="0"/>
              <a:t/>
            </a:r>
            <a:br/>
            <a:r>
              <a:rPr lang="en-US" dirty="0"/>
              <a:t>차단 기호의 한계</a:t>
            </a:r>
            <a:br/>
            <a:r>
              <a:rPr lang="en-US" dirty="0"/>
              <a:t/>
            </a:r>
            <a:br/>
            <a:r>
              <a:rPr lang="en-US" dirty="0"/>
              <a:t>차단 표시는 의도입니다. 실제 네트워크·RBAC·데이터 접근 설정과 시험으로 검증해야 합니다.</a:t>
            </a:r>
            <a:br/>
            <a:r>
              <a:rPr lang="en-US" dirty="0"/>
              <a:t/>
            </a:r>
            <a:br/>
            <a:r>
              <a:rPr lang="en-US" dirty="0"/>
              <a:t>가상 예시</a:t>
            </a:r>
            <a:br/>
            <a:r>
              <a:rPr lang="en-US" dirty="0"/>
              <a:t>12 / 20</a:t>
            </a:r>
            <a:br/>
            <a:r>
              <a:rPr lang="en-US" dirty="0"/>
              <a:t>가상 서비스 구역</a:t>
            </a:r>
            <a:br/>
            <a:r>
              <a:rPr lang="en-US" dirty="0"/>
              <a:t>가상 실행 구역</a:t>
            </a:r>
            <a:br/>
            <a:r>
              <a:rPr lang="en-US" dirty="0"/>
              <a:t>가상 데이터 구역</a:t>
            </a:r>
            <a:br/>
            <a:r>
              <a:rPr lang="en-US" dirty="0"/>
              <a:t>문서</a:t>
            </a:r>
            <a:br/>
            <a:r>
              <a:rPr lang="en-US" dirty="0"/>
              <a:t>Q&amp;A 응용</a:t>
            </a:r>
            <a:br/>
            <a:r>
              <a:rPr lang="en-US" dirty="0"/>
              <a:t>게이트웨이</a:t>
            </a:r>
            <a:br/>
            <a:r>
              <a:rPr lang="en-US" dirty="0"/>
              <a:t>외부</a:t>
            </a:r>
            <a:br/>
            <a:r>
              <a:rPr lang="en-US" dirty="0"/>
              <a:t>직원</a:t>
            </a:r>
            <a:br/>
            <a:r>
              <a:rPr lang="en-US" dirty="0"/>
              <a:t>접속</a:t>
            </a:r>
            <a:br/>
            <a:r>
              <a:rPr lang="en-US" dirty="0"/>
              <a:t>전달</a:t>
            </a:r>
            <a:br/>
            <a:r>
              <a:rPr lang="en-US" dirty="0"/>
              <a:t>읽기</a:t>
            </a:r>
            <a:br/>
            <a:r>
              <a:rPr lang="en-US" dirty="0"/>
              <a:t>직접 접근 · 차단 의도</a:t>
            </a:r>
            <a:br/>
            <a:r>
              <a:rPr lang="en-US" dirty="0"/>
              <a:t>실선 · 허용 의도</a:t>
            </a:r>
            <a:br/>
            <a:r>
              <a:rPr lang="en-US" dirty="0"/>
              <a:t>점선 × · 차단 의도</a:t>
            </a:r>
            <a:br/>
            <a:r>
              <a:rPr lang="en-US" dirty="0"/>
              <a:t>점 테두리 · 가상 구역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숫자는 차트의 축·막대 비례·라벨·값 표를 대조하는 템플릿 예시입니다.</a:t>
            </a:r>
            <a:br/>
            <a:r>
              <a:rPr lang="en-US" dirty="0"/>
              <a:t>관측 문서는 평가와 신호의 역할을 설명하는 출처이며 이 가상 숫자의 출처는 아닙니다.</a:t>
            </a:r>
            <a:br/>
            <a:r>
              <a:rPr lang="en-US" dirty="0"/>
              <a:t>실제 평가 보고에는 데이터셋, 기간, 평가 정의, 실패 사례와 측정 환경을 함께 기록해야 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막대가 높다는 이유만으로 좋은 모델이라고 판단하면 안 됩니다.</a:t>
            </a:r>
            <a:br/>
            <a:r>
              <a:rPr lang="en-US" dirty="0"/>
              <a:t>여기서는 질문을 몇 건 검토했는지만 보여주며, 모든 수치는 설명용입니다.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가상 지표</a:t>
            </a:r>
            <a:br/>
            <a:r>
              <a:rPr lang="en-US" dirty="0"/>
              <a:t>평가 차트는 단위와 표본부터 읽습니다</a:t>
            </a:r>
            <a:br/>
            <a:r>
              <a:rPr lang="en-US" dirty="0"/>
              <a:t/>
            </a:r>
            <a:br/>
            <a:r>
              <a:rPr lang="en-US" dirty="0"/>
              <a:t>가상 검토 건수 40·65·85건을 0~100건 축에 표시합니다. 실측 성능이 아닙니다.</a:t>
            </a:r>
            <a:br/>
            <a:r>
              <a:rPr lang="en-US" dirty="0"/>
              <a:t/>
            </a:r>
            <a:br/>
            <a:r>
              <a:rPr lang="en-US" dirty="0"/>
              <a:t>가상 예시 · 실측 아님</a:t>
            </a:r>
            <a:br/>
            <a:r>
              <a:rPr lang="en-US" dirty="0"/>
              <a:t>검토 건수 (건)</a:t>
            </a:r>
            <a:br/>
            <a:r>
              <a:rPr lang="en-US" dirty="0"/>
              <a:t>100</a:t>
            </a:r>
            <a:br/>
            <a:r>
              <a:rPr lang="en-US" dirty="0"/>
              <a:t>50</a:t>
            </a:r>
            <a:br/>
            <a:r>
              <a:rPr lang="en-US" dirty="0"/>
              <a:t>0</a:t>
            </a:r>
            <a:br/>
            <a:r>
              <a:rPr lang="en-US" dirty="0"/>
              <a:t>40건</a:t>
            </a:r>
            <a:br/>
            <a:r>
              <a:rPr lang="en-US" dirty="0"/>
              <a:t>65건</a:t>
            </a:r>
            <a:br/>
            <a:r>
              <a:rPr lang="en-US" dirty="0"/>
              <a:t>85건</a:t>
            </a:r>
            <a:br/>
            <a:r>
              <a:rPr lang="en-US" dirty="0"/>
              <a:t>세트 A</a:t>
            </a:r>
            <a:br/>
            <a:r>
              <a:rPr lang="en-US" dirty="0"/>
              <a:t>세트 B</a:t>
            </a:r>
            <a:br/>
            <a:r>
              <a:rPr lang="en-US" dirty="0"/>
              <a:t>세트 C</a:t>
            </a:r>
            <a:br/>
            <a:r>
              <a:rPr lang="en-US" dirty="0"/>
              <a:t>값 대조표 · 단위: 건</a:t>
            </a:r>
            <a:br/>
            <a:r>
              <a:rPr lang="en-US" dirty="0"/>
              <a:t>세트 A	40건</a:t>
            </a:r>
            <a:br/>
            <a:r>
              <a:rPr lang="en-US" dirty="0"/>
              <a:t>세트 B	65건</a:t>
            </a:r>
            <a:br/>
            <a:r>
              <a:rPr lang="en-US" dirty="0"/>
              <a:t>세트 C	85건</a:t>
            </a:r>
            <a:br/>
            <a:r>
              <a:rPr lang="en-US" dirty="0"/>
              <a:t>지표 정의</a:t>
            </a:r>
            <a:br/>
            <a:r>
              <a:rPr lang="en-US" dirty="0"/>
              <a:t/>
            </a:r>
            <a:br/>
            <a:r>
              <a:rPr lang="en-US" dirty="0"/>
              <a:t>차트 정의는 검토한 질문 수입니다. 정답률, 처리 속도나 비용 절감률이 아닙니다.</a:t>
            </a:r>
            <a:br/>
            <a:r>
              <a:rPr lang="en-US" dirty="0"/>
              <a:t/>
            </a:r>
            <a:br/>
            <a:r>
              <a:rPr lang="en-US" dirty="0"/>
              <a:t>해석 · 비교 구간</a:t>
            </a:r>
            <a:br/>
            <a:r>
              <a:rPr lang="en-US" dirty="0"/>
              <a:t/>
            </a:r>
            <a:br/>
            <a:r>
              <a:rPr lang="en-US" dirty="0"/>
              <a:t>표본 C의 수가 더 많아도 품질 우위를 뜻하지 않습니다. 기간·입력량·질문 구성을 함께 봅니다.</a:t>
            </a:r>
            <a:br/>
            <a:r>
              <a:rPr lang="en-US" dirty="0"/>
              <a:t/>
            </a:r>
            <a:br/>
            <a:r>
              <a:rPr lang="en-US" dirty="0"/>
              <a:t>표본과 출처 한계</a:t>
            </a:r>
            <a:br/>
            <a:r>
              <a:rPr lang="en-US" dirty="0"/>
              <a:t/>
            </a:r>
            <a:br/>
            <a:r>
              <a:rPr lang="en-US" dirty="0"/>
              <a:t>레이아웃 설명용 가상 데이터입니다. 실제 평가·고객 성과·모델 벤치마크로 인용하지 않습니다.</a:t>
            </a:r>
            <a:br/>
            <a:r>
              <a:rPr lang="en-US" dirty="0"/>
              <a:t/>
            </a:r>
            <a:br/>
            <a:r>
              <a:rPr lang="en-US" dirty="0"/>
              <a:t>가상 예시</a:t>
            </a:r>
            <a:br/>
            <a:r>
              <a:rPr lang="en-US" dirty="0"/>
              <a:t>13 / 20</a:t>
            </a:r>
            <a:br/>
            <a:r>
              <a:rPr lang="en-US" dirty="0"/>
              <a:t>가상 예시 · 실측 아님</a:t>
            </a:r>
            <a:br/>
            <a:r>
              <a:rPr lang="en-US" dirty="0"/>
              <a:t>검토 건수 (건)</a:t>
            </a:r>
            <a:br/>
            <a:r>
              <a:rPr lang="en-US" dirty="0"/>
              <a:t>100</a:t>
            </a:r>
            <a:br/>
            <a:r>
              <a:rPr lang="en-US" dirty="0"/>
              <a:t>50</a:t>
            </a:r>
            <a:br/>
            <a:r>
              <a:rPr lang="en-US" dirty="0"/>
              <a:t>0</a:t>
            </a:r>
            <a:br/>
            <a:r>
              <a:rPr lang="en-US" dirty="0"/>
              <a:t>40건</a:t>
            </a:r>
            <a:br/>
            <a:r>
              <a:rPr lang="en-US" dirty="0"/>
              <a:t>65건</a:t>
            </a:r>
            <a:br/>
            <a:r>
              <a:rPr lang="en-US" dirty="0"/>
              <a:t>85건</a:t>
            </a:r>
            <a:br/>
            <a:r>
              <a:rPr lang="en-US" dirty="0"/>
              <a:t>세트 A</a:t>
            </a:r>
            <a:br/>
            <a:r>
              <a:rPr lang="en-US" dirty="0"/>
              <a:t>세트 B</a:t>
            </a:r>
            <a:br/>
            <a:r>
              <a:rPr lang="en-US" dirty="0"/>
              <a:t>세트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authorize, search, compose, record_refs는 흐름 설명을 위한 가상 함수 이름입니다.</a:t>
            </a:r>
            <a:br/>
            <a:r>
              <a:rPr lang="en-US" dirty="0"/>
              <a:t>실제 API, 오류 처리, 인증 토큰 전달, 기록의 보관 정책을 구현한 코드가 아닙니다.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코드의 길이보다 확인 지점을 보겠습니다.</a:t>
            </a:r>
            <a:br/>
            <a:r>
              <a:rPr lang="en-US" dirty="0"/>
              <a:t>권한 확인, 근거가 없을 때의 행동, 기록 범위가 서로 다른 책임이라는 점을 짚습니다.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코드 해설 · 실행 불가</a:t>
            </a:r>
            <a:br/>
            <a:r>
              <a:rPr lang="en-US" dirty="0"/>
              <a:t>근거 확인 지점을 코드로 설명합니다</a:t>
            </a:r>
            <a:br/>
            <a:r>
              <a:rPr lang="en-US" dirty="0"/>
              <a:t/>
            </a:r>
            <a:br/>
            <a:r>
              <a:rPr lang="en-US" dirty="0"/>
              <a:t>권한, 검색, 근거 부족 시 행동을 읽는 의사 코드입니다. 실행 가능한 SDK 예제가 아닙니다.</a:t>
            </a:r>
            <a:br/>
            <a:r>
              <a:rPr lang="en-US" dirty="0"/>
              <a:t/>
            </a:r>
            <a:br/>
            <a:r>
              <a:rPr lang="en-US" dirty="0"/>
              <a:t>예시 의사 코드 · 실행 불가</a:t>
            </a:r>
            <a:br/>
            <a:r>
              <a:rPr lang="en-US" dirty="0"/>
              <a:t>01 INPUT question, user</a:t>
            </a:r>
            <a:br/>
            <a:r>
              <a:rPr lang="en-US" dirty="0"/>
              <a:t>02 scope = authorize(user)</a:t>
            </a:r>
            <a:br/>
            <a:r>
              <a:rPr lang="en-US" dirty="0"/>
              <a:t>03 evidence = search(question, scope)</a:t>
            </a:r>
            <a:br/>
            <a:r>
              <a:rPr lang="en-US" dirty="0"/>
              <a:t>04 IF empty(evidence): ASK HUMAN</a:t>
            </a:r>
            <a:br/>
            <a:r>
              <a:rPr lang="en-US" dirty="0"/>
              <a:t>05 answer = compose(question, evidence)</a:t>
            </a:r>
            <a:br/>
            <a:r>
              <a:rPr lang="en-US" dirty="0"/>
              <a:t>06 record_refs(answer, evidence)</a:t>
            </a:r>
            <a:br/>
            <a:r>
              <a:rPr lang="en-US" dirty="0"/>
              <a:t>07 RETURN answer</a:t>
            </a:r>
            <a:br/>
            <a:r>
              <a:rPr lang="en-US" dirty="0"/>
              <a:t>02행 · 권한 확인</a:t>
            </a:r>
            <a:br/>
            <a:r>
              <a:rPr lang="en-US" dirty="0"/>
              <a:t/>
            </a:r>
            <a:br/>
            <a:r>
              <a:rPr lang="en-US" dirty="0"/>
              <a:t>2행은 허용 자료 범위를 확인하는 설계 지점입니다. 모델 지침만으로 권한을 통제하지 않습니다.</a:t>
            </a:r>
            <a:br/>
            <a:r>
              <a:rPr lang="en-US" dirty="0"/>
              <a:t/>
            </a:r>
            <a:br/>
            <a:r>
              <a:rPr lang="en-US" dirty="0"/>
              <a:t>04행 · 근거 부족</a:t>
            </a:r>
            <a:br/>
            <a:r>
              <a:rPr lang="en-US" dirty="0"/>
              <a:t/>
            </a:r>
            <a:br/>
            <a:r>
              <a:rPr lang="en-US" dirty="0"/>
              <a:t>4행은 근거가 없을 때 추가 확인을 요청하는 분기입니다. 빈 결과를 성공으로 숨기지 않습니다.</a:t>
            </a:r>
            <a:br/>
            <a:r>
              <a:rPr lang="en-US" dirty="0"/>
              <a:t/>
            </a:r>
            <a:br/>
            <a:r>
              <a:rPr lang="en-US" dirty="0"/>
              <a:t>06행 · 참조 기록</a:t>
            </a:r>
            <a:br/>
            <a:r>
              <a:rPr lang="en-US" dirty="0"/>
              <a:t/>
            </a:r>
            <a:br/>
            <a:r>
              <a:rPr lang="en-US" dirty="0"/>
              <a:t>6행은 근거와 응답 기록을 연결하는 지점입니다. 민감한 원문은 무조건 기록하지 않습니다.</a:t>
            </a:r>
            <a:br/>
            <a:r>
              <a:rPr lang="en-US" dirty="0"/>
              <a:t/>
            </a:r>
            <a:br/>
            <a:r>
              <a:rPr lang="en-US" dirty="0"/>
              <a:t>가상 예시</a:t>
            </a:r>
            <a:br/>
            <a:r>
              <a:rPr lang="en-US" dirty="0"/>
              <a:t>14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이 의사결정 트리는 구현할 수 있는 통제 흐름을 설명하기 위한 가상 설계입니다.</a:t>
            </a:r>
            <a:br/>
            <a:r>
              <a:rPr lang="en-US" dirty="0"/>
              <a:t>Foundry가 모든 응용의 권한과 답변 근거를 자동 판정한다는 제품 보장이 아닙니다.</a:t>
            </a:r>
            <a:br/>
            <a:r>
              <a:rPr lang="en-US" dirty="0"/>
              <a:t>각 조건에는 실패 사유와 담당자에게 전달할 정보가 필요합니다.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접근할 수 있는 자료인지와 그 자료로 답할 수 있는지는 다른 질문입니다.</a:t>
            </a:r>
            <a:br/>
            <a:r>
              <a:rPr lang="en-US" dirty="0"/>
              <a:t>왼쪽의 중단과 오른쪽의 추가 확인을 같은 오류로 묶지 않겠습니다.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DECISION</a:t>
            </a:r>
            <a:br/>
            <a:r>
              <a:rPr lang="en-US" dirty="0"/>
              <a:t>허용 범위와 근거로 응답을 분기합니다</a:t>
            </a:r>
            <a:br/>
            <a:r>
              <a:rPr lang="en-US" dirty="0"/>
              <a:t/>
            </a:r>
            <a:br/>
            <a:r>
              <a:rPr lang="en-US" dirty="0"/>
              <a:t>가상 Q&amp;A 설계입니다. 자료 접근 허용 여부와 검색 근거의 충분함은 서로 다른 판단입니다.</a:t>
            </a:r>
            <a:br/>
            <a:r>
              <a:rPr lang="en-US" dirty="0"/>
              <a:t/>
            </a:r>
            <a:br/>
            <a:r>
              <a:rPr lang="en-US" dirty="0"/>
              <a:t>접근이 허용된 자료인가요?</a:t>
            </a:r>
            <a:br/>
            <a:r>
              <a:rPr lang="en-US" dirty="0"/>
              <a:t/>
            </a:r>
            <a:br/>
            <a:r>
              <a:rPr lang="en-US" dirty="0"/>
              <a:t>사용자와 자료의 허용 범위를 확인합니다.</a:t>
            </a:r>
            <a:br/>
            <a:r>
              <a:rPr lang="en-US" dirty="0"/>
              <a:t/>
            </a:r>
            <a:br/>
            <a:r>
              <a:rPr lang="en-US" dirty="0"/>
              <a:t>아니오 ↓</a:t>
            </a:r>
            <a:br/>
            <a:r>
              <a:rPr lang="en-US" dirty="0"/>
              <a:t/>
            </a:r>
            <a:br/>
            <a:r>
              <a:rPr lang="en-US" dirty="0"/>
              <a:t>예 ↓</a:t>
            </a:r>
            <a:br/>
            <a:r>
              <a:rPr lang="en-US" dirty="0"/>
              <a:t/>
            </a:r>
            <a:br/>
            <a:r>
              <a:rPr lang="en-US" dirty="0"/>
              <a:t>접근을 중단합니다</a:t>
            </a:r>
            <a:br/>
            <a:r>
              <a:rPr lang="en-US" dirty="0"/>
              <a:t/>
            </a:r>
            <a:br/>
            <a:r>
              <a:rPr lang="en-US" dirty="0"/>
              <a:t>권한을 우회하지 않고 거절 이유를 안내합니다.</a:t>
            </a:r>
            <a:br/>
            <a:r>
              <a:rPr lang="en-US" dirty="0"/>
              <a:t/>
            </a:r>
            <a:br/>
            <a:r>
              <a:rPr lang="en-US" dirty="0"/>
              <a:t>답변 근거가 충분한가요?</a:t>
            </a:r>
            <a:br/>
            <a:r>
              <a:rPr lang="en-US" dirty="0"/>
              <a:t/>
            </a:r>
            <a:br/>
            <a:r>
              <a:rPr lang="en-US" dirty="0"/>
              <a:t>관련 문서와 질문의 대응을 확인합니다.</a:t>
            </a:r>
            <a:br/>
            <a:r>
              <a:rPr lang="en-US" dirty="0"/>
              <a:t/>
            </a:r>
            <a:br/>
            <a:r>
              <a:rPr lang="en-US" dirty="0"/>
              <a:t>예 ↓</a:t>
            </a:r>
            <a:br/>
            <a:r>
              <a:rPr lang="en-US" dirty="0"/>
              <a:t/>
            </a:r>
            <a:br/>
            <a:r>
              <a:rPr lang="en-US" dirty="0"/>
              <a:t>아니오 ↓</a:t>
            </a:r>
            <a:br/>
            <a:r>
              <a:rPr lang="en-US" dirty="0"/>
              <a:t/>
            </a:r>
            <a:br/>
            <a:r>
              <a:rPr lang="en-US" dirty="0"/>
              <a:t>근거와 답변</a:t>
            </a:r>
            <a:br/>
            <a:r>
              <a:rPr lang="en-US" dirty="0"/>
              <a:t/>
            </a:r>
            <a:br/>
            <a:r>
              <a:rPr lang="en-US" dirty="0"/>
              <a:t>참조를 남겨 검토합니다.</a:t>
            </a:r>
            <a:br/>
            <a:r>
              <a:rPr lang="en-US" dirty="0"/>
              <a:t/>
            </a:r>
            <a:br/>
            <a:r>
              <a:rPr lang="en-US" dirty="0"/>
              <a:t>추가 확인</a:t>
            </a:r>
            <a:br/>
            <a:r>
              <a:rPr lang="en-US" dirty="0"/>
              <a:t/>
            </a:r>
            <a:br/>
            <a:r>
              <a:rPr lang="en-US" dirty="0"/>
              <a:t>정보나 검토를 요청합니다.</a:t>
            </a:r>
            <a:br/>
            <a:r>
              <a:rPr lang="en-US" dirty="0"/>
              <a:t/>
            </a:r>
            <a:br/>
            <a:r>
              <a:rPr lang="en-US" dirty="0"/>
              <a:t>판단 기준</a:t>
            </a:r>
            <a:br/>
            <a:r>
              <a:rPr lang="en-US" dirty="0"/>
              <a:t/>
            </a:r>
            <a:br/>
            <a:r>
              <a:rPr lang="en-US" dirty="0"/>
              <a:t>접근 허용은 응용의 통제 지점에서 확인합니다. 모델의 답변 지침만으로 대신하지 않습니다.</a:t>
            </a:r>
            <a:br/>
            <a:r>
              <a:rPr lang="en-US" dirty="0"/>
              <a:t/>
            </a:r>
            <a:br/>
            <a:r>
              <a:rPr lang="en-US" dirty="0"/>
              <a:t>읽는 관점</a:t>
            </a:r>
            <a:br/>
            <a:r>
              <a:rPr lang="en-US" dirty="0"/>
              <a:t/>
            </a:r>
            <a:br/>
            <a:r>
              <a:rPr lang="en-US" dirty="0"/>
              <a:t>허용된 자료라도 답변 근거가 부족할 수 있습니다. 두 조건의 실패 경로를 구분합니다.</a:t>
            </a:r>
            <a:br/>
            <a:r>
              <a:rPr lang="en-US" dirty="0"/>
              <a:t/>
            </a:r>
            <a:br/>
            <a:r>
              <a:rPr lang="en-US" dirty="0"/>
              <a:t>범위와 한계</a:t>
            </a:r>
            <a:br/>
            <a:r>
              <a:rPr lang="en-US" dirty="0"/>
              <a:t/>
            </a:r>
            <a:br/>
            <a:r>
              <a:rPr lang="en-US" dirty="0"/>
              <a:t>설명용 분기입니다. 실제 인증·오류·재시도와 사람 검토 절차는 별도 구현이 필요합니다.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15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피라미드는 설계 판단의 의존 관계를 표현합니다. 서비스의 과금 계층이나 기능 제공 단계가 아닙니다.</a:t>
            </a:r>
            <a:br/>
            <a:r>
              <a:rPr lang="en-US" dirty="0"/>
              <a:t>아래층은 상위 기능을 사용하기 전에 정해야 할 조건을 강조하며, 일방향 일정표를 뜻하지 않습니다.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모델이나 에이전트 기능을 늘리는 것보다 바닥의 조건이 무엇인지 먼저 보겠습니다.</a:t>
            </a:r>
            <a:br/>
            <a:r>
              <a:rPr lang="en-US" dirty="0"/>
              <a:t>검증 기록 없이 확장하면 남은 질문의 범위도 함께 커집니다.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PYRAMID</a:t>
            </a:r>
            <a:br/>
            <a:r>
              <a:rPr lang="en-US" dirty="0"/>
              <a:t>확장보다 업무와 통제의 기반을 먼저 놓습니다</a:t>
            </a:r>
            <a:br/>
            <a:r>
              <a:rPr lang="en-US" dirty="0"/>
              <a:t/>
            </a:r>
            <a:br/>
            <a:r>
              <a:rPr lang="en-US" dirty="0"/>
              <a:t>가상 도입 원칙을 기반·검증·확장의 세 층으로 읽습니다. 공식 제품 계층이나 성숙도 점수가 아닙니다.</a:t>
            </a:r>
            <a:br/>
            <a:r>
              <a:rPr lang="en-US" dirty="0"/>
              <a:t/>
            </a:r>
            <a:br/>
            <a:r>
              <a:rPr lang="en-US" dirty="0"/>
              <a:t>03 · 범위 확장</a:t>
            </a:r>
            <a:br/>
            <a:r>
              <a:rPr lang="en-US" dirty="0"/>
              <a:t/>
            </a:r>
            <a:br/>
            <a:r>
              <a:rPr lang="en-US" dirty="0"/>
              <a:t>새 업무와 사용자를 검토합니다.</a:t>
            </a:r>
            <a:br/>
            <a:r>
              <a:rPr lang="en-US" dirty="0"/>
              <a:t/>
            </a:r>
            <a:br/>
            <a:r>
              <a:rPr lang="en-US" dirty="0"/>
              <a:t>02 · 평가와 검토</a:t>
            </a:r>
            <a:br/>
            <a:r>
              <a:rPr lang="en-US" dirty="0"/>
              <a:t/>
            </a:r>
            <a:br/>
            <a:r>
              <a:rPr lang="en-US" dirty="0"/>
              <a:t>대표 질문·실패 조건·운영 신호를 확인합니다.</a:t>
            </a:r>
            <a:br/>
            <a:r>
              <a:rPr lang="en-US" dirty="0"/>
              <a:t/>
            </a:r>
            <a:br/>
            <a:r>
              <a:rPr lang="en-US" dirty="0"/>
              <a:t>01 · 업무와 통제</a:t>
            </a:r>
            <a:br/>
            <a:r>
              <a:rPr lang="en-US" dirty="0"/>
              <a:t/>
            </a:r>
            <a:br/>
            <a:r>
              <a:rPr lang="en-US" dirty="0"/>
              <a:t>업무 범위·접근 조건·담당 책임을 합의합니다.</a:t>
            </a:r>
            <a:br/>
            <a:r>
              <a:rPr lang="en-US" dirty="0"/>
              <a:t/>
            </a:r>
            <a:br/>
            <a:r>
              <a:rPr lang="en-US" dirty="0"/>
              <a:t>아래 기반부터 위 확장으로 · 면적은 정량 데이터가 아닙니다</a:t>
            </a:r>
            <a:br/>
            <a:r>
              <a:rPr lang="en-US" dirty="0"/>
              <a:t/>
            </a:r>
            <a:br/>
            <a:r>
              <a:rPr lang="en-US" dirty="0"/>
              <a:t>판단 기준</a:t>
            </a:r>
            <a:br/>
            <a:r>
              <a:rPr lang="en-US" dirty="0"/>
              <a:t/>
            </a:r>
            <a:br/>
            <a:r>
              <a:rPr lang="en-US" dirty="0"/>
              <a:t>기반에는 업무 범위, 자료 접근 조건과 허용 행동을 둡니다. 기능 수보다 먼저 합의합니다.</a:t>
            </a:r>
            <a:br/>
            <a:r>
              <a:rPr lang="en-US" dirty="0"/>
              <a:t/>
            </a:r>
            <a:br/>
            <a:r>
              <a:rPr lang="en-US" dirty="0"/>
              <a:t>읽는 관점</a:t>
            </a:r>
            <a:br/>
            <a:r>
              <a:rPr lang="en-US" dirty="0"/>
              <a:t/>
            </a:r>
            <a:br/>
            <a:r>
              <a:rPr lang="en-US" dirty="0"/>
              <a:t>대표 질문과 실패 조건을 검증한 뒤 범위를 넓힙니다. 평가 기록을 다음 단계의 근거로 씁니다.</a:t>
            </a:r>
            <a:br/>
            <a:r>
              <a:rPr lang="en-US" dirty="0"/>
              <a:t/>
            </a:r>
            <a:br/>
            <a:r>
              <a:rPr lang="en-US" dirty="0"/>
              <a:t>범위와 한계</a:t>
            </a:r>
            <a:br/>
            <a:r>
              <a:rPr lang="en-US" dirty="0"/>
              <a:t/>
            </a:r>
            <a:br/>
            <a:r>
              <a:rPr lang="en-US" dirty="0"/>
              <a:t>층의 면적과 높이는 수치가 아닙니다. 실제 도입에서는 병렬 작업과 재검토가 가능합니다.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16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각 단계는 숫자로 연결된 고객 획득 퍼널이 아니라 업무 후보를 검토하는 제안입니다.</a:t>
            </a:r>
            <a:br/>
            <a:r>
              <a:rPr lang="en-US" dirty="0"/>
              <a:t>후보를 제외하거나 보류하는 조건은 조직의 자료 이용 정책과 검증 결과에 따라 달라집니다.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많은 후보를 곧바로 배포하지 않고, 확인 가능한 업무 하나로 좁히겠습니다.</a:t>
            </a:r>
            <a:br/>
            <a:r>
              <a:rPr lang="en-US" dirty="0"/>
              <a:t>줄어드는 폭이 실제 수량을 표현한 것은 아니라는 점도 함께 밝힙니다.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FUNNEL</a:t>
            </a:r>
            <a:br/>
            <a:r>
              <a:rPr lang="en-US" dirty="0"/>
              <a:t>업무 후보를 검증 가능한 작은 범위로 좁힙니다</a:t>
            </a:r>
            <a:br/>
            <a:r>
              <a:rPr lang="en-US" dirty="0"/>
              <a:t/>
            </a:r>
            <a:br/>
            <a:r>
              <a:rPr lang="en-US" dirty="0"/>
              <a:t>가상 업무 선정 흐름입니다. 도입 사례의 수량·전환율·성과를 측정한 퍼널이 아닙니다.</a:t>
            </a:r>
            <a:br/>
            <a:r>
              <a:rPr lang="en-US" dirty="0"/>
              <a:t/>
            </a:r>
            <a:br/>
            <a:r>
              <a:rPr lang="en-US" dirty="0"/>
              <a:t>업무 후보</a:t>
            </a:r>
            <a:br/>
            <a:r>
              <a:rPr lang="en-US" dirty="0"/>
              <a:t/>
            </a:r>
            <a:br/>
            <a:r>
              <a:rPr lang="en-US" dirty="0"/>
              <a:t>반복 질문과 자료 위치를 살펴봅니다.</a:t>
            </a:r>
            <a:br/>
            <a:r>
              <a:rPr lang="en-US" dirty="0"/>
              <a:t/>
            </a:r>
            <a:br/>
            <a:r>
              <a:rPr lang="en-US" dirty="0"/>
              <a:t>자료 확인</a:t>
            </a:r>
            <a:br/>
            <a:r>
              <a:rPr lang="en-US" dirty="0"/>
              <a:t/>
            </a:r>
            <a:br/>
            <a:r>
              <a:rPr lang="en-US" dirty="0"/>
              <a:t>접근 범위와 이용 조건을 확인합니다.</a:t>
            </a:r>
            <a:br/>
            <a:r>
              <a:rPr lang="en-US" dirty="0"/>
              <a:t/>
            </a:r>
            <a:br/>
            <a:r>
              <a:rPr lang="en-US" dirty="0"/>
              <a:t>제한 실험</a:t>
            </a:r>
            <a:br/>
            <a:r>
              <a:rPr lang="en-US" dirty="0"/>
              <a:t/>
            </a:r>
            <a:br/>
            <a:r>
              <a:rPr lang="en-US" dirty="0"/>
              <a:t>대표 질문과 실패 조건을 검토합니다.</a:t>
            </a:r>
            <a:br/>
            <a:r>
              <a:rPr lang="en-US" dirty="0"/>
              <a:t/>
            </a:r>
            <a:br/>
            <a:r>
              <a:rPr lang="en-US" dirty="0"/>
              <a:t>범위 합의</a:t>
            </a:r>
            <a:br/>
            <a:r>
              <a:rPr lang="en-US" dirty="0"/>
              <a:t/>
            </a:r>
            <a:br/>
            <a:r>
              <a:rPr lang="en-US" dirty="0"/>
              <a:t>담당자와 남은 질문을 남깁니다.</a:t>
            </a:r>
            <a:br/>
            <a:r>
              <a:rPr lang="en-US" dirty="0"/>
              <a:t/>
            </a:r>
            <a:br/>
            <a:r>
              <a:rPr lang="en-US" dirty="0"/>
              <a:t>선정 기준으로 범위를 좁힙니다 · 폭은 실제 전환율이 아닙니다</a:t>
            </a:r>
            <a:br/>
            <a:r>
              <a:rPr lang="en-US" dirty="0"/>
              <a:t/>
            </a:r>
            <a:br/>
            <a:r>
              <a:rPr lang="en-US" dirty="0"/>
              <a:t>판단 기준</a:t>
            </a:r>
            <a:br/>
            <a:r>
              <a:rPr lang="en-US" dirty="0"/>
              <a:t/>
            </a:r>
            <a:br/>
            <a:r>
              <a:rPr lang="en-US" dirty="0"/>
              <a:t>반복 질문과 자료 위치가 명확한 업무부터 후보로 모읍니다. 자료 이용 조건을 함께 확인합니다.</a:t>
            </a:r>
            <a:br/>
            <a:r>
              <a:rPr lang="en-US" dirty="0"/>
              <a:t/>
            </a:r>
            <a:br/>
            <a:r>
              <a:rPr lang="en-US" dirty="0"/>
              <a:t>읽는 관점</a:t>
            </a:r>
            <a:br/>
            <a:r>
              <a:rPr lang="en-US" dirty="0"/>
              <a:t/>
            </a:r>
            <a:br/>
            <a:r>
              <a:rPr lang="en-US" dirty="0"/>
              <a:t>작은 실험에서 확인할 질문과 제외할 행동을 명확히 합니다. 보류한 이유도 기록합니다.</a:t>
            </a:r>
            <a:br/>
            <a:r>
              <a:rPr lang="en-US" dirty="0"/>
              <a:t/>
            </a:r>
            <a:br/>
            <a:r>
              <a:rPr lang="en-US" dirty="0"/>
              <a:t>범위와 한계</a:t>
            </a:r>
            <a:br/>
            <a:r>
              <a:rPr lang="en-US" dirty="0"/>
              <a:t/>
            </a:r>
            <a:br/>
            <a:r>
              <a:rPr lang="en-US" dirty="0"/>
              <a:t>폭은 정성적인 범위 축소만 나타냅니다. 고객 도입률이나 실제 검증 성공률로 인용하지 않습니다.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17 / 20</a:t>
            </a:r>
            <a:br/>
            <a:r>
              <a:rPr lang="en-US" dirty="0"/>
              <a:t/>
            </a:r>
            <a:br/>
            <a:r>
              <a:rPr lang="en-US" dirty="0"/>
              <a:t/>
            </a:r>
            <a:br/>
            <a:r>
              <a:rPr lang="en-US" dirty="0"/>
              <a:t/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네 사례와 구역 배치는 템플릿을 읽는 방법을 설명하기 위해 설정한 가정입니다.</a:t>
            </a:r>
            <a:br/>
            <a:r>
              <a:rPr lang="en-US" dirty="0"/>
              <a:t>실제 데이터, 발생 빈도, 공격 가능성 또는 고객 환경을 평가하지 않았습니다.</a:t>
            </a:r>
            <a:br/>
            <a:r>
              <a:rPr lang="en-US" dirty="0"/>
              <a:t>위험도 맵만으로 대응 수준을 결정하지 않고 구체적인 증거와 책임자를 연결해야 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확률을 측정한 그림이 아니라 두 질문을 분리하는 연습입니다.</a:t>
            </a:r>
            <a:br/>
            <a:r>
              <a:rPr lang="en-US" dirty="0"/>
              <a:t>가능성이 낮다고 가정한 문제라도 영향이 크면 대비와 확인이 필요합니다.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RISKMAP</a:t>
            </a:r>
            <a:br/>
            <a:r>
              <a:rPr lang="en-US" dirty="0"/>
              <a:t>영향과 가능성을 나누어 대응 순서를 정합니다</a:t>
            </a:r>
            <a:br/>
            <a:r>
              <a:rPr lang="en-US" dirty="0"/>
              <a:t/>
            </a:r>
            <a:br/>
            <a:r>
              <a:rPr lang="en-US" dirty="0"/>
              <a:t>가상의 검토 연습입니다. 구역 배치는 실제 시스템의 위험 평가나 발생 확률을 뜻하지 않습니다.</a:t>
            </a:r>
            <a:br/>
            <a:r>
              <a:rPr lang="en-US" dirty="0"/>
              <a:t/>
            </a:r>
            <a:br/>
            <a:r>
              <a:rPr lang="en-US" dirty="0"/>
              <a:t>영향 ↑</a:t>
            </a:r>
            <a:br/>
            <a:r>
              <a:rPr lang="en-US" dirty="0"/>
              <a:t/>
            </a:r>
            <a:br/>
            <a:r>
              <a:rPr lang="en-US" dirty="0"/>
              <a:t>가능성 → 낮음에서 높음</a:t>
            </a:r>
            <a:br/>
            <a:r>
              <a:rPr lang="en-US" dirty="0"/>
              <a:t/>
            </a:r>
            <a:br/>
            <a:r>
              <a:rPr lang="en-US" dirty="0"/>
              <a:t>높은 영향 · 낮은 가능성</a:t>
            </a:r>
            <a:br/>
            <a:r>
              <a:rPr lang="en-US" dirty="0"/>
              <a:t>권한 밖 자료 노출</a:t>
            </a:r>
            <a:br/>
            <a:r>
              <a:rPr lang="en-US" dirty="0"/>
              <a:t/>
            </a:r>
            <a:br/>
            <a:r>
              <a:rPr lang="en-US" dirty="0"/>
              <a:t>낮은 가능성으로 가정해도 접근 통제와 점검을 둡니다.</a:t>
            </a:r>
            <a:br/>
            <a:r>
              <a:rPr lang="en-US" dirty="0"/>
              <a:t/>
            </a:r>
            <a:br/>
            <a:r>
              <a:rPr lang="en-US" dirty="0"/>
              <a:t>높은 영향 · 높은 가능성</a:t>
            </a:r>
            <a:br/>
            <a:r>
              <a:rPr lang="en-US" dirty="0"/>
              <a:t>근거 없는 중요 답변</a:t>
            </a:r>
            <a:br/>
            <a:r>
              <a:rPr lang="en-US" dirty="0"/>
              <a:t/>
            </a:r>
            <a:br/>
            <a:r>
              <a:rPr lang="en-US" dirty="0"/>
              <a:t>높은 영향과 가능성을 가정하고 우선 확인합니다.</a:t>
            </a:r>
            <a:br/>
            <a:r>
              <a:rPr lang="en-US" dirty="0"/>
              <a:t/>
            </a:r>
            <a:br/>
            <a:r>
              <a:rPr lang="en-US" dirty="0"/>
              <a:t>낮은 영향 · 낮은 가능성</a:t>
            </a:r>
            <a:br/>
            <a:r>
              <a:rPr lang="en-US" dirty="0"/>
              <a:t>드문 표시 오류</a:t>
            </a:r>
            <a:br/>
            <a:r>
              <a:rPr lang="en-US" dirty="0"/>
              <a:t/>
            </a:r>
            <a:br/>
            <a:r>
              <a:rPr lang="en-US" dirty="0"/>
              <a:t>낮은 영향으로 가정하고 변화 신호를 살펴봅니다.</a:t>
            </a:r>
            <a:br/>
            <a:r>
              <a:rPr lang="en-US" dirty="0"/>
              <a:t/>
            </a:r>
            <a:br/>
            <a:r>
              <a:rPr lang="en-US" dirty="0"/>
              <a:t>낮은 영향 · 높은 가능성</a:t>
            </a:r>
            <a:br/>
            <a:r>
              <a:rPr lang="en-US" dirty="0"/>
              <a:t>반복 형식 오류</a:t>
            </a:r>
            <a:br/>
            <a:r>
              <a:rPr lang="en-US" dirty="0"/>
              <a:t/>
            </a:r>
            <a:br/>
            <a:r>
              <a:rPr lang="en-US" dirty="0"/>
              <a:t>작은 실패가 반복되지 않게 입력·출력을 점검합니다.</a:t>
            </a:r>
            <a:br/>
            <a:r>
              <a:rPr lang="en-US" dirty="0"/>
              <a:t/>
            </a:r>
            <a:br/>
            <a:r>
              <a:rPr lang="en-US" dirty="0"/>
              <a:t>판단 기준</a:t>
            </a:r>
            <a:br/>
            <a:r>
              <a:rPr lang="en-US" dirty="0"/>
              <a:t/>
            </a:r>
            <a:br/>
            <a:r>
              <a:rPr lang="en-US" dirty="0"/>
              <a:t>영향은 위로, 가능성은 오른쪽으로 커집니다. 두 축의 판단 기준을 먼저 합의합니다.</a:t>
            </a:r>
            <a:br/>
            <a:r>
              <a:rPr lang="en-US" dirty="0"/>
              <a:t/>
            </a:r>
            <a:br/>
            <a:r>
              <a:rPr lang="en-US" dirty="0"/>
              <a:t>읽는 관점</a:t>
            </a:r>
            <a:br/>
            <a:r>
              <a:rPr lang="en-US" dirty="0"/>
              <a:t/>
            </a:r>
            <a:br/>
            <a:r>
              <a:rPr lang="en-US" dirty="0"/>
              <a:t>같은 문제도 입력 자료와 허용 행동에 따라 위치가 달라집니다. 증거에 따라 다시 분류합니다.</a:t>
            </a:r>
            <a:br/>
            <a:r>
              <a:rPr lang="en-US" dirty="0"/>
              <a:t/>
            </a:r>
            <a:br/>
            <a:r>
              <a:rPr lang="en-US" dirty="0"/>
              <a:t>범위와 한계</a:t>
            </a:r>
            <a:br/>
            <a:r>
              <a:rPr lang="en-US" dirty="0"/>
              <a:t/>
            </a:r>
            <a:br/>
            <a:r>
              <a:rPr lang="en-US" dirty="0"/>
              <a:t>표시한 위치는 설명용 가정입니다. 실제 위험 수용·출시 승인은 담당자의 검토가 필요합니다.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18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역할과 단계의 교차표는 단일 담당자에게 모든 책임을 모으지 않도록 돕는 설계 예시입니다.</a:t>
            </a:r>
            <a:br/>
            <a:r>
              <a:rPr lang="en-US" dirty="0"/>
              <a:t>어떤 승인과 기록이 필요한지는 실제 조직 정책과 업무의 위험에 따라 달라집니다.</a:t>
            </a:r>
            <a:br/>
            <a:r>
              <a:rPr lang="en-US" dirty="0"/>
              <a:t>평가 기록과 운영 신호가 다음 단계의 담당자에게 전달되는 지점을 확인합니다.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행을 따라가면 담당자의 일이 보이고, 열을 따라가면 같은 단계의 협업이 보입니다.</a:t>
            </a:r>
            <a:br/>
            <a:r>
              <a:rPr lang="en-US" dirty="0"/>
              <a:t>셀을 완료 표시로 채우기 전에 무엇을 근거로 넘길지 합의하겠습니다.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SWIMLANE</a:t>
            </a:r>
            <a:br/>
            <a:r>
              <a:rPr lang="en-US" dirty="0"/>
              <a:t>단계마다 맡을 일과 넘길 근거를 연결합니다</a:t>
            </a:r>
            <a:br/>
            <a:r>
              <a:rPr lang="en-US" dirty="0"/>
              <a:t/>
            </a:r>
            <a:br/>
            <a:r>
              <a:rPr lang="en-US" dirty="0"/>
              <a:t>가상의 협업 예시입니다. 행은 담당 역할, 열은 단계이며 실제 조직의 역할 배정을 뜻하지 않습니다.</a:t>
            </a:r>
            <a:br/>
            <a:r>
              <a:rPr lang="en-US" dirty="0"/>
              <a:t/>
            </a:r>
            <a:br/>
            <a:r>
              <a:rPr lang="en-US" dirty="0"/>
              <a:t>역할	범위·근거	구현·평가	출시·운영</a:t>
            </a:r>
            <a:br/>
            <a:r>
              <a:rPr lang="en-US" dirty="0"/>
              <a:t>업무 담당	업무·대표 질문 정의	답변 검토 기준 제공	사용 범위와 보류 조건 확인</a:t>
            </a:r>
            <a:br/>
            <a:r>
              <a:rPr lang="en-US" dirty="0"/>
              <a:t>개발 담당	자료 접근 조건 확인	응용 구현·실패 사례 기록	릴리스 근거·남은 문제 인계</a:t>
            </a:r>
            <a:br/>
            <a:r>
              <a:rPr lang="en-US" dirty="0"/>
              <a:t>운영 담당	관측·기록 범위 합의	신호·대응 절차 검토	상태 확인·재검토 연결</a:t>
            </a:r>
            <a:br/>
            <a:r>
              <a:rPr lang="en-US" dirty="0"/>
              <a:t>판단 기준</a:t>
            </a:r>
            <a:br/>
            <a:r>
              <a:rPr lang="en-US" dirty="0"/>
              <a:t/>
            </a:r>
            <a:br/>
            <a:r>
              <a:rPr lang="en-US" dirty="0"/>
              <a:t>셀은 해당 역할의 행동과 전달할 근거입니다. 색상은 권한이나 승인 완료 상태를 뜻하지 않습니다.</a:t>
            </a:r>
            <a:br/>
            <a:r>
              <a:rPr lang="en-US" dirty="0"/>
              <a:t/>
            </a:r>
            <a:br/>
            <a:r>
              <a:rPr lang="en-US" dirty="0"/>
              <a:t>읽는 관점</a:t>
            </a:r>
            <a:br/>
            <a:r>
              <a:rPr lang="en-US" dirty="0"/>
              <a:t/>
            </a:r>
            <a:br/>
            <a:r>
              <a:rPr lang="en-US" dirty="0"/>
              <a:t>각 인계에는 조건과 담당자를 남깁니다. 개발 완료만으로 출시 승인을 대신하지 않습니다.</a:t>
            </a:r>
            <a:br/>
            <a:r>
              <a:rPr lang="en-US" dirty="0"/>
              <a:t/>
            </a:r>
            <a:br/>
            <a:r>
              <a:rPr lang="en-US" dirty="0"/>
              <a:t>범위와 한계</a:t>
            </a:r>
            <a:br/>
            <a:r>
              <a:rPr lang="en-US" dirty="0"/>
              <a:t/>
            </a:r>
            <a:br/>
            <a:r>
              <a:rPr lang="en-US" dirty="0"/>
              <a:t>실제 팀의 책임·승인·운영 절차는 별도 합의합니다. 이 표는 조직별 RACI를 대체하지 않습니다.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19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20종 템플릿은 동일한 주제를 여러 정보 구조로 설명하는 예시입니다.</a:t>
            </a:r>
            <a:br/>
            <a:r>
              <a:rPr lang="en-US" dirty="0"/>
              <a:t>실제 도입에서는 모든 템플릿을 채우기보다 판단에 필요한 구조를 선택합니다.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첫 업무 하나, 확인할 근거, 검토할 사람을 남기겠습니다.</a:t>
            </a:r>
            <a:br/>
            <a:r>
              <a:rPr lang="en-US" dirty="0"/>
              <a:t>그 세 가지가 합의되면 작은 실행으로 다음 질문을 확인할 수 있습니다.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>Microsoft Foundry portal general availability overview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>https://learn.microsoft.com/en-us/azure/foundry/concepts/general-availability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CLOSING</a:t>
            </a:r>
            <a:br/>
            <a:r>
              <a:rPr lang="en-US" dirty="0"/>
              <a:t>작은 업무와 명확한 출시 근거를 남깁니다</a:t>
            </a:r>
            <a:br/>
            <a:r>
              <a:rPr lang="en-US" dirty="0"/>
              <a:t/>
            </a:r>
            <a:br/>
            <a:r>
              <a:rPr lang="en-US" dirty="0"/>
              <a:t>Foundry 도입은 기능 목록보다 업무·통제·검증을 연결하는 일입니다.</a:t>
            </a:r>
            <a:br/>
            <a:r>
              <a:rPr lang="en-US" dirty="0"/>
              <a:t/>
            </a:r>
            <a:br/>
            <a:r>
              <a:rPr lang="en-US" dirty="0"/>
              <a:t>논의를 정리하면</a:t>
            </a:r>
            <a:br/>
            <a:r>
              <a:rPr lang="en-US" dirty="0"/>
              <a:t/>
            </a:r>
            <a:br/>
            <a:r>
              <a:rPr lang="en-US" dirty="0"/>
              <a:t>모델과 도구, 에이전트의 역할을 구분한 뒤 필요한 구현 범위를 선택합니다.</a:t>
            </a:r>
            <a:br/>
            <a:r>
              <a:rPr lang="en-US" dirty="0"/>
              <a:t/>
            </a:r>
            <a:br/>
            <a:r>
              <a:rPr lang="en-US" dirty="0"/>
              <a:t>기억할 원칙</a:t>
            </a:r>
            <a:br/>
            <a:r>
              <a:rPr lang="en-US" dirty="0"/>
              <a:t/>
            </a:r>
            <a:br/>
            <a:r>
              <a:rPr lang="en-US" dirty="0"/>
              <a:t>작게 시작하되 접근 조건과 평가 기록, 운영 책임은 처음부터 함께 설계합니다.</a:t>
            </a:r>
            <a:br/>
            <a:r>
              <a:rPr lang="en-US" dirty="0"/>
              <a:t/>
            </a:r>
            <a:br/>
            <a:r>
              <a:rPr lang="en-US" dirty="0"/>
              <a:t>01</a:t>
            </a:r>
            <a:br/>
            <a:r>
              <a:rPr lang="en-US" dirty="0"/>
              <a:t>첫 업무를 고릅니다</a:t>
            </a:r>
            <a:br/>
            <a:r>
              <a:rPr lang="en-US" dirty="0"/>
              <a:t/>
            </a:r>
            <a:br/>
            <a:r>
              <a:rPr lang="en-US" dirty="0"/>
              <a:t>질문·데이터·허용 행동이 명확한 사례 하나로 범위를 좁힙니다.</a:t>
            </a:r>
            <a:br/>
            <a:r>
              <a:rPr lang="en-US" dirty="0"/>
              <a:t/>
            </a:r>
            <a:br/>
            <a:r>
              <a:rPr lang="en-US" dirty="0"/>
              <a:t>02</a:t>
            </a:r>
            <a:br/>
            <a:r>
              <a:rPr lang="en-US" dirty="0"/>
              <a:t>필요한 증거를 정합니다</a:t>
            </a:r>
            <a:br/>
            <a:r>
              <a:rPr lang="en-US" dirty="0"/>
              <a:t/>
            </a:r>
            <a:br/>
            <a:r>
              <a:rPr lang="en-US" dirty="0"/>
              <a:t>대표 질문, 실패 조건과 출시·보류 기준을 합의합니다.</a:t>
            </a:r>
            <a:br/>
            <a:r>
              <a:rPr lang="en-US" dirty="0"/>
              <a:t/>
            </a:r>
            <a:br/>
            <a:r>
              <a:rPr lang="en-US" dirty="0"/>
              <a:t>03</a:t>
            </a:r>
            <a:br/>
            <a:r>
              <a:rPr lang="en-US" dirty="0"/>
              <a:t>검토 책임을 연결합니다</a:t>
            </a:r>
            <a:br/>
            <a:r>
              <a:rPr lang="en-US" dirty="0"/>
              <a:t/>
            </a:r>
            <a:br/>
            <a:r>
              <a:rPr lang="en-US" dirty="0"/>
              <a:t>담당자, 남은 질문과 다음 확인 시점을 기록합니다.</a:t>
            </a:r>
            <a:br/>
            <a:r>
              <a:rPr lang="en-US" dirty="0"/>
              <a:t/>
            </a:r>
            <a:br/>
            <a:r>
              <a:rPr lang="en-US" dirty="0"/>
              <a:t>남은 질문</a:t>
            </a:r>
            <a:br/>
            <a:r>
              <a:rPr lang="en-US" dirty="0"/>
              <a:t/>
            </a:r>
            <a:br/>
            <a:r>
              <a:rPr lang="en-US" dirty="0"/>
              <a:t>미확인 기능·리전·비용과 남은 실패 사례를 숨기지 않습니다. 이 자료는 실제 배포 보고서가 아닙니다.</a:t>
            </a:r>
            <a:br/>
            <a:r>
              <a:rPr lang="en-US" dirty="0"/>
              <a:t/>
            </a:r>
            <a:br/>
            <a:r>
              <a:rPr lang="en-US" dirty="0"/>
              <a:t>MICROSOFT LEARN · 2026-09-30</a:t>
            </a:r>
            <a:br/>
            <a:r>
              <a:rPr lang="en-US" dirty="0"/>
              <a:t>20 / 20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368300"/>
            <a:ext cx="5262519" cy="710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4000" b="1" spc="-180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실험에서 운영 판단까지</a:t>
            </a:r>
            <a:endParaRPr lang="ko-KR" sz="4000" dirty="0"/>
          </a:p>
        </p:txBody>
      </p:sp>
      <p:sp>
        <p:nvSpPr>
          <p:cNvPr id="3" name="Shape 1"/>
          <p:cNvSpPr/>
          <p:nvPr/>
        </p:nvSpPr>
        <p:spPr>
          <a:xfrm>
            <a:off x="711200" y="2857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15900"/>
            <a:ext cx="15560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COVER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73150"/>
            <a:ext cx="4865842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Microsoft Foundry에서 모델·에이전트·도구와 평가를 함께 이해합니다.</a:t>
            </a:r>
            <a:endParaRPr lang="ko-KR" sz="1400" dirty="0"/>
          </a:p>
        </p:txBody>
      </p:sp>
      <p:pic>
        <p:nvPicPr>
          <p:cNvPr id="6" name="Image 0" descr="CSS deco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2095500"/>
            <a:ext cx="3429000" cy="3987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7100" y="2349500"/>
            <a:ext cx="434138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출발점</a:t>
            </a:r>
            <a:endParaRPr lang="ko-KR" sz="1250" dirty="0"/>
          </a:p>
        </p:txBody>
      </p:sp>
      <p:sp>
        <p:nvSpPr>
          <p:cNvPr id="8" name="Text 5"/>
          <p:cNvSpPr/>
          <p:nvPr/>
        </p:nvSpPr>
        <p:spPr>
          <a:xfrm>
            <a:off x="927100" y="2622550"/>
            <a:ext cx="272103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답변 한 번보다 반복 가능한 업무 결과가</a:t>
            </a:r>
            <a:endParaRPr lang="ko-KR" sz="1250" dirty="0"/>
          </a:p>
        </p:txBody>
      </p:sp>
      <p:sp>
        <p:nvSpPr>
          <p:cNvPr id="9" name="Text 6"/>
          <p:cNvSpPr/>
          <p:nvPr/>
        </p:nvSpPr>
        <p:spPr>
          <a:xfrm>
            <a:off x="927100" y="2825750"/>
            <a:ext cx="264631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중요합니다. 해결할 문제와 허용할 행동부터</a:t>
            </a:r>
            <a:endParaRPr lang="ko-KR" sz="1250" dirty="0"/>
          </a:p>
        </p:txBody>
      </p:sp>
      <p:sp>
        <p:nvSpPr>
          <p:cNvPr id="10" name="Text 7"/>
          <p:cNvSpPr/>
          <p:nvPr/>
        </p:nvSpPr>
        <p:spPr>
          <a:xfrm>
            <a:off x="927100" y="3028950"/>
            <a:ext cx="60925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정합니다.</a:t>
            </a:r>
            <a:endParaRPr lang="ko-KR" sz="1250" dirty="0"/>
          </a:p>
        </p:txBody>
      </p:sp>
      <p:sp>
        <p:nvSpPr>
          <p:cNvPr id="11" name="Shape 8"/>
          <p:cNvSpPr/>
          <p:nvPr/>
        </p:nvSpPr>
        <p:spPr>
          <a:xfrm>
            <a:off x="927100" y="4191000"/>
            <a:ext cx="2997200" cy="0"/>
          </a:xfrm>
          <a:prstGeom prst="line">
            <a:avLst/>
          </a:prstGeom>
          <a:noFill/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27100" y="436245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읽기 전에</a:t>
            </a:r>
            <a:endParaRPr lang="ko-KR" sz="1250" dirty="0"/>
          </a:p>
        </p:txBody>
      </p:sp>
      <p:sp>
        <p:nvSpPr>
          <p:cNvPr id="13" name="Text 10"/>
          <p:cNvSpPr/>
          <p:nvPr/>
        </p:nvSpPr>
        <p:spPr>
          <a:xfrm>
            <a:off x="927100" y="4635500"/>
            <a:ext cx="291917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Azure AI Foundry의 현재 브랜드는 Microsoft</a:t>
            </a:r>
            <a:endParaRPr lang="ko-KR" sz="1250" dirty="0"/>
          </a:p>
        </p:txBody>
      </p:sp>
      <p:sp>
        <p:nvSpPr>
          <p:cNvPr id="14" name="Text 11"/>
          <p:cNvSpPr/>
          <p:nvPr/>
        </p:nvSpPr>
        <p:spPr>
          <a:xfrm>
            <a:off x="927100" y="4838700"/>
            <a:ext cx="253995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Foundry입니다. 모든 기능이 모든 리전에</a:t>
            </a:r>
            <a:endParaRPr lang="ko-KR" sz="1250" dirty="0"/>
          </a:p>
        </p:txBody>
      </p:sp>
      <p:sp>
        <p:nvSpPr>
          <p:cNvPr id="15" name="Text 12"/>
          <p:cNvSpPr/>
          <p:nvPr/>
        </p:nvSpPr>
        <p:spPr>
          <a:xfrm>
            <a:off x="927100" y="5041900"/>
            <a:ext cx="149309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제공되는 것은 아닙니다.</a:t>
            </a:r>
            <a:endParaRPr lang="ko-KR" sz="1250" dirty="0"/>
          </a:p>
        </p:txBody>
      </p:sp>
      <p:sp>
        <p:nvSpPr>
          <p:cNvPr id="16" name="Shape 13"/>
          <p:cNvSpPr/>
          <p:nvPr/>
        </p:nvSpPr>
        <p:spPr>
          <a:xfrm>
            <a:off x="4584700" y="2349500"/>
            <a:ext cx="12700" cy="264160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43400" y="2349500"/>
            <a:ext cx="482600" cy="482600"/>
          </a:xfrm>
          <a:prstGeom prst="ellipse">
            <a:avLst/>
          </a:prstGeom>
          <a:solidFill>
            <a:srgbClr val="F4F2ED"/>
          </a:solidFill>
          <a:ln w="12700">
            <a:solidFill>
              <a:srgbClr val="2C6B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79925" y="2486025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ko-KR" sz="1250" dirty="0"/>
          </a:p>
        </p:txBody>
      </p:sp>
      <p:sp>
        <p:nvSpPr>
          <p:cNvPr id="19" name="Shape 16"/>
          <p:cNvSpPr/>
          <p:nvPr/>
        </p:nvSpPr>
        <p:spPr>
          <a:xfrm>
            <a:off x="4978400" y="2095500"/>
            <a:ext cx="65024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978400" y="2095500"/>
            <a:ext cx="65024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480800" y="2095500"/>
            <a:ext cx="0" cy="9906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78400" y="3086100"/>
            <a:ext cx="65024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978400" y="2095500"/>
            <a:ext cx="0" cy="9906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37150" y="2209800"/>
            <a:ext cx="135022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역할을 구분합니다</a:t>
            </a:r>
            <a:endParaRPr lang="ko-KR" sz="1500" dirty="0"/>
          </a:p>
        </p:txBody>
      </p:sp>
      <p:sp>
        <p:nvSpPr>
          <p:cNvPr id="25" name="Text 22"/>
          <p:cNvSpPr/>
          <p:nvPr/>
        </p:nvSpPr>
        <p:spPr>
          <a:xfrm>
            <a:off x="5137150" y="2498030"/>
            <a:ext cx="360705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모델, 에이전트, 도구가 각각 무엇을 담당하는지 살펴봅니다.</a:t>
            </a:r>
            <a:endParaRPr lang="ko-KR" sz="1250" dirty="0"/>
          </a:p>
        </p:txBody>
      </p:sp>
      <p:sp>
        <p:nvSpPr>
          <p:cNvPr id="26" name="Shape 23"/>
          <p:cNvSpPr/>
          <p:nvPr/>
        </p:nvSpPr>
        <p:spPr>
          <a:xfrm>
            <a:off x="4343400" y="3429000"/>
            <a:ext cx="482600" cy="482600"/>
          </a:xfrm>
          <a:prstGeom prst="ellipse">
            <a:avLst/>
          </a:prstGeom>
          <a:solidFill>
            <a:srgbClr val="F4F2ED"/>
          </a:solidFill>
          <a:ln w="12700">
            <a:solidFill>
              <a:srgbClr val="2C6B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79925" y="3565525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ko-KR" sz="1250" dirty="0"/>
          </a:p>
        </p:txBody>
      </p:sp>
      <p:sp>
        <p:nvSpPr>
          <p:cNvPr id="28" name="Shape 25"/>
          <p:cNvSpPr/>
          <p:nvPr/>
        </p:nvSpPr>
        <p:spPr>
          <a:xfrm>
            <a:off x="4978400" y="3175000"/>
            <a:ext cx="65024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978400" y="3175000"/>
            <a:ext cx="65024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1480800" y="3175000"/>
            <a:ext cx="0" cy="9906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978400" y="4165600"/>
            <a:ext cx="65024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78400" y="3175000"/>
            <a:ext cx="0" cy="9906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37150" y="3289300"/>
            <a:ext cx="154925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경로를 고릅니다</a:t>
            </a:r>
            <a:endParaRPr lang="ko-KR" sz="1500" dirty="0"/>
          </a:p>
        </p:txBody>
      </p:sp>
      <p:sp>
        <p:nvSpPr>
          <p:cNvPr id="34" name="Text 31"/>
          <p:cNvSpPr/>
          <p:nvPr/>
        </p:nvSpPr>
        <p:spPr>
          <a:xfrm>
            <a:off x="5137150" y="3577530"/>
            <a:ext cx="4414298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호출부터 코드 기반 에이전트까지 필요한 제어 수준으로 선택합니다.</a:t>
            </a:r>
            <a:endParaRPr lang="ko-KR" sz="1250" dirty="0"/>
          </a:p>
        </p:txBody>
      </p:sp>
      <p:sp>
        <p:nvSpPr>
          <p:cNvPr id="35" name="Shape 32"/>
          <p:cNvSpPr/>
          <p:nvPr/>
        </p:nvSpPr>
        <p:spPr>
          <a:xfrm>
            <a:off x="4343400" y="4508500"/>
            <a:ext cx="482600" cy="482600"/>
          </a:xfrm>
          <a:prstGeom prst="ellipse">
            <a:avLst/>
          </a:prstGeom>
          <a:solidFill>
            <a:srgbClr val="F4F2ED"/>
          </a:solidFill>
          <a:ln w="12700">
            <a:solidFill>
              <a:srgbClr val="2C6BE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479925" y="4645025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ko-KR" sz="1250" dirty="0"/>
          </a:p>
        </p:txBody>
      </p:sp>
      <p:sp>
        <p:nvSpPr>
          <p:cNvPr id="37" name="Shape 34"/>
          <p:cNvSpPr/>
          <p:nvPr/>
        </p:nvSpPr>
        <p:spPr>
          <a:xfrm>
            <a:off x="4978400" y="4254500"/>
            <a:ext cx="6502400" cy="9906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978400" y="4254500"/>
            <a:ext cx="65024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1480800" y="4254500"/>
            <a:ext cx="0" cy="9906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978400" y="5245100"/>
            <a:ext cx="65024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978400" y="4254500"/>
            <a:ext cx="0" cy="9906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137150" y="4368800"/>
            <a:ext cx="186903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근거로 출시를 판단합니다</a:t>
            </a:r>
            <a:endParaRPr lang="ko-KR" sz="1500" dirty="0"/>
          </a:p>
        </p:txBody>
      </p:sp>
      <p:sp>
        <p:nvSpPr>
          <p:cNvPr id="43" name="Text 40"/>
          <p:cNvSpPr/>
          <p:nvPr/>
        </p:nvSpPr>
        <p:spPr>
          <a:xfrm>
            <a:off x="5137150" y="4657030"/>
            <a:ext cx="408558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결과와 실패 사례, 운영 책임을 연결해 진행 여부를 결정합니다.</a:t>
            </a:r>
            <a:endParaRPr lang="ko-KR" sz="1250" dirty="0"/>
          </a:p>
        </p:txBody>
      </p:sp>
      <p:sp>
        <p:nvSpPr>
          <p:cNvPr id="44" name="Shape 41"/>
          <p:cNvSpPr/>
          <p:nvPr/>
        </p:nvSpPr>
        <p:spPr>
          <a:xfrm>
            <a:off x="4343400" y="5372100"/>
            <a:ext cx="7137400" cy="7112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343400" y="5372100"/>
            <a:ext cx="71374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470400" y="563880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관점</a:t>
            </a:r>
            <a:endParaRPr lang="ko-KR" sz="1250" dirty="0"/>
          </a:p>
        </p:txBody>
      </p:sp>
      <p:sp>
        <p:nvSpPr>
          <p:cNvPr id="47" name="Text 44"/>
          <p:cNvSpPr/>
          <p:nvPr/>
        </p:nvSpPr>
        <p:spPr>
          <a:xfrm>
            <a:off x="5257800" y="5638800"/>
            <a:ext cx="398904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기능을 고르기 전에 업무 범위, 통제 조건, 출시 근거를 연결합니다.</a:t>
            </a:r>
            <a:endParaRPr lang="ko-KR" sz="1250" dirty="0"/>
          </a:p>
        </p:txBody>
      </p:sp>
      <p:sp>
        <p:nvSpPr>
          <p:cNvPr id="48" name="Text 45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49" name="Text 46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ko-KR" sz="900" dirty="0"/>
          </a:p>
        </p:txBody>
      </p:sp>
      <p:sp>
        <p:nvSpPr>
          <p:cNvPr id="50" name="Text 47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6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6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6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6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6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6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6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6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6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6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6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6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6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6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6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6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6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6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6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9" dur="6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6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4" dur="6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4994827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시연과 운영 준비는 다릅니다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8608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CONTRAST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4797381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AI 응답도 실험과 업무 운영에서는 확인해야 할 조건이 달라집니다.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711200" y="2095500"/>
            <a:ext cx="4191000" cy="2057400"/>
          </a:xfrm>
          <a:prstGeom prst="rect">
            <a:avLst/>
          </a:prstGeom>
          <a:solidFill>
            <a:srgbClr val="EAE7D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1200" y="2095500"/>
            <a:ext cx="4191000" cy="0"/>
          </a:xfrm>
          <a:prstGeom prst="line">
            <a:avLst/>
          </a:prstGeom>
          <a:noFill/>
          <a:ln w="31750">
            <a:solidFill>
              <a:srgbClr val="8493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3600" y="2279650"/>
            <a:ext cx="6606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BEFORE</a:t>
            </a:r>
            <a:endParaRPr lang="ko-KR" sz="1250" dirty="0"/>
          </a:p>
        </p:txBody>
      </p:sp>
      <p:sp>
        <p:nvSpPr>
          <p:cNvPr id="9" name="Text 7"/>
          <p:cNvSpPr/>
          <p:nvPr/>
        </p:nvSpPr>
        <p:spPr>
          <a:xfrm>
            <a:off x="863600" y="2559050"/>
            <a:ext cx="1191077" cy="259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· 가능한가</a:t>
            </a:r>
            <a:endParaRPr lang="ko-KR" sz="1600" dirty="0"/>
          </a:p>
        </p:txBody>
      </p:sp>
      <p:sp>
        <p:nvSpPr>
          <p:cNvPr id="10" name="Text 8"/>
          <p:cNvSpPr/>
          <p:nvPr/>
        </p:nvSpPr>
        <p:spPr>
          <a:xfrm>
            <a:off x="863600" y="2900363"/>
            <a:ext cx="370270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짧은 입력으로 모델의 응답을 살펴보고 업무 가설을 좁힙니다.</a:t>
            </a:r>
            <a:endParaRPr lang="ko-KR" sz="1250" dirty="0"/>
          </a:p>
        </p:txBody>
      </p:sp>
      <p:sp>
        <p:nvSpPr>
          <p:cNvPr id="11" name="Text 9"/>
          <p:cNvSpPr/>
          <p:nvPr/>
        </p:nvSpPr>
        <p:spPr>
          <a:xfrm>
            <a:off x="5120580" y="2959100"/>
            <a:ext cx="306443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</a:t>
            </a:r>
            <a:endParaRPr lang="ko-KR" sz="1250" dirty="0"/>
          </a:p>
        </p:txBody>
      </p:sp>
      <p:sp>
        <p:nvSpPr>
          <p:cNvPr id="12" name="Shape 10"/>
          <p:cNvSpPr/>
          <p:nvPr/>
        </p:nvSpPr>
        <p:spPr>
          <a:xfrm>
            <a:off x="5035550" y="3276600"/>
            <a:ext cx="444500" cy="1270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13" name="Image 0" descr="CSS deco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2078" y="3208478"/>
            <a:ext cx="161644" cy="16164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613400" y="2095500"/>
            <a:ext cx="5867400" cy="20574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13400" y="2095500"/>
            <a:ext cx="5867400" cy="0"/>
          </a:xfrm>
          <a:prstGeom prst="line">
            <a:avLst/>
          </a:prstGeom>
          <a:noFill/>
          <a:ln w="31750">
            <a:solidFill>
              <a:srgbClr val="2C6BE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480800" y="2095500"/>
            <a:ext cx="0" cy="20574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13400" y="4152900"/>
            <a:ext cx="58674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13400" y="2095500"/>
            <a:ext cx="0" cy="20574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72150" y="2279650"/>
            <a:ext cx="555879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7FA6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AFTER</a:t>
            </a:r>
            <a:endParaRPr lang="ko-KR" sz="1250" dirty="0"/>
          </a:p>
        </p:txBody>
      </p:sp>
      <p:sp>
        <p:nvSpPr>
          <p:cNvPr id="20" name="Text 17"/>
          <p:cNvSpPr/>
          <p:nvPr/>
        </p:nvSpPr>
        <p:spPr>
          <a:xfrm>
            <a:off x="5772150" y="2559050"/>
            <a:ext cx="1615634" cy="259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· 맡길 수 있는가</a:t>
            </a:r>
            <a:endParaRPr lang="ko-KR" sz="1600" dirty="0"/>
          </a:p>
        </p:txBody>
      </p:sp>
      <p:sp>
        <p:nvSpPr>
          <p:cNvPr id="21" name="Text 18"/>
          <p:cNvSpPr/>
          <p:nvPr/>
        </p:nvSpPr>
        <p:spPr>
          <a:xfrm>
            <a:off x="5772150" y="2900363"/>
            <a:ext cx="4296128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질문과 실패 조건, 허용 행동, 관측과 중단 책임을 함께 확인합니다.</a:t>
            </a:r>
            <a:endParaRPr lang="ko-KR" sz="1250" dirty="0"/>
          </a:p>
        </p:txBody>
      </p:sp>
      <p:sp>
        <p:nvSpPr>
          <p:cNvPr id="22" name="Shape 19"/>
          <p:cNvSpPr/>
          <p:nvPr/>
        </p:nvSpPr>
        <p:spPr>
          <a:xfrm>
            <a:off x="711200" y="4305300"/>
            <a:ext cx="3488234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1200" y="43053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99434" y="4305300"/>
            <a:ext cx="0" cy="17780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11200" y="60833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11200" y="4305300"/>
            <a:ext cx="0" cy="17780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7250" y="445135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현재의 제약</a:t>
            </a:r>
            <a:endParaRPr lang="ko-KR" sz="1250" dirty="0"/>
          </a:p>
        </p:txBody>
      </p:sp>
      <p:sp>
        <p:nvSpPr>
          <p:cNvPr id="28" name="Text 25"/>
          <p:cNvSpPr/>
          <p:nvPr/>
        </p:nvSpPr>
        <p:spPr>
          <a:xfrm>
            <a:off x="857250" y="4724400"/>
            <a:ext cx="281866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실험은 가능성을 찾는 출발점입니다. 대표 사례</a:t>
            </a:r>
            <a:endParaRPr lang="ko-KR" sz="1250" dirty="0"/>
          </a:p>
        </p:txBody>
      </p:sp>
      <p:sp>
        <p:nvSpPr>
          <p:cNvPr id="29" name="Text 26"/>
          <p:cNvSpPr/>
          <p:nvPr/>
        </p:nvSpPr>
        <p:spPr>
          <a:xfrm>
            <a:off x="857250" y="4927600"/>
            <a:ext cx="278095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하나가 전체 사용자와 예외 상황을 대신하지는</a:t>
            </a:r>
            <a:endParaRPr lang="ko-KR" sz="1250" dirty="0"/>
          </a:p>
        </p:txBody>
      </p:sp>
      <p:sp>
        <p:nvSpPr>
          <p:cNvPr id="30" name="Text 27"/>
          <p:cNvSpPr/>
          <p:nvPr/>
        </p:nvSpPr>
        <p:spPr>
          <a:xfrm>
            <a:off x="857250" y="5130800"/>
            <a:ext cx="60925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않습니다.</a:t>
            </a:r>
            <a:endParaRPr lang="ko-KR" sz="1250" dirty="0"/>
          </a:p>
        </p:txBody>
      </p:sp>
      <p:sp>
        <p:nvSpPr>
          <p:cNvPr id="31" name="Shape 28"/>
          <p:cNvSpPr/>
          <p:nvPr/>
        </p:nvSpPr>
        <p:spPr>
          <a:xfrm>
            <a:off x="4351834" y="4305300"/>
            <a:ext cx="3488234" cy="17780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351834" y="4305300"/>
            <a:ext cx="3488234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840067" y="4305300"/>
            <a:ext cx="0" cy="177800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351834" y="6083300"/>
            <a:ext cx="3488234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351834" y="4305300"/>
            <a:ext cx="0" cy="177800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497884" y="4451350"/>
            <a:ext cx="86960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달라지는 지점</a:t>
            </a:r>
            <a:endParaRPr lang="ko-KR" sz="1250" dirty="0"/>
          </a:p>
        </p:txBody>
      </p:sp>
      <p:sp>
        <p:nvSpPr>
          <p:cNvPr id="37" name="Text 34"/>
          <p:cNvSpPr/>
          <p:nvPr/>
        </p:nvSpPr>
        <p:spPr>
          <a:xfrm>
            <a:off x="4497884" y="4724400"/>
            <a:ext cx="293246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실험을 버리는 대신 평가 데이터, 접근 통제, 추적</a:t>
            </a:r>
            <a:endParaRPr lang="ko-KR" sz="1250" dirty="0"/>
          </a:p>
        </p:txBody>
      </p:sp>
      <p:sp>
        <p:nvSpPr>
          <p:cNvPr id="38" name="Text 35"/>
          <p:cNvSpPr/>
          <p:nvPr/>
        </p:nvSpPr>
        <p:spPr>
          <a:xfrm>
            <a:off x="4497884" y="4927600"/>
            <a:ext cx="295369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기록을 더해 반복 가능한 판단으로 발전시킵니다.</a:t>
            </a:r>
            <a:endParaRPr lang="ko-KR" sz="1250" dirty="0"/>
          </a:p>
        </p:txBody>
      </p:sp>
      <p:sp>
        <p:nvSpPr>
          <p:cNvPr id="39" name="Shape 36"/>
          <p:cNvSpPr/>
          <p:nvPr/>
        </p:nvSpPr>
        <p:spPr>
          <a:xfrm>
            <a:off x="7992467" y="4305300"/>
            <a:ext cx="3488234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992467" y="4305300"/>
            <a:ext cx="3488234" cy="0"/>
          </a:xfrm>
          <a:prstGeom prst="line">
            <a:avLst/>
          </a:prstGeom>
          <a:noFill/>
          <a:ln w="19050">
            <a:solidFill>
              <a:srgbClr val="2C6BE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1480701" y="4305300"/>
            <a:ext cx="0" cy="17780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992467" y="60833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992467" y="4305300"/>
            <a:ext cx="0" cy="17780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138517" y="446405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전환의 조건</a:t>
            </a:r>
            <a:endParaRPr lang="ko-KR" sz="1250" dirty="0"/>
          </a:p>
        </p:txBody>
      </p:sp>
      <p:sp>
        <p:nvSpPr>
          <p:cNvPr id="45" name="Text 42"/>
          <p:cNvSpPr/>
          <p:nvPr/>
        </p:nvSpPr>
        <p:spPr>
          <a:xfrm>
            <a:off x="8138517" y="4737100"/>
            <a:ext cx="298187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 비교는 도입 관점의 제안입니다. Foundry를</a:t>
            </a:r>
            <a:endParaRPr lang="ko-KR" sz="1250" dirty="0"/>
          </a:p>
        </p:txBody>
      </p:sp>
      <p:sp>
        <p:nvSpPr>
          <p:cNvPr id="46" name="Text 43"/>
          <p:cNvSpPr/>
          <p:nvPr/>
        </p:nvSpPr>
        <p:spPr>
          <a:xfrm>
            <a:off x="8138517" y="4940300"/>
            <a:ext cx="274345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선택했다는 사실만으로 운영 준비가 끝나지는</a:t>
            </a:r>
            <a:endParaRPr lang="ko-KR" sz="1250" dirty="0"/>
          </a:p>
        </p:txBody>
      </p:sp>
      <p:sp>
        <p:nvSpPr>
          <p:cNvPr id="47" name="Text 44"/>
          <p:cNvSpPr/>
          <p:nvPr/>
        </p:nvSpPr>
        <p:spPr>
          <a:xfrm>
            <a:off x="8138517" y="5143500"/>
            <a:ext cx="60925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않습니다.</a:t>
            </a:r>
            <a:endParaRPr lang="ko-KR" sz="1250" dirty="0"/>
          </a:p>
        </p:txBody>
      </p:sp>
      <p:sp>
        <p:nvSpPr>
          <p:cNvPr id="48" name="Text 45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49" name="Text 46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ko-KR" sz="900" dirty="0"/>
          </a:p>
        </p:txBody>
      </p:sp>
      <p:sp>
        <p:nvSpPr>
          <p:cNvPr id="50" name="Text 47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6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6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6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6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6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6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6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6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6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6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6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6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6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6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6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6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6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6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6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9" dur="6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6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4" dur="6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5781036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Foundry의 역할을 세 층으로 읽습니다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22672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ARCHITECTURE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4389592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입력과 모델·도구, 에이전트 구성, 업무 응용을 잇는 개념도입니다.</a:t>
            </a:r>
            <a:endParaRPr lang="ko-KR" sz="1400" dirty="0"/>
          </a:p>
        </p:txBody>
      </p:sp>
      <p:sp>
        <p:nvSpPr>
          <p:cNvPr id="6" name="Text 4"/>
          <p:cNvSpPr/>
          <p:nvPr/>
        </p:nvSpPr>
        <p:spPr>
          <a:xfrm>
            <a:off x="711200" y="2628900"/>
            <a:ext cx="101010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기반 / 원천</a:t>
            </a:r>
            <a:endParaRPr lang="ko-KR" sz="1250" dirty="0"/>
          </a:p>
        </p:txBody>
      </p:sp>
      <p:sp>
        <p:nvSpPr>
          <p:cNvPr id="7" name="Shape 5"/>
          <p:cNvSpPr/>
          <p:nvPr/>
        </p:nvSpPr>
        <p:spPr>
          <a:xfrm>
            <a:off x="711200" y="2921000"/>
            <a:ext cx="1943100" cy="2552700"/>
          </a:xfrm>
          <a:prstGeom prst="rect">
            <a:avLst/>
          </a:prstGeom>
          <a:solidFill>
            <a:srgbClr val="EAE7D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1200" y="2921000"/>
            <a:ext cx="19431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4300" y="2921000"/>
            <a:ext cx="0" cy="2552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1200" y="5473700"/>
            <a:ext cx="19431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1200" y="2921000"/>
            <a:ext cx="0" cy="2552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1200" y="2851150"/>
            <a:ext cx="1943100" cy="165100"/>
          </a:xfrm>
          <a:prstGeom prst="ellipse">
            <a:avLst/>
          </a:prstGeom>
          <a:solidFill>
            <a:srgbClr val="F4F2ED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4550" y="3111500"/>
            <a:ext cx="1164983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· 도구 · 지식</a:t>
            </a:r>
            <a:endParaRPr lang="ko-KR" sz="1400" dirty="0"/>
          </a:p>
        </p:txBody>
      </p:sp>
      <p:sp>
        <p:nvSpPr>
          <p:cNvPr id="14" name="Text 12"/>
          <p:cNvSpPr/>
          <p:nvPr/>
        </p:nvSpPr>
        <p:spPr>
          <a:xfrm>
            <a:off x="844550" y="3410148"/>
            <a:ext cx="1492603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업무에 맞는 추론 모델과</a:t>
            </a:r>
            <a:endParaRPr lang="ko-KR" sz="1250" dirty="0"/>
          </a:p>
        </p:txBody>
      </p:sp>
      <p:sp>
        <p:nvSpPr>
          <p:cNvPr id="15" name="Text 13"/>
          <p:cNvSpPr/>
          <p:nvPr/>
        </p:nvSpPr>
        <p:spPr>
          <a:xfrm>
            <a:off x="844550" y="3613348"/>
            <a:ext cx="1665343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사용할 수 있는 자료·기능을</a:t>
            </a:r>
            <a:endParaRPr lang="ko-KR" sz="1250" dirty="0"/>
          </a:p>
        </p:txBody>
      </p:sp>
      <p:sp>
        <p:nvSpPr>
          <p:cNvPr id="16" name="Text 14"/>
          <p:cNvSpPr/>
          <p:nvPr/>
        </p:nvSpPr>
        <p:spPr>
          <a:xfrm>
            <a:off x="844550" y="3816548"/>
            <a:ext cx="60925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고릅니다.</a:t>
            </a:r>
            <a:endParaRPr lang="ko-KR" sz="1250" dirty="0"/>
          </a:p>
        </p:txBody>
      </p:sp>
      <p:sp>
        <p:nvSpPr>
          <p:cNvPr id="17" name="Shape 15"/>
          <p:cNvSpPr/>
          <p:nvPr/>
        </p:nvSpPr>
        <p:spPr>
          <a:xfrm>
            <a:off x="2921000" y="2095500"/>
            <a:ext cx="2387600" cy="33782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1000" y="2095500"/>
            <a:ext cx="2387600" cy="0"/>
          </a:xfrm>
          <a:prstGeom prst="line">
            <a:avLst/>
          </a:prstGeom>
          <a:noFill/>
          <a:ln w="12700">
            <a:solidFill>
              <a:srgbClr val="7FA6F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308600" y="2095500"/>
            <a:ext cx="0" cy="3378200"/>
          </a:xfrm>
          <a:prstGeom prst="line">
            <a:avLst/>
          </a:prstGeom>
          <a:noFill/>
          <a:ln w="12700">
            <a:solidFill>
              <a:srgbClr val="7FA6F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921000" y="5473700"/>
            <a:ext cx="2387600" cy="0"/>
          </a:xfrm>
          <a:prstGeom prst="line">
            <a:avLst/>
          </a:prstGeom>
          <a:noFill/>
          <a:ln w="12700">
            <a:solidFill>
              <a:srgbClr val="7FA6F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2921000" y="2095500"/>
            <a:ext cx="0" cy="3378200"/>
          </a:xfrm>
          <a:prstGeom prst="line">
            <a:avLst/>
          </a:prstGeom>
          <a:noFill/>
          <a:ln w="12700">
            <a:solidFill>
              <a:srgbClr val="7FA6F2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3060700" y="2260600"/>
            <a:ext cx="1065665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논리적 구성 범위</a:t>
            </a:r>
            <a:endParaRPr lang="ko-KR" sz="1250" dirty="0"/>
          </a:p>
        </p:txBody>
      </p:sp>
      <p:sp>
        <p:nvSpPr>
          <p:cNvPr id="23" name="Text 21"/>
          <p:cNvSpPr/>
          <p:nvPr/>
        </p:nvSpPr>
        <p:spPr>
          <a:xfrm>
            <a:off x="3060700" y="2641600"/>
            <a:ext cx="93707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공통 모델</a:t>
            </a:r>
            <a:endParaRPr lang="ko-KR" sz="1250" dirty="0"/>
          </a:p>
        </p:txBody>
      </p:sp>
      <p:sp>
        <p:nvSpPr>
          <p:cNvPr id="24" name="Shape 22"/>
          <p:cNvSpPr/>
          <p:nvPr/>
        </p:nvSpPr>
        <p:spPr>
          <a:xfrm>
            <a:off x="3048000" y="2921000"/>
            <a:ext cx="2133600" cy="24257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48000" y="2921000"/>
            <a:ext cx="21336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81600" y="2921000"/>
            <a:ext cx="0" cy="24257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48000" y="5346700"/>
            <a:ext cx="21336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48000" y="2921000"/>
            <a:ext cx="0" cy="24257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81350" y="3048000"/>
            <a:ext cx="963867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구성</a:t>
            </a:r>
            <a:endParaRPr lang="ko-KR" sz="1400" dirty="0"/>
          </a:p>
        </p:txBody>
      </p:sp>
      <p:sp>
        <p:nvSpPr>
          <p:cNvPr id="30" name="Text 28"/>
          <p:cNvSpPr/>
          <p:nvPr/>
        </p:nvSpPr>
        <p:spPr>
          <a:xfrm>
            <a:off x="3181350" y="3346648"/>
            <a:ext cx="153090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지침과 대화, 도구 사용을</a:t>
            </a:r>
            <a:endParaRPr lang="ko-KR" sz="1250" dirty="0"/>
          </a:p>
        </p:txBody>
      </p:sp>
      <p:sp>
        <p:nvSpPr>
          <p:cNvPr id="31" name="Text 29"/>
          <p:cNvSpPr/>
          <p:nvPr/>
        </p:nvSpPr>
        <p:spPr>
          <a:xfrm>
            <a:off x="3181350" y="3549848"/>
            <a:ext cx="176228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구성하며 허용 행동을 분명히</a:t>
            </a:r>
            <a:endParaRPr lang="ko-KR" sz="1250" dirty="0"/>
          </a:p>
        </p:txBody>
      </p:sp>
      <p:sp>
        <p:nvSpPr>
          <p:cNvPr id="32" name="Text 30"/>
          <p:cNvSpPr/>
          <p:nvPr/>
        </p:nvSpPr>
        <p:spPr>
          <a:xfrm>
            <a:off x="3181350" y="3753048"/>
            <a:ext cx="4744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합니다.</a:t>
            </a:r>
            <a:endParaRPr lang="ko-KR" sz="1250" dirty="0"/>
          </a:p>
        </p:txBody>
      </p:sp>
      <p:sp>
        <p:nvSpPr>
          <p:cNvPr id="33" name="Text 31"/>
          <p:cNvSpPr/>
          <p:nvPr/>
        </p:nvSpPr>
        <p:spPr>
          <a:xfrm>
            <a:off x="5575300" y="2628900"/>
            <a:ext cx="103709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의미 / 활용</a:t>
            </a:r>
            <a:endParaRPr lang="ko-KR" sz="1250" dirty="0"/>
          </a:p>
        </p:txBody>
      </p:sp>
      <p:sp>
        <p:nvSpPr>
          <p:cNvPr id="34" name="Shape 32"/>
          <p:cNvSpPr/>
          <p:nvPr/>
        </p:nvSpPr>
        <p:spPr>
          <a:xfrm>
            <a:off x="5575300" y="2921000"/>
            <a:ext cx="1943100" cy="25527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75300" y="2921000"/>
            <a:ext cx="1943100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18400" y="2921000"/>
            <a:ext cx="0" cy="2552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5300" y="5473700"/>
            <a:ext cx="19431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75300" y="2921000"/>
            <a:ext cx="0" cy="2552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08650" y="3028950"/>
            <a:ext cx="279400" cy="19050"/>
          </a:xfrm>
          <a:prstGeom prst="rect">
            <a:avLst/>
          </a:prstGeom>
          <a:solidFill>
            <a:srgbClr val="7FA6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08650" y="3130550"/>
            <a:ext cx="665516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응용</a:t>
            </a:r>
            <a:endParaRPr lang="ko-KR" sz="1400" dirty="0"/>
          </a:p>
        </p:txBody>
      </p:sp>
      <p:sp>
        <p:nvSpPr>
          <p:cNvPr id="41" name="Text 39"/>
          <p:cNvSpPr/>
          <p:nvPr/>
        </p:nvSpPr>
        <p:spPr>
          <a:xfrm>
            <a:off x="5708650" y="3429198"/>
            <a:ext cx="132035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응답과 근거를 사용자</a:t>
            </a:r>
            <a:endParaRPr lang="ko-KR" sz="1250" dirty="0"/>
          </a:p>
        </p:txBody>
      </p:sp>
      <p:sp>
        <p:nvSpPr>
          <p:cNvPr id="42" name="Text 40"/>
          <p:cNvSpPr/>
          <p:nvPr/>
        </p:nvSpPr>
        <p:spPr>
          <a:xfrm>
            <a:off x="5708650" y="3632398"/>
            <a:ext cx="162744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작업에 연결하고 예외 처리</a:t>
            </a:r>
            <a:endParaRPr lang="ko-KR" sz="1250" dirty="0"/>
          </a:p>
        </p:txBody>
      </p:sp>
      <p:sp>
        <p:nvSpPr>
          <p:cNvPr id="43" name="Text 41"/>
          <p:cNvSpPr/>
          <p:nvPr/>
        </p:nvSpPr>
        <p:spPr>
          <a:xfrm>
            <a:off x="5708650" y="3835598"/>
            <a:ext cx="118601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경로를 제공합니다.</a:t>
            </a:r>
            <a:endParaRPr lang="ko-KR" sz="1250" dirty="0"/>
          </a:p>
        </p:txBody>
      </p:sp>
      <p:pic>
        <p:nvPicPr>
          <p:cNvPr id="44" name="Image 0" descr="관계 관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2095500"/>
            <a:ext cx="6807200" cy="3378200"/>
          </a:xfrm>
          <a:prstGeom prst="rect">
            <a:avLst/>
          </a:prstGeom>
        </p:spPr>
      </p:pic>
      <p:sp>
        <p:nvSpPr>
          <p:cNvPr id="45" name="Shape 42"/>
          <p:cNvSpPr/>
          <p:nvPr/>
        </p:nvSpPr>
        <p:spPr>
          <a:xfrm>
            <a:off x="7670800" y="2095500"/>
            <a:ext cx="3810000" cy="16383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670800" y="2095500"/>
            <a:ext cx="38100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1480800" y="2095500"/>
            <a:ext cx="0" cy="16383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670800" y="3733800"/>
            <a:ext cx="38100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670800" y="2095500"/>
            <a:ext cx="0" cy="16383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816850" y="2241550"/>
            <a:ext cx="978055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통제 · 공통 조건</a:t>
            </a:r>
            <a:endParaRPr lang="ko-KR" sz="1250" dirty="0"/>
          </a:p>
        </p:txBody>
      </p:sp>
      <p:sp>
        <p:nvSpPr>
          <p:cNvPr id="51" name="Text 48"/>
          <p:cNvSpPr/>
          <p:nvPr/>
        </p:nvSpPr>
        <p:spPr>
          <a:xfrm>
            <a:off x="7816850" y="2514600"/>
            <a:ext cx="3499203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Foundry project는 관련 AI 자산과 구성을 조직하는 작업</a:t>
            </a:r>
            <a:endParaRPr lang="ko-KR" sz="1250" dirty="0"/>
          </a:p>
        </p:txBody>
      </p:sp>
      <p:sp>
        <p:nvSpPr>
          <p:cNvPr id="52" name="Text 49"/>
          <p:cNvSpPr/>
          <p:nvPr/>
        </p:nvSpPr>
        <p:spPr>
          <a:xfrm>
            <a:off x="7816850" y="2717800"/>
            <a:ext cx="26843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단위입니다. 그림은 논리적 역할 구분입니다.</a:t>
            </a:r>
            <a:endParaRPr lang="ko-KR" sz="1250" dirty="0"/>
          </a:p>
        </p:txBody>
      </p:sp>
      <p:sp>
        <p:nvSpPr>
          <p:cNvPr id="53" name="Shape 50"/>
          <p:cNvSpPr/>
          <p:nvPr/>
        </p:nvSpPr>
        <p:spPr>
          <a:xfrm>
            <a:off x="7670800" y="3835400"/>
            <a:ext cx="3810000" cy="16383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670800" y="3835400"/>
            <a:ext cx="3810000" cy="0"/>
          </a:xfrm>
          <a:prstGeom prst="line">
            <a:avLst/>
          </a:prstGeom>
          <a:noFill/>
          <a:ln w="19050">
            <a:solidFill>
              <a:srgbClr val="2C6BED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1480800" y="3835400"/>
            <a:ext cx="0" cy="16383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670800" y="5473700"/>
            <a:ext cx="38100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670800" y="3835400"/>
            <a:ext cx="0" cy="16383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816850" y="3994150"/>
            <a:ext cx="111209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관측 · 확인할 범위</a:t>
            </a:r>
            <a:endParaRPr lang="ko-KR" sz="1250" dirty="0"/>
          </a:p>
        </p:txBody>
      </p:sp>
      <p:sp>
        <p:nvSpPr>
          <p:cNvPr id="59" name="Text 56"/>
          <p:cNvSpPr/>
          <p:nvPr/>
        </p:nvSpPr>
        <p:spPr>
          <a:xfrm>
            <a:off x="7816850" y="4267200"/>
            <a:ext cx="333698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접근, 신원, 네트워크 조건과 기록 범위는 별도로</a:t>
            </a:r>
            <a:endParaRPr lang="ko-KR" sz="1250" dirty="0"/>
          </a:p>
        </p:txBody>
      </p:sp>
      <p:sp>
        <p:nvSpPr>
          <p:cNvPr id="60" name="Text 57"/>
          <p:cNvSpPr/>
          <p:nvPr/>
        </p:nvSpPr>
        <p:spPr>
          <a:xfrm>
            <a:off x="7816850" y="4470400"/>
            <a:ext cx="132085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설계하고 검증합니다.</a:t>
            </a:r>
            <a:endParaRPr lang="ko-KR" sz="1250" dirty="0"/>
          </a:p>
        </p:txBody>
      </p:sp>
      <p:sp>
        <p:nvSpPr>
          <p:cNvPr id="61" name="Shape 58"/>
          <p:cNvSpPr/>
          <p:nvPr/>
        </p:nvSpPr>
        <p:spPr>
          <a:xfrm>
            <a:off x="711200" y="5473700"/>
            <a:ext cx="10769600" cy="6096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11200" y="5473700"/>
            <a:ext cx="107696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863600" y="568960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연결의 의미</a:t>
            </a:r>
            <a:endParaRPr lang="ko-KR" sz="1250" dirty="0"/>
          </a:p>
        </p:txBody>
      </p:sp>
      <p:sp>
        <p:nvSpPr>
          <p:cNvPr id="64" name="Text 61"/>
          <p:cNvSpPr/>
          <p:nvPr/>
        </p:nvSpPr>
        <p:spPr>
          <a:xfrm>
            <a:off x="1828800" y="5689600"/>
            <a:ext cx="575801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실선은 개념을 읽는 관계입니다. 실제 API 호출, VNet이나 데이터 이동 경로를 뜻하지 않습니다.</a:t>
            </a:r>
            <a:endParaRPr lang="ko-KR" sz="1250" dirty="0"/>
          </a:p>
        </p:txBody>
      </p:sp>
      <p:sp>
        <p:nvSpPr>
          <p:cNvPr id="65" name="Text 62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66" name="Text 63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ko-KR" sz="900" dirty="0"/>
          </a:p>
        </p:txBody>
      </p:sp>
      <p:sp>
        <p:nvSpPr>
          <p:cNvPr id="67" name="Text 64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6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6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6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6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6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6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6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6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6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6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6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6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6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6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6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6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6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6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6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9" dur="6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6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4" dur="6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6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9" dur="6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6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4" dur="6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6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9" dur="6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6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4" dur="6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6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9" dur="6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6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4" dur="6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6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9" dur="6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6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74" dur="6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6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79" dur="6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6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84" dur="6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6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89" dur="6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6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4" dur="6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6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9" dur="6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6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04" dur="6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6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09" dur="6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6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14" dur="62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6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19" dur="62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5660684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기준부터 작은 실행을 연결합니다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7592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PROCESS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4795595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 → 구현 → 평가 → 운영 준비로 이어지는 네 단계 도입 제안입니다.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711200" y="2095500"/>
            <a:ext cx="3543300" cy="143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1200" y="2095500"/>
            <a:ext cx="35433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54500" y="2095500"/>
            <a:ext cx="0" cy="1435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200" y="3530600"/>
            <a:ext cx="35433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1200" y="2095500"/>
            <a:ext cx="0" cy="1435100"/>
          </a:xfrm>
          <a:prstGeom prst="line">
            <a:avLst/>
          </a:prstGeom>
          <a:noFill/>
          <a:ln w="31750">
            <a:solidFill>
              <a:srgbClr val="2C6B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4550" y="219075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ko-KR" sz="1250" dirty="0"/>
          </a:p>
        </p:txBody>
      </p:sp>
      <p:sp>
        <p:nvSpPr>
          <p:cNvPr id="12" name="Text 10"/>
          <p:cNvSpPr/>
          <p:nvPr/>
        </p:nvSpPr>
        <p:spPr>
          <a:xfrm>
            <a:off x="1149350" y="2165350"/>
            <a:ext cx="665516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범위</a:t>
            </a:r>
            <a:endParaRPr lang="ko-KR" sz="1400" dirty="0"/>
          </a:p>
        </p:txBody>
      </p:sp>
      <p:sp>
        <p:nvSpPr>
          <p:cNvPr id="13" name="Text 11"/>
          <p:cNvSpPr/>
          <p:nvPr/>
        </p:nvSpPr>
        <p:spPr>
          <a:xfrm>
            <a:off x="844550" y="2433241"/>
            <a:ext cx="320253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사용자, 질문, 허용 행동과 제외할 상황을 합의합니다.</a:t>
            </a:r>
            <a:endParaRPr lang="ko-KR" sz="1250" dirty="0"/>
          </a:p>
        </p:txBody>
      </p:sp>
      <p:sp>
        <p:nvSpPr>
          <p:cNvPr id="14" name="Text 12"/>
          <p:cNvSpPr/>
          <p:nvPr/>
        </p:nvSpPr>
        <p:spPr>
          <a:xfrm>
            <a:off x="4256088" y="2686050"/>
            <a:ext cx="18281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ko-KR" sz="1300" dirty="0"/>
          </a:p>
        </p:txBody>
      </p:sp>
      <p:sp>
        <p:nvSpPr>
          <p:cNvPr id="15" name="Shape 13"/>
          <p:cNvSpPr/>
          <p:nvPr/>
        </p:nvSpPr>
        <p:spPr>
          <a:xfrm>
            <a:off x="4406900" y="2095500"/>
            <a:ext cx="3543300" cy="143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6900" y="2095500"/>
            <a:ext cx="35433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0200" y="2095500"/>
            <a:ext cx="0" cy="1435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06900" y="3530600"/>
            <a:ext cx="35433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06900" y="2095500"/>
            <a:ext cx="0" cy="1435100"/>
          </a:xfrm>
          <a:prstGeom prst="line">
            <a:avLst/>
          </a:prstGeom>
          <a:noFill/>
          <a:ln w="31750">
            <a:solidFill>
              <a:srgbClr val="2C6B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40250" y="219075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ko-KR" sz="1250" dirty="0"/>
          </a:p>
        </p:txBody>
      </p:sp>
      <p:sp>
        <p:nvSpPr>
          <p:cNvPr id="21" name="Text 19"/>
          <p:cNvSpPr/>
          <p:nvPr/>
        </p:nvSpPr>
        <p:spPr>
          <a:xfrm>
            <a:off x="4845050" y="2165350"/>
            <a:ext cx="665516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구현</a:t>
            </a:r>
            <a:endParaRPr lang="ko-KR" sz="1400" dirty="0"/>
          </a:p>
        </p:txBody>
      </p:sp>
      <p:sp>
        <p:nvSpPr>
          <p:cNvPr id="22" name="Text 20"/>
          <p:cNvSpPr/>
          <p:nvPr/>
        </p:nvSpPr>
        <p:spPr>
          <a:xfrm>
            <a:off x="4540250" y="2433241"/>
            <a:ext cx="326078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모델과 구현 경로를 골라 제한된 데이터로 연결합니다.</a:t>
            </a:r>
            <a:endParaRPr lang="ko-KR" sz="1250" dirty="0"/>
          </a:p>
        </p:txBody>
      </p:sp>
      <p:sp>
        <p:nvSpPr>
          <p:cNvPr id="23" name="Text 21"/>
          <p:cNvSpPr/>
          <p:nvPr/>
        </p:nvSpPr>
        <p:spPr>
          <a:xfrm>
            <a:off x="6040438" y="3505200"/>
            <a:ext cx="18281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ko-KR" sz="1300" dirty="0"/>
          </a:p>
        </p:txBody>
      </p:sp>
      <p:sp>
        <p:nvSpPr>
          <p:cNvPr id="24" name="Shape 22"/>
          <p:cNvSpPr/>
          <p:nvPr/>
        </p:nvSpPr>
        <p:spPr>
          <a:xfrm>
            <a:off x="4406900" y="3683000"/>
            <a:ext cx="3543300" cy="14351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06900" y="3683000"/>
            <a:ext cx="35433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0200" y="3683000"/>
            <a:ext cx="0" cy="1435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06900" y="5118100"/>
            <a:ext cx="35433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06900" y="3683000"/>
            <a:ext cx="0" cy="1435100"/>
          </a:xfrm>
          <a:prstGeom prst="line">
            <a:avLst/>
          </a:prstGeom>
          <a:noFill/>
          <a:ln w="31750">
            <a:solidFill>
              <a:srgbClr val="2C6B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40250" y="377825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ko-KR" sz="1250" dirty="0"/>
          </a:p>
        </p:txBody>
      </p:sp>
      <p:sp>
        <p:nvSpPr>
          <p:cNvPr id="30" name="Text 28"/>
          <p:cNvSpPr/>
          <p:nvPr/>
        </p:nvSpPr>
        <p:spPr>
          <a:xfrm>
            <a:off x="4845050" y="3752850"/>
            <a:ext cx="814642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평가와 수정</a:t>
            </a:r>
            <a:endParaRPr lang="ko-KR" sz="1400" dirty="0"/>
          </a:p>
        </p:txBody>
      </p:sp>
      <p:sp>
        <p:nvSpPr>
          <p:cNvPr id="31" name="Text 29"/>
          <p:cNvSpPr/>
          <p:nvPr/>
        </p:nvSpPr>
        <p:spPr>
          <a:xfrm>
            <a:off x="4540250" y="4020741"/>
            <a:ext cx="299160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질문과 실패 사례에서 품질·안전·도구 동작을</a:t>
            </a:r>
            <a:endParaRPr lang="ko-KR" sz="1250" dirty="0"/>
          </a:p>
        </p:txBody>
      </p:sp>
      <p:sp>
        <p:nvSpPr>
          <p:cNvPr id="32" name="Text 30"/>
          <p:cNvSpPr/>
          <p:nvPr/>
        </p:nvSpPr>
        <p:spPr>
          <a:xfrm>
            <a:off x="4540250" y="4223941"/>
            <a:ext cx="74409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확인합니다.</a:t>
            </a:r>
            <a:endParaRPr lang="ko-KR" sz="1250" dirty="0"/>
          </a:p>
        </p:txBody>
      </p:sp>
      <p:sp>
        <p:nvSpPr>
          <p:cNvPr id="33" name="Text 31"/>
          <p:cNvSpPr/>
          <p:nvPr/>
        </p:nvSpPr>
        <p:spPr>
          <a:xfrm>
            <a:off x="4279900" y="4273550"/>
            <a:ext cx="18281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</a:t>
            </a:r>
            <a:endParaRPr lang="ko-KR" sz="1300" dirty="0"/>
          </a:p>
        </p:txBody>
      </p:sp>
      <p:sp>
        <p:nvSpPr>
          <p:cNvPr id="34" name="Shape 32"/>
          <p:cNvSpPr/>
          <p:nvPr/>
        </p:nvSpPr>
        <p:spPr>
          <a:xfrm>
            <a:off x="711200" y="3683000"/>
            <a:ext cx="3543300" cy="14351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1200" y="3683000"/>
            <a:ext cx="35433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54500" y="3683000"/>
            <a:ext cx="0" cy="14351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1200" y="5118100"/>
            <a:ext cx="35433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1200" y="3683000"/>
            <a:ext cx="0" cy="1435100"/>
          </a:xfrm>
          <a:prstGeom prst="line">
            <a:avLst/>
          </a:prstGeom>
          <a:noFill/>
          <a:ln w="31750">
            <a:solidFill>
              <a:srgbClr val="0E23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4550" y="377825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7FA6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ko-KR" sz="1250" dirty="0"/>
          </a:p>
        </p:txBody>
      </p:sp>
      <p:sp>
        <p:nvSpPr>
          <p:cNvPr id="40" name="Text 38"/>
          <p:cNvSpPr/>
          <p:nvPr/>
        </p:nvSpPr>
        <p:spPr>
          <a:xfrm>
            <a:off x="1149350" y="3752850"/>
            <a:ext cx="665516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준비</a:t>
            </a:r>
            <a:endParaRPr lang="ko-KR" sz="1400" dirty="0"/>
          </a:p>
        </p:txBody>
      </p:sp>
      <p:sp>
        <p:nvSpPr>
          <p:cNvPr id="41" name="Text 39"/>
          <p:cNvSpPr/>
          <p:nvPr/>
        </p:nvSpPr>
        <p:spPr>
          <a:xfrm>
            <a:off x="844550" y="4020741"/>
            <a:ext cx="324004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추적, 오류 대응, 비용 확인과 중단 책임을 연결합니다.</a:t>
            </a:r>
            <a:endParaRPr lang="ko-KR" sz="1250" dirty="0"/>
          </a:p>
        </p:txBody>
      </p:sp>
      <p:sp>
        <p:nvSpPr>
          <p:cNvPr id="42" name="Shape 40"/>
          <p:cNvSpPr/>
          <p:nvPr/>
        </p:nvSpPr>
        <p:spPr>
          <a:xfrm>
            <a:off x="711200" y="5270500"/>
            <a:ext cx="7239000" cy="8128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1200" y="5270500"/>
            <a:ext cx="72390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3600" y="558800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조건</a:t>
            </a:r>
            <a:endParaRPr lang="ko-KR" sz="1250" dirty="0"/>
          </a:p>
        </p:txBody>
      </p:sp>
      <p:sp>
        <p:nvSpPr>
          <p:cNvPr id="45" name="Text 43"/>
          <p:cNvSpPr/>
          <p:nvPr/>
        </p:nvSpPr>
        <p:spPr>
          <a:xfrm>
            <a:off x="1828800" y="5588000"/>
            <a:ext cx="589097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입력, 원하는 출력과 실패 조건을 먼저 적습니다. 그 기록을 다음 단계의 입력으로 사용합니다.</a:t>
            </a:r>
            <a:endParaRPr lang="ko-KR" sz="1250" dirty="0"/>
          </a:p>
        </p:txBody>
      </p:sp>
      <p:sp>
        <p:nvSpPr>
          <p:cNvPr id="46" name="Shape 44"/>
          <p:cNvSpPr/>
          <p:nvPr/>
        </p:nvSpPr>
        <p:spPr>
          <a:xfrm>
            <a:off x="8102600" y="2095500"/>
            <a:ext cx="3378200" cy="19431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02600" y="2095500"/>
            <a:ext cx="3378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480800" y="2095500"/>
            <a:ext cx="0" cy="19431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02600" y="4038600"/>
            <a:ext cx="3378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02600" y="2095500"/>
            <a:ext cx="0" cy="19431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74050" y="226695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출력의 기준</a:t>
            </a:r>
            <a:endParaRPr lang="ko-KR" sz="1250" dirty="0"/>
          </a:p>
        </p:txBody>
      </p:sp>
      <p:sp>
        <p:nvSpPr>
          <p:cNvPr id="52" name="Text 50"/>
          <p:cNvSpPr/>
          <p:nvPr/>
        </p:nvSpPr>
        <p:spPr>
          <a:xfrm>
            <a:off x="8274050" y="2546350"/>
            <a:ext cx="281866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단계에 넘길 산출물로 완료를 판단합니다.</a:t>
            </a:r>
            <a:endParaRPr lang="ko-KR" sz="1250" dirty="0"/>
          </a:p>
        </p:txBody>
      </p:sp>
      <p:sp>
        <p:nvSpPr>
          <p:cNvPr id="53" name="Text 51"/>
          <p:cNvSpPr/>
          <p:nvPr/>
        </p:nvSpPr>
        <p:spPr>
          <a:xfrm>
            <a:off x="8274050" y="2765425"/>
            <a:ext cx="254918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여부와 출시 가능 여부를 구분합니다.</a:t>
            </a:r>
            <a:endParaRPr lang="ko-KR" sz="1250" dirty="0"/>
          </a:p>
        </p:txBody>
      </p:sp>
      <p:sp>
        <p:nvSpPr>
          <p:cNvPr id="54" name="Shape 52"/>
          <p:cNvSpPr/>
          <p:nvPr/>
        </p:nvSpPr>
        <p:spPr>
          <a:xfrm>
            <a:off x="8102600" y="4140200"/>
            <a:ext cx="3378200" cy="19431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02600" y="4140200"/>
            <a:ext cx="3378200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480800" y="4140200"/>
            <a:ext cx="0" cy="194310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02600" y="6083300"/>
            <a:ext cx="3378200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02600" y="4140200"/>
            <a:ext cx="0" cy="194310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74050" y="431165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되돌림 조건</a:t>
            </a:r>
            <a:endParaRPr lang="ko-KR" sz="1250" dirty="0"/>
          </a:p>
        </p:txBody>
      </p:sp>
      <p:sp>
        <p:nvSpPr>
          <p:cNvPr id="60" name="Text 58"/>
          <p:cNvSpPr/>
          <p:nvPr/>
        </p:nvSpPr>
        <p:spPr>
          <a:xfrm>
            <a:off x="8274050" y="4591050"/>
            <a:ext cx="2684518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품질·권한·기록 조건이 부족하면 이전 단계로</a:t>
            </a:r>
            <a:endParaRPr lang="ko-KR" sz="1250" dirty="0"/>
          </a:p>
        </p:txBody>
      </p:sp>
      <p:sp>
        <p:nvSpPr>
          <p:cNvPr id="61" name="Text 59"/>
          <p:cNvSpPr/>
          <p:nvPr/>
        </p:nvSpPr>
        <p:spPr>
          <a:xfrm>
            <a:off x="8274050" y="4810125"/>
            <a:ext cx="2856563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돌아갑니다. 실패 사례도 평가 자료에 남깁니다.</a:t>
            </a:r>
            <a:endParaRPr lang="ko-KR" sz="1250" dirty="0"/>
          </a:p>
        </p:txBody>
      </p:sp>
      <p:sp>
        <p:nvSpPr>
          <p:cNvPr id="62" name="Text 60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63" name="Text 61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ko-KR" sz="900" dirty="0"/>
          </a:p>
        </p:txBody>
      </p:sp>
      <p:sp>
        <p:nvSpPr>
          <p:cNvPr id="64" name="Text 62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6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6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6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6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6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6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6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6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6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6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6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6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6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6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6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6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6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6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6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9" dur="6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6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4" dur="6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6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9" dur="6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6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4" dur="6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6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9" dur="6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6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4" dur="6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6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9" dur="6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6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4" dur="6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6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9" dur="6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6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74" dur="6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6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79" dur="6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6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84" dur="6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6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89" dur="6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6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4" dur="6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6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9" dur="6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6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04" dur="6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5660684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필요한 제어 수준으로 구현을 고릅니다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6576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MATRIX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5038979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모델 호출, prompt agent, hosted agent는 서로 다른 시작점입니다.</a:t>
            </a:r>
            <a:endParaRPr lang="ko-KR" sz="1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200" y="2095500"/>
          <a:ext cx="7239000" cy="3022600"/>
        </p:xfrm>
        <a:graphic>
          <a:graphicData uri="http://schemas.openxmlformats.org/drawingml/2006/table">
            <a:tbl>
              <a:tblPr/>
              <a:tblGrid>
                <a:gridCol w="2410817"/>
                <a:gridCol w="2410817"/>
                <a:gridCol w="2411016"/>
              </a:tblGrid>
              <a:tr h="431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AF0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시작 경로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AF0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 관리하는 것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AF0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 기준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모델 직접 호출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A6A7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애플리케이션 코드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도구 없이 추론이 필요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D"/>
                    </a:solidFill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Prompt agent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A6A7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지침 · 모델 · 도구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선언형 구성으로 시작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D"/>
                    </a:solidFill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Hosted agent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A6A7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자체 코드와 의존성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E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고유한 실행 로직 제어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11200" y="5270500"/>
            <a:ext cx="7239000" cy="8128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1200" y="5270500"/>
            <a:ext cx="72390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3600" y="558800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범위</a:t>
            </a:r>
            <a:endParaRPr lang="ko-KR" sz="1250" dirty="0"/>
          </a:p>
        </p:txBody>
      </p:sp>
      <p:sp>
        <p:nvSpPr>
          <p:cNvPr id="10" name="Text 7"/>
          <p:cNvSpPr/>
          <p:nvPr/>
        </p:nvSpPr>
        <p:spPr>
          <a:xfrm>
            <a:off x="1828800" y="5588000"/>
            <a:ext cx="5458178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비교는 텍스트 중심 업무 범위입니다. 음성 기반 prompt agent는 이번 표에서 제외합니다.</a:t>
            </a:r>
            <a:endParaRPr lang="ko-KR" sz="1250" dirty="0"/>
          </a:p>
        </p:txBody>
      </p:sp>
      <p:sp>
        <p:nvSpPr>
          <p:cNvPr id="11" name="Shape 8"/>
          <p:cNvSpPr/>
          <p:nvPr/>
        </p:nvSpPr>
        <p:spPr>
          <a:xfrm>
            <a:off x="8102600" y="2095500"/>
            <a:ext cx="3378200" cy="19431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02600" y="2095500"/>
            <a:ext cx="3378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480800" y="2095500"/>
            <a:ext cx="0" cy="19431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02600" y="4038600"/>
            <a:ext cx="3378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02600" y="2095500"/>
            <a:ext cx="0" cy="19431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74050" y="226695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판단의 순서</a:t>
            </a:r>
            <a:endParaRPr lang="ko-KR" sz="1250" dirty="0"/>
          </a:p>
        </p:txBody>
      </p:sp>
      <p:sp>
        <p:nvSpPr>
          <p:cNvPr id="17" name="Text 14"/>
          <p:cNvSpPr/>
          <p:nvPr/>
        </p:nvSpPr>
        <p:spPr>
          <a:xfrm>
            <a:off x="8274050" y="2546350"/>
            <a:ext cx="2339038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도구가 필요하지 않다면 직접 호출부터</a:t>
            </a:r>
            <a:endParaRPr lang="ko-KR" sz="1250" dirty="0"/>
          </a:p>
        </p:txBody>
      </p:sp>
      <p:sp>
        <p:nvSpPr>
          <p:cNvPr id="18" name="Text 15"/>
          <p:cNvSpPr/>
          <p:nvPr/>
        </p:nvSpPr>
        <p:spPr>
          <a:xfrm>
            <a:off x="8274050" y="2765425"/>
            <a:ext cx="264631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검토합니다. 고유한 코드가 필요한 경우에만</a:t>
            </a:r>
            <a:endParaRPr lang="ko-KR" sz="1250" dirty="0"/>
          </a:p>
        </p:txBody>
      </p:sp>
      <p:sp>
        <p:nvSpPr>
          <p:cNvPr id="19" name="Text 16"/>
          <p:cNvSpPr/>
          <p:nvPr/>
        </p:nvSpPr>
        <p:spPr>
          <a:xfrm>
            <a:off x="8274050" y="2984500"/>
            <a:ext cx="118601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복잡도를 늘립니다.</a:t>
            </a:r>
            <a:endParaRPr lang="ko-KR" sz="1250" dirty="0"/>
          </a:p>
        </p:txBody>
      </p:sp>
      <p:sp>
        <p:nvSpPr>
          <p:cNvPr id="20" name="Shape 17"/>
          <p:cNvSpPr/>
          <p:nvPr/>
        </p:nvSpPr>
        <p:spPr>
          <a:xfrm>
            <a:off x="8102600" y="4140200"/>
            <a:ext cx="3378200" cy="19431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02600" y="4140200"/>
            <a:ext cx="3378200" cy="0"/>
          </a:xfrm>
          <a:prstGeom prst="line">
            <a:avLst/>
          </a:prstGeom>
          <a:noFill/>
          <a:ln w="19050">
            <a:solidFill>
              <a:srgbClr val="2C6BE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480800" y="4140200"/>
            <a:ext cx="0" cy="1943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102600" y="6083300"/>
            <a:ext cx="3378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02600" y="4140200"/>
            <a:ext cx="0" cy="1943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74050" y="432435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표의 한계</a:t>
            </a:r>
            <a:endParaRPr lang="ko-KR" sz="1250" dirty="0"/>
          </a:p>
        </p:txBody>
      </p:sp>
      <p:sp>
        <p:nvSpPr>
          <p:cNvPr id="26" name="Text 23"/>
          <p:cNvSpPr/>
          <p:nvPr/>
        </p:nvSpPr>
        <p:spPr>
          <a:xfrm>
            <a:off x="8274050" y="4603750"/>
            <a:ext cx="299090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호출은 에이전트 유형이 아닙니다. 실제 지원</a:t>
            </a:r>
            <a:endParaRPr lang="ko-KR" sz="1250" dirty="0"/>
          </a:p>
        </p:txBody>
      </p:sp>
      <p:sp>
        <p:nvSpPr>
          <p:cNvPr id="27" name="Text 24"/>
          <p:cNvSpPr/>
          <p:nvPr/>
        </p:nvSpPr>
        <p:spPr>
          <a:xfrm>
            <a:off x="8274050" y="4822825"/>
            <a:ext cx="299209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모델·도구·리전과 출시 상태를 별도로 확인합니다.</a:t>
            </a:r>
            <a:endParaRPr lang="ko-KR" sz="1250" dirty="0"/>
          </a:p>
        </p:txBody>
      </p:sp>
      <p:sp>
        <p:nvSpPr>
          <p:cNvPr id="28" name="Text 25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29" name="Text 26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ko-KR" sz="900" dirty="0"/>
          </a:p>
        </p:txBody>
      </p:sp>
      <p:sp>
        <p:nvSpPr>
          <p:cNvPr id="30" name="Text 27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5801574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문서 Q&amp;A는 근거부터 확인합니다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8608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SCENARIO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4472142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질문, 접근 확인, 근거 검토, 답변을 잇는 가상 업무 시나리오입니다.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711200" y="2095500"/>
            <a:ext cx="10769600" cy="4826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1200" y="2095500"/>
            <a:ext cx="10769600" cy="0"/>
          </a:xfrm>
          <a:prstGeom prst="line">
            <a:avLst/>
          </a:prstGeom>
          <a:noFill/>
          <a:ln w="6350">
            <a:solidFill>
              <a:srgbClr val="2C6B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3600" y="2244725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상황</a:t>
            </a:r>
            <a:endParaRPr lang="ko-KR" sz="1250" dirty="0"/>
          </a:p>
        </p:txBody>
      </p:sp>
      <p:sp>
        <p:nvSpPr>
          <p:cNvPr id="9" name="Text 7"/>
          <p:cNvSpPr/>
          <p:nvPr/>
        </p:nvSpPr>
        <p:spPr>
          <a:xfrm>
            <a:off x="1828800" y="2244725"/>
            <a:ext cx="639192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직원이 허용된 사내 문서를 질문합니다. 확인할 근거가 없으면 답을 꾸며내지 않고 추가 확인을 요청합니다.</a:t>
            </a:r>
            <a:endParaRPr lang="ko-KR" sz="1250" dirty="0"/>
          </a:p>
        </p:txBody>
      </p:sp>
      <p:sp>
        <p:nvSpPr>
          <p:cNvPr id="10" name="Shape 8"/>
          <p:cNvSpPr/>
          <p:nvPr/>
        </p:nvSpPr>
        <p:spPr>
          <a:xfrm>
            <a:off x="711200" y="2578100"/>
            <a:ext cx="107696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80800" y="2578100"/>
            <a:ext cx="0" cy="25400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1200" y="2578100"/>
            <a:ext cx="0" cy="25400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7550" y="3213100"/>
            <a:ext cx="107569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9950" y="2689225"/>
            <a:ext cx="406400" cy="4064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9950" y="2689225"/>
            <a:ext cx="0" cy="40640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1075" y="278765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ko-KR" sz="1250" dirty="0"/>
          </a:p>
        </p:txBody>
      </p:sp>
      <p:sp>
        <p:nvSpPr>
          <p:cNvPr id="17" name="Text 15"/>
          <p:cNvSpPr/>
          <p:nvPr/>
        </p:nvSpPr>
        <p:spPr>
          <a:xfrm>
            <a:off x="1504950" y="2783880"/>
            <a:ext cx="896993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· 질문</a:t>
            </a:r>
            <a:endParaRPr lang="ko-KR" sz="1400" dirty="0"/>
          </a:p>
        </p:txBody>
      </p:sp>
      <p:sp>
        <p:nvSpPr>
          <p:cNvPr id="18" name="Text 16"/>
          <p:cNvSpPr/>
          <p:nvPr/>
        </p:nvSpPr>
        <p:spPr>
          <a:xfrm>
            <a:off x="4197350" y="2797175"/>
            <a:ext cx="397237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맥락과 필요한 답변을 제공하며 민감한 입력을 최소화합니다.</a:t>
            </a:r>
            <a:endParaRPr lang="ko-KR" sz="1250" dirty="0"/>
          </a:p>
        </p:txBody>
      </p:sp>
      <p:sp>
        <p:nvSpPr>
          <p:cNvPr id="19" name="Shape 17"/>
          <p:cNvSpPr/>
          <p:nvPr/>
        </p:nvSpPr>
        <p:spPr>
          <a:xfrm>
            <a:off x="717550" y="3213100"/>
            <a:ext cx="10756900" cy="635000"/>
          </a:xfrm>
          <a:prstGeom prst="rect">
            <a:avLst/>
          </a:prstGeom>
          <a:solidFill>
            <a:srgbClr val="EAE7D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550" y="3848100"/>
            <a:ext cx="107569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9950" y="3324225"/>
            <a:ext cx="406400" cy="4064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9950" y="3324225"/>
            <a:ext cx="0" cy="40640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1075" y="342265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ko-KR" sz="1250" dirty="0"/>
          </a:p>
        </p:txBody>
      </p:sp>
      <p:sp>
        <p:nvSpPr>
          <p:cNvPr id="24" name="Text 22"/>
          <p:cNvSpPr/>
          <p:nvPr/>
        </p:nvSpPr>
        <p:spPr>
          <a:xfrm>
            <a:off x="1504950" y="3418880"/>
            <a:ext cx="1082731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응용 · 접근 확인</a:t>
            </a:r>
            <a:endParaRPr lang="ko-KR" sz="1400" dirty="0"/>
          </a:p>
        </p:txBody>
      </p:sp>
      <p:sp>
        <p:nvSpPr>
          <p:cNvPr id="25" name="Text 23"/>
          <p:cNvSpPr/>
          <p:nvPr/>
        </p:nvSpPr>
        <p:spPr>
          <a:xfrm>
            <a:off x="4197350" y="3432175"/>
            <a:ext cx="360536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신원과 허용 자료 범위를 확인한 뒤 검색 요청을 구성합니다.</a:t>
            </a:r>
            <a:endParaRPr lang="ko-KR" sz="1250" dirty="0"/>
          </a:p>
        </p:txBody>
      </p:sp>
      <p:sp>
        <p:nvSpPr>
          <p:cNvPr id="26" name="Shape 24"/>
          <p:cNvSpPr/>
          <p:nvPr/>
        </p:nvSpPr>
        <p:spPr>
          <a:xfrm>
            <a:off x="717550" y="4483100"/>
            <a:ext cx="107569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9950" y="3959225"/>
            <a:ext cx="406400" cy="40640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9950" y="3959225"/>
            <a:ext cx="0" cy="40640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1075" y="405765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ko-KR" sz="1250" dirty="0"/>
          </a:p>
        </p:txBody>
      </p:sp>
      <p:sp>
        <p:nvSpPr>
          <p:cNvPr id="30" name="Text 28"/>
          <p:cNvSpPr/>
          <p:nvPr/>
        </p:nvSpPr>
        <p:spPr>
          <a:xfrm>
            <a:off x="1504950" y="4053880"/>
            <a:ext cx="1381181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· 근거 검토</a:t>
            </a:r>
            <a:endParaRPr lang="ko-KR" sz="1400" dirty="0"/>
          </a:p>
        </p:txBody>
      </p:sp>
      <p:sp>
        <p:nvSpPr>
          <p:cNvPr id="31" name="Text 29"/>
          <p:cNvSpPr/>
          <p:nvPr/>
        </p:nvSpPr>
        <p:spPr>
          <a:xfrm>
            <a:off x="4197350" y="4067175"/>
            <a:ext cx="366519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검색된 자료가 질문에 답하는지 확인하고 출처를 연결합니다.</a:t>
            </a:r>
            <a:endParaRPr lang="ko-KR" sz="1250" dirty="0"/>
          </a:p>
        </p:txBody>
      </p:sp>
      <p:sp>
        <p:nvSpPr>
          <p:cNvPr id="32" name="Shape 30"/>
          <p:cNvSpPr/>
          <p:nvPr/>
        </p:nvSpPr>
        <p:spPr>
          <a:xfrm>
            <a:off x="717550" y="4483100"/>
            <a:ext cx="10756900" cy="635000"/>
          </a:xfrm>
          <a:prstGeom prst="rect">
            <a:avLst/>
          </a:prstGeom>
          <a:solidFill>
            <a:srgbClr val="EAE7D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7550" y="5118100"/>
            <a:ext cx="107569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9950" y="4594225"/>
            <a:ext cx="406400" cy="4064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9950" y="4594225"/>
            <a:ext cx="0" cy="40640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1075" y="469265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ko-KR" sz="1250" dirty="0"/>
          </a:p>
        </p:txBody>
      </p:sp>
      <p:sp>
        <p:nvSpPr>
          <p:cNvPr id="37" name="Text 35"/>
          <p:cNvSpPr/>
          <p:nvPr/>
        </p:nvSpPr>
        <p:spPr>
          <a:xfrm>
            <a:off x="1504950" y="4688880"/>
            <a:ext cx="1231956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· 답변 확인</a:t>
            </a:r>
            <a:endParaRPr lang="ko-KR" sz="1400" dirty="0"/>
          </a:p>
        </p:txBody>
      </p:sp>
      <p:sp>
        <p:nvSpPr>
          <p:cNvPr id="38" name="Text 36"/>
          <p:cNvSpPr/>
          <p:nvPr/>
        </p:nvSpPr>
        <p:spPr>
          <a:xfrm>
            <a:off x="4197350" y="4702175"/>
            <a:ext cx="380003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답변과 근거를 검토하고 불확실한 내용은 담당자에게 넘깁니다.</a:t>
            </a:r>
            <a:endParaRPr lang="ko-KR" sz="1250" dirty="0"/>
          </a:p>
        </p:txBody>
      </p:sp>
      <p:sp>
        <p:nvSpPr>
          <p:cNvPr id="39" name="Shape 37"/>
          <p:cNvSpPr/>
          <p:nvPr/>
        </p:nvSpPr>
        <p:spPr>
          <a:xfrm>
            <a:off x="711200" y="5118100"/>
            <a:ext cx="10769600" cy="4826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1200" y="5118100"/>
            <a:ext cx="107696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3600" y="5267325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인계 원칙</a:t>
            </a:r>
            <a:endParaRPr lang="ko-KR" sz="1250" dirty="0"/>
          </a:p>
        </p:txBody>
      </p:sp>
      <p:sp>
        <p:nvSpPr>
          <p:cNvPr id="42" name="Text 40"/>
          <p:cNvSpPr/>
          <p:nvPr/>
        </p:nvSpPr>
        <p:spPr>
          <a:xfrm>
            <a:off x="1828800" y="5267325"/>
            <a:ext cx="4451703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사이에는 질문만 아니라 접근 범위와 근거가 함께 전달되어야 합니다.</a:t>
            </a:r>
            <a:endParaRPr lang="ko-KR" sz="1250" dirty="0"/>
          </a:p>
        </p:txBody>
      </p:sp>
      <p:sp>
        <p:nvSpPr>
          <p:cNvPr id="43" name="Shape 41"/>
          <p:cNvSpPr/>
          <p:nvPr/>
        </p:nvSpPr>
        <p:spPr>
          <a:xfrm>
            <a:off x="711200" y="5600700"/>
            <a:ext cx="10769600" cy="4826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1200" y="5600700"/>
            <a:ext cx="10769600" cy="0"/>
          </a:xfrm>
          <a:prstGeom prst="line">
            <a:avLst/>
          </a:prstGeom>
          <a:noFill/>
          <a:ln w="6350">
            <a:solidFill>
              <a:srgbClr val="2C6B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3600" y="5749925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경계</a:t>
            </a:r>
            <a:endParaRPr lang="ko-KR" sz="1250" dirty="0"/>
          </a:p>
        </p:txBody>
      </p:sp>
      <p:sp>
        <p:nvSpPr>
          <p:cNvPr id="46" name="Text 44"/>
          <p:cNvSpPr/>
          <p:nvPr/>
        </p:nvSpPr>
        <p:spPr>
          <a:xfrm>
            <a:off x="1828800" y="5749925"/>
            <a:ext cx="568132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검색·권한·거부 처리는 설계 요구사항입니다. 이 그림이 제품의 자동 차단을 보장하지 않습니다.</a:t>
            </a:r>
            <a:endParaRPr lang="ko-KR" sz="1250" dirty="0"/>
          </a:p>
        </p:txBody>
      </p:sp>
      <p:sp>
        <p:nvSpPr>
          <p:cNvPr id="47" name="Text 45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48" name="Text 46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ko-KR" sz="900" dirty="0"/>
          </a:p>
        </p:txBody>
      </p:sp>
      <p:sp>
        <p:nvSpPr>
          <p:cNvPr id="49" name="Text 47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6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6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6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6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6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6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6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6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6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6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6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6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6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6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6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6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6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6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6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9" dur="6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5070134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출시 전 네 가지 근거를 확인합니다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9624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CHECKLIST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4305058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 기호는 검토 대상이지 실제 승인이나 충족 상태가 아닙니다.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711200" y="2095500"/>
            <a:ext cx="3543300" cy="143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1200" y="2095500"/>
            <a:ext cx="3543300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54500" y="2095500"/>
            <a:ext cx="0" cy="1435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200" y="3530600"/>
            <a:ext cx="35433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1200" y="2095500"/>
            <a:ext cx="0" cy="1435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9150" y="2197100"/>
            <a:ext cx="1778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950" y="2197100"/>
            <a:ext cx="0" cy="17780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9150" y="2374900"/>
            <a:ext cx="1778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9150" y="2197100"/>
            <a:ext cx="0" cy="17780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5850" y="2178050"/>
            <a:ext cx="814642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적합성</a:t>
            </a:r>
            <a:endParaRPr lang="ko-KR" sz="1400" dirty="0"/>
          </a:p>
        </p:txBody>
      </p:sp>
      <p:sp>
        <p:nvSpPr>
          <p:cNvPr id="16" name="Text 14"/>
          <p:cNvSpPr/>
          <p:nvPr/>
        </p:nvSpPr>
        <p:spPr>
          <a:xfrm>
            <a:off x="819150" y="2445941"/>
            <a:ext cx="312544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질문과 실패 사례에서 원하는 결과를 설명할 수</a:t>
            </a:r>
            <a:endParaRPr lang="ko-KR" sz="1250" dirty="0"/>
          </a:p>
        </p:txBody>
      </p:sp>
      <p:sp>
        <p:nvSpPr>
          <p:cNvPr id="17" name="Text 15"/>
          <p:cNvSpPr/>
          <p:nvPr/>
        </p:nvSpPr>
        <p:spPr>
          <a:xfrm>
            <a:off x="819150" y="2649141"/>
            <a:ext cx="64507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있습니까?</a:t>
            </a:r>
            <a:endParaRPr lang="ko-KR" sz="1250" dirty="0"/>
          </a:p>
        </p:txBody>
      </p:sp>
      <p:sp>
        <p:nvSpPr>
          <p:cNvPr id="18" name="Shape 16"/>
          <p:cNvSpPr/>
          <p:nvPr/>
        </p:nvSpPr>
        <p:spPr>
          <a:xfrm>
            <a:off x="4406900" y="2095500"/>
            <a:ext cx="3543300" cy="143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06900" y="2095500"/>
            <a:ext cx="3543300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0200" y="2095500"/>
            <a:ext cx="0" cy="1435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06900" y="3530600"/>
            <a:ext cx="35433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06900" y="2095500"/>
            <a:ext cx="0" cy="1435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14850" y="2197100"/>
            <a:ext cx="1778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92650" y="2197100"/>
            <a:ext cx="0" cy="17780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14850" y="2374900"/>
            <a:ext cx="1778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14850" y="2197100"/>
            <a:ext cx="0" cy="17780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1550" y="2178050"/>
            <a:ext cx="1149703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접근과 허용 행동</a:t>
            </a:r>
            <a:endParaRPr lang="ko-KR" sz="1400" dirty="0"/>
          </a:p>
        </p:txBody>
      </p:sp>
      <p:sp>
        <p:nvSpPr>
          <p:cNvPr id="28" name="Text 26"/>
          <p:cNvSpPr/>
          <p:nvPr/>
        </p:nvSpPr>
        <p:spPr>
          <a:xfrm>
            <a:off x="4514850" y="2445941"/>
            <a:ext cx="254878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어떤 자료와 도구를 사용할 수 있는지</a:t>
            </a:r>
            <a:endParaRPr lang="ko-KR" sz="1250" dirty="0"/>
          </a:p>
        </p:txBody>
      </p:sp>
      <p:sp>
        <p:nvSpPr>
          <p:cNvPr id="29" name="Text 27"/>
          <p:cNvSpPr/>
          <p:nvPr/>
        </p:nvSpPr>
        <p:spPr>
          <a:xfrm>
            <a:off x="4514850" y="2649141"/>
            <a:ext cx="914753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검증했습니까?</a:t>
            </a:r>
            <a:endParaRPr lang="ko-KR" sz="1250" dirty="0"/>
          </a:p>
        </p:txBody>
      </p:sp>
      <p:sp>
        <p:nvSpPr>
          <p:cNvPr id="30" name="Shape 28"/>
          <p:cNvSpPr/>
          <p:nvPr/>
        </p:nvSpPr>
        <p:spPr>
          <a:xfrm>
            <a:off x="711200" y="3683000"/>
            <a:ext cx="3543300" cy="143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1200" y="3683000"/>
            <a:ext cx="3543300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54500" y="3683000"/>
            <a:ext cx="0" cy="1435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1200" y="5118100"/>
            <a:ext cx="35433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1200" y="3683000"/>
            <a:ext cx="0" cy="1435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9150" y="3784600"/>
            <a:ext cx="1778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6950" y="3784600"/>
            <a:ext cx="0" cy="17780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9150" y="3962400"/>
            <a:ext cx="1778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9150" y="3784600"/>
            <a:ext cx="0" cy="17780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85850" y="3765550"/>
            <a:ext cx="1149703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기능별 준비 상태</a:t>
            </a:r>
            <a:endParaRPr lang="ko-KR" sz="1400" dirty="0"/>
          </a:p>
        </p:txBody>
      </p:sp>
      <p:sp>
        <p:nvSpPr>
          <p:cNvPr id="40" name="Text 38"/>
          <p:cNvSpPr/>
          <p:nvPr/>
        </p:nvSpPr>
        <p:spPr>
          <a:xfrm>
            <a:off x="819150" y="4033441"/>
            <a:ext cx="266894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GA/Preview, 대상 리전과 모델·도구 조건을</a:t>
            </a:r>
            <a:endParaRPr lang="ko-KR" sz="1250" dirty="0"/>
          </a:p>
        </p:txBody>
      </p:sp>
      <p:sp>
        <p:nvSpPr>
          <p:cNvPr id="41" name="Text 39"/>
          <p:cNvSpPr/>
          <p:nvPr/>
        </p:nvSpPr>
        <p:spPr>
          <a:xfrm>
            <a:off x="819150" y="4236641"/>
            <a:ext cx="914753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확인했습니까?</a:t>
            </a:r>
            <a:endParaRPr lang="ko-KR" sz="1250" dirty="0"/>
          </a:p>
        </p:txBody>
      </p:sp>
      <p:sp>
        <p:nvSpPr>
          <p:cNvPr id="42" name="Shape 40"/>
          <p:cNvSpPr/>
          <p:nvPr/>
        </p:nvSpPr>
        <p:spPr>
          <a:xfrm>
            <a:off x="4406900" y="3683000"/>
            <a:ext cx="3543300" cy="143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06900" y="3683000"/>
            <a:ext cx="3543300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50200" y="3683000"/>
            <a:ext cx="0" cy="1435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06900" y="5118100"/>
            <a:ext cx="35433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06900" y="3683000"/>
            <a:ext cx="0" cy="14351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14850" y="3784600"/>
            <a:ext cx="1778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92650" y="3784600"/>
            <a:ext cx="0" cy="17780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14850" y="3962400"/>
            <a:ext cx="1778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14850" y="3784600"/>
            <a:ext cx="0" cy="17780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81550" y="3765550"/>
            <a:ext cx="1149703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운영과 중단 책임</a:t>
            </a:r>
            <a:endParaRPr lang="ko-KR" sz="1400" dirty="0"/>
          </a:p>
        </p:txBody>
      </p:sp>
      <p:sp>
        <p:nvSpPr>
          <p:cNvPr id="52" name="Text 50"/>
          <p:cNvSpPr/>
          <p:nvPr/>
        </p:nvSpPr>
        <p:spPr>
          <a:xfrm>
            <a:off x="4514850" y="4033441"/>
            <a:ext cx="322377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오류·비용·기록을 확인하고 필요하면 중단할 담당자가</a:t>
            </a:r>
            <a:endParaRPr lang="ko-KR" sz="1250" dirty="0"/>
          </a:p>
        </p:txBody>
      </p:sp>
      <p:sp>
        <p:nvSpPr>
          <p:cNvPr id="53" name="Text 51"/>
          <p:cNvSpPr/>
          <p:nvPr/>
        </p:nvSpPr>
        <p:spPr>
          <a:xfrm>
            <a:off x="4514850" y="4236641"/>
            <a:ext cx="64507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있습니까?</a:t>
            </a:r>
            <a:endParaRPr lang="ko-KR" sz="1250" dirty="0"/>
          </a:p>
        </p:txBody>
      </p:sp>
      <p:sp>
        <p:nvSpPr>
          <p:cNvPr id="54" name="Shape 52"/>
          <p:cNvSpPr/>
          <p:nvPr/>
        </p:nvSpPr>
        <p:spPr>
          <a:xfrm>
            <a:off x="711200" y="5270500"/>
            <a:ext cx="7239000" cy="8128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11200" y="5270500"/>
            <a:ext cx="72390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3600" y="558800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시점</a:t>
            </a:r>
            <a:endParaRPr lang="ko-KR" sz="1250" dirty="0"/>
          </a:p>
        </p:txBody>
      </p:sp>
      <p:sp>
        <p:nvSpPr>
          <p:cNvPr id="57" name="Text 55"/>
          <p:cNvSpPr/>
          <p:nvPr/>
        </p:nvSpPr>
        <p:spPr>
          <a:xfrm>
            <a:off x="1828800" y="5588000"/>
            <a:ext cx="449010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기능·모델·도구 또는 데이터 범위가 바뀌면 같은 질문으로 다시 검토합니다.</a:t>
            </a:r>
            <a:endParaRPr lang="ko-KR" sz="1250" dirty="0"/>
          </a:p>
        </p:txBody>
      </p:sp>
      <p:sp>
        <p:nvSpPr>
          <p:cNvPr id="58" name="Shape 56"/>
          <p:cNvSpPr/>
          <p:nvPr/>
        </p:nvSpPr>
        <p:spPr>
          <a:xfrm>
            <a:off x="8102600" y="2095500"/>
            <a:ext cx="3378200" cy="39878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102600" y="2095500"/>
            <a:ext cx="3378200" cy="0"/>
          </a:xfrm>
          <a:prstGeom prst="line">
            <a:avLst/>
          </a:prstGeom>
          <a:noFill/>
          <a:ln w="38100">
            <a:solidFill>
              <a:srgbClr val="2C6B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67700" y="229870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판단</a:t>
            </a:r>
            <a:endParaRPr lang="ko-KR" sz="1250" dirty="0"/>
          </a:p>
        </p:txBody>
      </p:sp>
      <p:sp>
        <p:nvSpPr>
          <p:cNvPr id="61" name="Text 59"/>
          <p:cNvSpPr/>
          <p:nvPr/>
        </p:nvSpPr>
        <p:spPr>
          <a:xfrm>
            <a:off x="8267700" y="2578100"/>
            <a:ext cx="268352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조건을 뒷받침할 기록이 있을 때 제한된</a:t>
            </a:r>
            <a:endParaRPr lang="ko-KR" sz="1250" dirty="0"/>
          </a:p>
        </p:txBody>
      </p:sp>
      <p:sp>
        <p:nvSpPr>
          <p:cNvPr id="62" name="Text 60"/>
          <p:cNvSpPr/>
          <p:nvPr/>
        </p:nvSpPr>
        <p:spPr>
          <a:xfrm>
            <a:off x="8267700" y="2797175"/>
            <a:ext cx="118601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적용을 검토합니다.</a:t>
            </a:r>
            <a:endParaRPr lang="ko-KR" sz="1250" dirty="0"/>
          </a:p>
        </p:txBody>
      </p:sp>
      <p:sp>
        <p:nvSpPr>
          <p:cNvPr id="63" name="Shape 61"/>
          <p:cNvSpPr/>
          <p:nvPr/>
        </p:nvSpPr>
        <p:spPr>
          <a:xfrm>
            <a:off x="8267700" y="4191000"/>
            <a:ext cx="3048000" cy="0"/>
          </a:xfrm>
          <a:prstGeom prst="line">
            <a:avLst/>
          </a:prstGeom>
          <a:noFill/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67700" y="436245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보류 판단</a:t>
            </a:r>
            <a:endParaRPr lang="ko-KR" sz="1250" dirty="0"/>
          </a:p>
        </p:txBody>
      </p:sp>
      <p:sp>
        <p:nvSpPr>
          <p:cNvPr id="65" name="Text 63"/>
          <p:cNvSpPr/>
          <p:nvPr/>
        </p:nvSpPr>
        <p:spPr>
          <a:xfrm>
            <a:off x="8267700" y="4641850"/>
            <a:ext cx="251148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미확인 조건은 완료로 표시하지 않습니다.</a:t>
            </a:r>
            <a:endParaRPr lang="ko-KR" sz="1250" dirty="0"/>
          </a:p>
        </p:txBody>
      </p:sp>
      <p:sp>
        <p:nvSpPr>
          <p:cNvPr id="66" name="Text 64"/>
          <p:cNvSpPr/>
          <p:nvPr/>
        </p:nvSpPr>
        <p:spPr>
          <a:xfrm>
            <a:off x="8267700" y="4860925"/>
            <a:ext cx="224210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책임자와 다음 확인 시점을 남깁니다.</a:t>
            </a:r>
            <a:endParaRPr lang="ko-KR" sz="1250" dirty="0"/>
          </a:p>
        </p:txBody>
      </p:sp>
      <p:sp>
        <p:nvSpPr>
          <p:cNvPr id="67" name="Text 65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68" name="Text 66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ko-KR" sz="900" dirty="0"/>
          </a:p>
        </p:txBody>
      </p:sp>
      <p:sp>
        <p:nvSpPr>
          <p:cNvPr id="69" name="Text 67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6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6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6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6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6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6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6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6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6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6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6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6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6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6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6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6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6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6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6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9" dur="6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6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4" dur="6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6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9" dur="6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6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4" dur="6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6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9" dur="6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6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4" dur="6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6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9" dur="6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6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4" dur="6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6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9" dur="6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6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74" dur="6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6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79" dur="6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6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84" dur="6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6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89" dur="6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6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4" dur="6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6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9" dur="6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6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04" dur="6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6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09" dur="6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6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14" dur="62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6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19" dur="62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6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24" dur="62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6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29" dur="62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5327706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상태와 도입 판단을 분리합니다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8608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EVIDENCE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3672836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포털의 GA와 개별 기능의 GA는 같은 범위가 아닙니다.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711200" y="2095500"/>
            <a:ext cx="3378200" cy="19431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1200" y="2095500"/>
            <a:ext cx="3378200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89400" y="2095500"/>
            <a:ext cx="0" cy="194310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200" y="4038600"/>
            <a:ext cx="3378200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1200" y="2095500"/>
            <a:ext cx="0" cy="194310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2650" y="2266950"/>
            <a:ext cx="86960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살피나</a:t>
            </a:r>
            <a:endParaRPr lang="ko-KR" sz="1250" dirty="0"/>
          </a:p>
        </p:txBody>
      </p:sp>
      <p:sp>
        <p:nvSpPr>
          <p:cNvPr id="12" name="Text 10"/>
          <p:cNvSpPr/>
          <p:nvPr/>
        </p:nvSpPr>
        <p:spPr>
          <a:xfrm>
            <a:off x="882650" y="2546350"/>
            <a:ext cx="291877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GA 개요를 2026-09-30에 확인했습니다.</a:t>
            </a:r>
            <a:endParaRPr lang="ko-KR" sz="1250" dirty="0"/>
          </a:p>
        </p:txBody>
      </p:sp>
      <p:sp>
        <p:nvSpPr>
          <p:cNvPr id="13" name="Text 11"/>
          <p:cNvSpPr/>
          <p:nvPr/>
        </p:nvSpPr>
        <p:spPr>
          <a:xfrm>
            <a:off x="882650" y="2765425"/>
            <a:ext cx="183768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상태는 이후 바뀔 수 있습니다.</a:t>
            </a:r>
            <a:endParaRPr lang="ko-KR" sz="1250" dirty="0"/>
          </a:p>
        </p:txBody>
      </p:sp>
      <p:sp>
        <p:nvSpPr>
          <p:cNvPr id="14" name="Shape 12"/>
          <p:cNvSpPr/>
          <p:nvPr/>
        </p:nvSpPr>
        <p:spPr>
          <a:xfrm>
            <a:off x="711200" y="4140200"/>
            <a:ext cx="3378200" cy="19431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200" y="4140200"/>
            <a:ext cx="3378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89400" y="4140200"/>
            <a:ext cx="0" cy="19431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1200" y="6083300"/>
            <a:ext cx="3378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200" y="4140200"/>
            <a:ext cx="0" cy="19431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2650" y="431165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읽나</a:t>
            </a:r>
            <a:endParaRPr lang="ko-KR" sz="1250" dirty="0"/>
          </a:p>
        </p:txBody>
      </p:sp>
      <p:sp>
        <p:nvSpPr>
          <p:cNvPr id="20" name="Text 18"/>
          <p:cNvSpPr/>
          <p:nvPr/>
        </p:nvSpPr>
        <p:spPr>
          <a:xfrm>
            <a:off x="882650" y="4591050"/>
            <a:ext cx="302900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기능별 상태를 기록한 다음 업무 검증, 대상 리전과</a:t>
            </a:r>
            <a:endParaRPr lang="ko-KR" sz="1250" dirty="0"/>
          </a:p>
        </p:txBody>
      </p:sp>
      <p:sp>
        <p:nvSpPr>
          <p:cNvPr id="21" name="Text 19"/>
          <p:cNvSpPr/>
          <p:nvPr/>
        </p:nvSpPr>
        <p:spPr>
          <a:xfrm>
            <a:off x="882650" y="4810125"/>
            <a:ext cx="19350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조건을 별도로 판단합니다.</a:t>
            </a:r>
            <a:endParaRPr lang="ko-KR" sz="1250" dirty="0"/>
          </a:p>
        </p:txBody>
      </p:sp>
      <p:sp>
        <p:nvSpPr>
          <p:cNvPr id="22" name="Shape 20"/>
          <p:cNvSpPr/>
          <p:nvPr/>
        </p:nvSpPr>
        <p:spPr>
          <a:xfrm>
            <a:off x="4292600" y="2095500"/>
            <a:ext cx="7188200" cy="10287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2600" y="2095500"/>
            <a:ext cx="7188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80800" y="2095500"/>
            <a:ext cx="0" cy="1028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2600" y="3124200"/>
            <a:ext cx="7188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2600" y="2095500"/>
            <a:ext cx="0" cy="1028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8950" y="2101850"/>
            <a:ext cx="25400" cy="101600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08550" y="2178050"/>
            <a:ext cx="0" cy="8636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25950" y="220980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ko-KR" sz="1250" dirty="0"/>
          </a:p>
        </p:txBody>
      </p:sp>
      <p:sp>
        <p:nvSpPr>
          <p:cNvPr id="30" name="Text 28"/>
          <p:cNvSpPr/>
          <p:nvPr/>
        </p:nvSpPr>
        <p:spPr>
          <a:xfrm>
            <a:off x="5022850" y="2171700"/>
            <a:ext cx="1639447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Agents 핵심 기능 · GA</a:t>
            </a:r>
            <a:endParaRPr lang="ko-KR" sz="1400" dirty="0"/>
          </a:p>
        </p:txBody>
      </p:sp>
      <p:sp>
        <p:nvSpPr>
          <p:cNvPr id="31" name="Text 29"/>
          <p:cNvSpPr/>
          <p:nvPr/>
        </p:nvSpPr>
        <p:spPr>
          <a:xfrm>
            <a:off x="5022850" y="2435820"/>
            <a:ext cx="520159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에이전트의 세부 유형, 연결 도구와 모델 조건까지 한꺼번에 보장하는 표기는 아닙니다.</a:t>
            </a:r>
            <a:endParaRPr lang="ko-KR" sz="1250" dirty="0"/>
          </a:p>
        </p:txBody>
      </p:sp>
      <p:sp>
        <p:nvSpPr>
          <p:cNvPr id="32" name="Shape 30"/>
          <p:cNvSpPr/>
          <p:nvPr/>
        </p:nvSpPr>
        <p:spPr>
          <a:xfrm>
            <a:off x="4292600" y="3175000"/>
            <a:ext cx="7188200" cy="1028700"/>
          </a:xfrm>
          <a:prstGeom prst="rect">
            <a:avLst/>
          </a:prstGeom>
          <a:solidFill>
            <a:srgbClr val="EAE7D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92600" y="3175000"/>
            <a:ext cx="7188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480800" y="3175000"/>
            <a:ext cx="0" cy="1028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92600" y="4203700"/>
            <a:ext cx="7188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92600" y="3175000"/>
            <a:ext cx="0" cy="1028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98950" y="3181350"/>
            <a:ext cx="25400" cy="101600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08550" y="3257550"/>
            <a:ext cx="0" cy="8636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25950" y="328930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ko-KR" sz="1250" dirty="0"/>
          </a:p>
        </p:txBody>
      </p:sp>
      <p:sp>
        <p:nvSpPr>
          <p:cNvPr id="40" name="Text 38"/>
          <p:cNvSpPr/>
          <p:nvPr/>
        </p:nvSpPr>
        <p:spPr>
          <a:xfrm>
            <a:off x="5022850" y="3251200"/>
            <a:ext cx="2425458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Evaluations · GA / 일부 Preview</a:t>
            </a:r>
            <a:endParaRPr lang="ko-KR" sz="1400" dirty="0"/>
          </a:p>
        </p:txBody>
      </p:sp>
      <p:sp>
        <p:nvSpPr>
          <p:cNvPr id="41" name="Text 39"/>
          <p:cNvSpPr/>
          <p:nvPr/>
        </p:nvSpPr>
        <p:spPr>
          <a:xfrm>
            <a:off x="5022850" y="3515320"/>
            <a:ext cx="4316865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기능 안에서도 평가자와 세부 기능의 출시 상태를 나눠 확인합니다.</a:t>
            </a:r>
            <a:endParaRPr lang="ko-KR" sz="1250" dirty="0"/>
          </a:p>
        </p:txBody>
      </p:sp>
      <p:sp>
        <p:nvSpPr>
          <p:cNvPr id="42" name="Shape 40"/>
          <p:cNvSpPr/>
          <p:nvPr/>
        </p:nvSpPr>
        <p:spPr>
          <a:xfrm>
            <a:off x="4292600" y="4254500"/>
            <a:ext cx="7188200" cy="10287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92600" y="4254500"/>
            <a:ext cx="7188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80800" y="4254500"/>
            <a:ext cx="0" cy="1028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92600" y="5283200"/>
            <a:ext cx="7188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92600" y="4254500"/>
            <a:ext cx="0" cy="1028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98950" y="4260850"/>
            <a:ext cx="25400" cy="101600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08550" y="4337050"/>
            <a:ext cx="0" cy="8636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25950" y="436880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ko-KR" sz="1250" dirty="0"/>
          </a:p>
        </p:txBody>
      </p:sp>
      <p:sp>
        <p:nvSpPr>
          <p:cNvPr id="50" name="Text 48"/>
          <p:cNvSpPr/>
          <p:nvPr/>
        </p:nvSpPr>
        <p:spPr>
          <a:xfrm>
            <a:off x="5022850" y="4330700"/>
            <a:ext cx="2442127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Monitoring · Memory · Preview</a:t>
            </a:r>
            <a:endParaRPr lang="ko-KR" sz="1400" dirty="0"/>
          </a:p>
        </p:txBody>
      </p:sp>
      <p:sp>
        <p:nvSpPr>
          <p:cNvPr id="51" name="Text 49"/>
          <p:cNvSpPr/>
          <p:nvPr/>
        </p:nvSpPr>
        <p:spPr>
          <a:xfrm>
            <a:off x="5022850" y="4594820"/>
            <a:ext cx="387544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적용 정책과 데이터 보관·사용 조건을 기능별로 검토합니다.</a:t>
            </a:r>
            <a:endParaRPr lang="ko-KR" sz="1250" dirty="0"/>
          </a:p>
        </p:txBody>
      </p:sp>
      <p:sp>
        <p:nvSpPr>
          <p:cNvPr id="52" name="Shape 50"/>
          <p:cNvSpPr/>
          <p:nvPr/>
        </p:nvSpPr>
        <p:spPr>
          <a:xfrm>
            <a:off x="4292600" y="5283200"/>
            <a:ext cx="7188200" cy="8001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92600" y="5283200"/>
            <a:ext cx="71882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19600" y="559435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해석 한계</a:t>
            </a:r>
            <a:endParaRPr lang="ko-KR" sz="1250" dirty="0"/>
          </a:p>
        </p:txBody>
      </p:sp>
      <p:sp>
        <p:nvSpPr>
          <p:cNvPr id="55" name="Text 53"/>
          <p:cNvSpPr/>
          <p:nvPr/>
        </p:nvSpPr>
        <p:spPr>
          <a:xfrm>
            <a:off x="5181600" y="5594350"/>
            <a:ext cx="5558488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GA는 모든 하위 기능·모델·리전의 보장이 아닙니다. 실제 채택 시 최신 표를 다시 확인합니다.</a:t>
            </a:r>
            <a:endParaRPr lang="ko-KR" sz="1250" dirty="0"/>
          </a:p>
        </p:txBody>
      </p:sp>
      <p:sp>
        <p:nvSpPr>
          <p:cNvPr id="56" name="Text 54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57" name="Text 55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ko-KR" sz="900" dirty="0"/>
          </a:p>
        </p:txBody>
      </p:sp>
      <p:sp>
        <p:nvSpPr>
          <p:cNvPr id="58" name="Text 56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6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6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6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6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6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6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6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6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6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6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6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6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6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6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6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6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6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6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6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9" dur="6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6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4" dur="6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6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9" dur="6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6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4" dur="6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6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9" dur="6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6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4" dur="6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6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9" dur="6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6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4" dur="6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6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9" dur="6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6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74" dur="6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5660684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일정보다 단계별 통과 조건을 정합니다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7592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ROADMAP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4880427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탐색, 제한 검증, 운영 준비의 산출물을 연결하는 도입 로드맵 제안입니다.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863600" y="2247900"/>
            <a:ext cx="10464800" cy="1270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900" y="2095500"/>
            <a:ext cx="317500" cy="317500"/>
          </a:xfrm>
          <a:prstGeom prst="ellipse">
            <a:avLst/>
          </a:prstGeom>
          <a:solidFill>
            <a:srgbClr val="F4F2ED"/>
          </a:solidFill>
          <a:ln w="12700">
            <a:solidFill>
              <a:srgbClr val="2C6B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4875" y="2149475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ko-KR" sz="1250" dirty="0"/>
          </a:p>
        </p:txBody>
      </p:sp>
      <p:sp>
        <p:nvSpPr>
          <p:cNvPr id="9" name="Shape 7"/>
          <p:cNvSpPr/>
          <p:nvPr/>
        </p:nvSpPr>
        <p:spPr>
          <a:xfrm>
            <a:off x="711200" y="2463800"/>
            <a:ext cx="3454400" cy="16891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1200" y="2463800"/>
            <a:ext cx="3454400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200" y="2571750"/>
            <a:ext cx="115774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 · 업무 가설</a:t>
            </a:r>
            <a:endParaRPr lang="ko-KR" sz="1500" dirty="0"/>
          </a:p>
        </p:txBody>
      </p:sp>
      <p:sp>
        <p:nvSpPr>
          <p:cNvPr id="12" name="Text 10"/>
          <p:cNvSpPr/>
          <p:nvPr/>
        </p:nvSpPr>
        <p:spPr>
          <a:xfrm>
            <a:off x="838200" y="2867025"/>
            <a:ext cx="279762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정의, 대표 질문, 제외 조건과 기대 결과를</a:t>
            </a:r>
            <a:endParaRPr lang="ko-KR" sz="1250" dirty="0"/>
          </a:p>
        </p:txBody>
      </p:sp>
      <p:sp>
        <p:nvSpPr>
          <p:cNvPr id="13" name="Text 11"/>
          <p:cNvSpPr/>
          <p:nvPr/>
        </p:nvSpPr>
        <p:spPr>
          <a:xfrm>
            <a:off x="838200" y="3070225"/>
            <a:ext cx="105117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문서로 남깁니다.</a:t>
            </a:r>
            <a:endParaRPr lang="ko-KR" sz="1250" dirty="0"/>
          </a:p>
        </p:txBody>
      </p:sp>
      <p:pic>
        <p:nvPicPr>
          <p:cNvPr id="14" name="Image 0" descr="CSS deco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6667" y="2174517"/>
            <a:ext cx="197565" cy="19756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508500" y="2095500"/>
            <a:ext cx="317500" cy="317500"/>
          </a:xfrm>
          <a:prstGeom prst="ellipse">
            <a:avLst/>
          </a:prstGeom>
          <a:solidFill>
            <a:srgbClr val="F4F2ED"/>
          </a:solidFill>
          <a:ln w="12700">
            <a:solidFill>
              <a:srgbClr val="2C6B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62475" y="2149475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ko-KR" sz="1250" dirty="0"/>
          </a:p>
        </p:txBody>
      </p:sp>
      <p:sp>
        <p:nvSpPr>
          <p:cNvPr id="17" name="Shape 14"/>
          <p:cNvSpPr/>
          <p:nvPr/>
        </p:nvSpPr>
        <p:spPr>
          <a:xfrm>
            <a:off x="4368800" y="2463800"/>
            <a:ext cx="3454400" cy="16891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68800" y="2463800"/>
            <a:ext cx="3454400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95800" y="2571750"/>
            <a:ext cx="115774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· 실패 근거</a:t>
            </a:r>
            <a:endParaRPr lang="ko-KR" sz="1500" dirty="0"/>
          </a:p>
        </p:txBody>
      </p:sp>
      <p:sp>
        <p:nvSpPr>
          <p:cNvPr id="20" name="Text 17"/>
          <p:cNvSpPr/>
          <p:nvPr/>
        </p:nvSpPr>
        <p:spPr>
          <a:xfrm>
            <a:off x="4495800" y="2867025"/>
            <a:ext cx="3126438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제한된 데이터로 구현하고 평가 기록·권한 시험·수정</a:t>
            </a:r>
            <a:endParaRPr lang="ko-KR" sz="1250" dirty="0"/>
          </a:p>
        </p:txBody>
      </p:sp>
      <p:sp>
        <p:nvSpPr>
          <p:cNvPr id="21" name="Text 18"/>
          <p:cNvSpPr/>
          <p:nvPr/>
        </p:nvSpPr>
        <p:spPr>
          <a:xfrm>
            <a:off x="4495800" y="3070225"/>
            <a:ext cx="105117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이력을 남깁니다.</a:t>
            </a:r>
            <a:endParaRPr lang="ko-KR" sz="1250" dirty="0"/>
          </a:p>
        </p:txBody>
      </p:sp>
      <p:pic>
        <p:nvPicPr>
          <p:cNvPr id="22" name="Image 1" descr="CSS decor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267" y="2174517"/>
            <a:ext cx="197566" cy="19756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8166100" y="2095500"/>
            <a:ext cx="317500" cy="317500"/>
          </a:xfrm>
          <a:prstGeom prst="ellipse">
            <a:avLst/>
          </a:prstGeom>
          <a:solidFill>
            <a:srgbClr val="F4F2ED"/>
          </a:solidFill>
          <a:ln w="12700">
            <a:solidFill>
              <a:srgbClr val="2C6BE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220075" y="2149475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ko-KR" sz="1250" dirty="0"/>
          </a:p>
        </p:txBody>
      </p:sp>
      <p:sp>
        <p:nvSpPr>
          <p:cNvPr id="25" name="Shape 21"/>
          <p:cNvSpPr/>
          <p:nvPr/>
        </p:nvSpPr>
        <p:spPr>
          <a:xfrm>
            <a:off x="8026400" y="2463800"/>
            <a:ext cx="3454400" cy="16891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026400" y="2463800"/>
            <a:ext cx="3454400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153400" y="2571750"/>
            <a:ext cx="115774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 · 운영 책임</a:t>
            </a:r>
            <a:endParaRPr lang="ko-KR" sz="1500" dirty="0"/>
          </a:p>
        </p:txBody>
      </p:sp>
      <p:sp>
        <p:nvSpPr>
          <p:cNvPr id="28" name="Text 24"/>
          <p:cNvSpPr/>
          <p:nvPr/>
        </p:nvSpPr>
        <p:spPr>
          <a:xfrm>
            <a:off x="8153400" y="2867025"/>
            <a:ext cx="2490545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관측, 오류 대응, 비용 확인과 중단 계획을</a:t>
            </a:r>
            <a:endParaRPr lang="ko-KR" sz="1250" dirty="0"/>
          </a:p>
        </p:txBody>
      </p:sp>
      <p:sp>
        <p:nvSpPr>
          <p:cNvPr id="29" name="Text 25"/>
          <p:cNvSpPr/>
          <p:nvPr/>
        </p:nvSpPr>
        <p:spPr>
          <a:xfrm>
            <a:off x="8153400" y="3070225"/>
            <a:ext cx="74409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합의합니다.</a:t>
            </a:r>
            <a:endParaRPr lang="ko-KR" sz="1250" dirty="0"/>
          </a:p>
        </p:txBody>
      </p:sp>
      <p:sp>
        <p:nvSpPr>
          <p:cNvPr id="30" name="Shape 26"/>
          <p:cNvSpPr/>
          <p:nvPr/>
        </p:nvSpPr>
        <p:spPr>
          <a:xfrm>
            <a:off x="711200" y="4305300"/>
            <a:ext cx="3488234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11200" y="43053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199434" y="4305300"/>
            <a:ext cx="0" cy="17780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11200" y="60833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11200" y="4305300"/>
            <a:ext cx="0" cy="17780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57250" y="445135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단계의 의미</a:t>
            </a:r>
            <a:endParaRPr lang="ko-KR" sz="1250" dirty="0"/>
          </a:p>
        </p:txBody>
      </p:sp>
      <p:sp>
        <p:nvSpPr>
          <p:cNvPr id="36" name="Text 32"/>
          <p:cNvSpPr/>
          <p:nvPr/>
        </p:nvSpPr>
        <p:spPr>
          <a:xfrm>
            <a:off x="857250" y="4724400"/>
            <a:ext cx="312574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날짜와 소요 기간을 보장하지 않습니다. 업무 난도와</a:t>
            </a:r>
            <a:endParaRPr lang="ko-KR" sz="1250" dirty="0"/>
          </a:p>
        </p:txBody>
      </p:sp>
      <p:sp>
        <p:nvSpPr>
          <p:cNvPr id="37" name="Text 33"/>
          <p:cNvSpPr/>
          <p:nvPr/>
        </p:nvSpPr>
        <p:spPr>
          <a:xfrm>
            <a:off x="857250" y="4927600"/>
            <a:ext cx="254968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데이터·권한 준비 상태에 따라 달라집니다.</a:t>
            </a:r>
            <a:endParaRPr lang="ko-KR" sz="1250" dirty="0"/>
          </a:p>
        </p:txBody>
      </p:sp>
      <p:sp>
        <p:nvSpPr>
          <p:cNvPr id="38" name="Shape 34"/>
          <p:cNvSpPr/>
          <p:nvPr/>
        </p:nvSpPr>
        <p:spPr>
          <a:xfrm>
            <a:off x="4351834" y="4305300"/>
            <a:ext cx="3488234" cy="17780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351834" y="4305300"/>
            <a:ext cx="3488234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840067" y="4305300"/>
            <a:ext cx="0" cy="177800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351834" y="6083300"/>
            <a:ext cx="3488234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351834" y="4305300"/>
            <a:ext cx="0" cy="177800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497884" y="4451350"/>
            <a:ext cx="1003653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 체크포인트</a:t>
            </a:r>
            <a:endParaRPr lang="ko-KR" sz="1250" dirty="0"/>
          </a:p>
        </p:txBody>
      </p:sp>
      <p:sp>
        <p:nvSpPr>
          <p:cNvPr id="44" name="Text 40"/>
          <p:cNvSpPr/>
          <p:nvPr/>
        </p:nvSpPr>
        <p:spPr>
          <a:xfrm>
            <a:off x="4497884" y="4724400"/>
            <a:ext cx="285586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단계로 넘어갈 때 이전 단계의 실패 사례와</a:t>
            </a:r>
            <a:endParaRPr lang="ko-KR" sz="1250" dirty="0"/>
          </a:p>
        </p:txBody>
      </p:sp>
      <p:sp>
        <p:nvSpPr>
          <p:cNvPr id="45" name="Text 41"/>
          <p:cNvSpPr/>
          <p:nvPr/>
        </p:nvSpPr>
        <p:spPr>
          <a:xfrm>
            <a:off x="4497884" y="4927600"/>
            <a:ext cx="135826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가정을 함께 넘깁니다.</a:t>
            </a:r>
            <a:endParaRPr lang="ko-KR" sz="1250" dirty="0"/>
          </a:p>
        </p:txBody>
      </p:sp>
      <p:sp>
        <p:nvSpPr>
          <p:cNvPr id="46" name="Shape 42"/>
          <p:cNvSpPr/>
          <p:nvPr/>
        </p:nvSpPr>
        <p:spPr>
          <a:xfrm>
            <a:off x="7992467" y="4305300"/>
            <a:ext cx="3488234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7992467" y="4305300"/>
            <a:ext cx="3488234" cy="0"/>
          </a:xfrm>
          <a:prstGeom prst="line">
            <a:avLst/>
          </a:prstGeom>
          <a:noFill/>
          <a:ln w="19050">
            <a:solidFill>
              <a:srgbClr val="2C6BED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1480701" y="4305300"/>
            <a:ext cx="0" cy="17780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992467" y="60833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7992467" y="4305300"/>
            <a:ext cx="0" cy="17780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8138517" y="4464050"/>
            <a:ext cx="86960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보류와 재검토</a:t>
            </a:r>
            <a:endParaRPr lang="ko-KR" sz="1250" dirty="0"/>
          </a:p>
        </p:txBody>
      </p:sp>
      <p:sp>
        <p:nvSpPr>
          <p:cNvPr id="52" name="Text 48"/>
          <p:cNvSpPr/>
          <p:nvPr/>
        </p:nvSpPr>
        <p:spPr>
          <a:xfrm>
            <a:off x="8138517" y="4737100"/>
            <a:ext cx="2511778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질문·데이터 범위가 달라지면 검증을 다시</a:t>
            </a:r>
            <a:endParaRPr lang="ko-KR" sz="1250" dirty="0"/>
          </a:p>
        </p:txBody>
      </p:sp>
      <p:sp>
        <p:nvSpPr>
          <p:cNvPr id="53" name="Text 49"/>
          <p:cNvSpPr/>
          <p:nvPr/>
        </p:nvSpPr>
        <p:spPr>
          <a:xfrm>
            <a:off x="8138517" y="4940300"/>
            <a:ext cx="264631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설계합니다. 작은 시연만으로 확대 적용하지</a:t>
            </a:r>
            <a:endParaRPr lang="ko-KR" sz="1250" dirty="0"/>
          </a:p>
        </p:txBody>
      </p:sp>
      <p:sp>
        <p:nvSpPr>
          <p:cNvPr id="54" name="Text 50"/>
          <p:cNvSpPr/>
          <p:nvPr/>
        </p:nvSpPr>
        <p:spPr>
          <a:xfrm>
            <a:off x="8138517" y="5143500"/>
            <a:ext cx="60925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않습니다.</a:t>
            </a:r>
            <a:endParaRPr lang="ko-KR" sz="1250" dirty="0"/>
          </a:p>
        </p:txBody>
      </p:sp>
      <p:sp>
        <p:nvSpPr>
          <p:cNvPr id="55" name="Text 51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56" name="Text 52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ko-KR" sz="900" dirty="0"/>
          </a:p>
        </p:txBody>
      </p:sp>
      <p:sp>
        <p:nvSpPr>
          <p:cNvPr id="57" name="Text 53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6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6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6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6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6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6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6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6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6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6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6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6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6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6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6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6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6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6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6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9" dur="6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6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4" dur="6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6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9" dur="6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6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4" dur="6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6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9" dur="6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6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4" dur="6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6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9" dur="6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6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4" dur="6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6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9" dur="6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520700"/>
            <a:ext cx="5327706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 문서를 검색 근거로 연결합니다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39725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1292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50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데이터 흐름</a:t>
            </a:r>
            <a:endParaRPr lang="ko-KR" sz="1250" dirty="0"/>
          </a:p>
        </p:txBody>
      </p:sp>
      <p:sp>
        <p:nvSpPr>
          <p:cNvPr id="5" name="Text 3"/>
          <p:cNvSpPr/>
          <p:nvPr/>
        </p:nvSpPr>
        <p:spPr>
          <a:xfrm>
            <a:off x="711200" y="1100534"/>
            <a:ext cx="5096327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→ 정제 → 검색 자료 → 답변·검토로 분기하는 가상 데이터 흐름입니다.</a:t>
            </a:r>
            <a:endParaRPr lang="ko-KR" sz="1400" dirty="0"/>
          </a:p>
        </p:txBody>
      </p:sp>
      <p:pic>
        <p:nvPicPr>
          <p:cNvPr id="6" name="Image 0" descr="가상 처리 경계 문서 정제 ID · 접근 범위 검색 자료 조각 + 문서 ID 허용 문서 본문 · 문서 ID 가상 활용 경계 답변 근거 관련 조각 선택 평가 기록 질문 · 근거 참조 원문 문서 조각 검색 검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2095500"/>
            <a:ext cx="10769600" cy="26035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1200" y="4813300"/>
            <a:ext cx="3488234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1200" y="48133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99434" y="4813300"/>
            <a:ext cx="0" cy="12700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1200" y="60833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1200" y="4813300"/>
            <a:ext cx="0" cy="12700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7250" y="495935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변환 계약</a:t>
            </a:r>
            <a:endParaRPr lang="ko-KR" sz="1250" dirty="0"/>
          </a:p>
        </p:txBody>
      </p:sp>
      <p:sp>
        <p:nvSpPr>
          <p:cNvPr id="13" name="Text 10"/>
          <p:cNvSpPr/>
          <p:nvPr/>
        </p:nvSpPr>
        <p:spPr>
          <a:xfrm>
            <a:off x="857250" y="5232400"/>
            <a:ext cx="26461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식별자와 접근 범위를 유지하며 조각을</a:t>
            </a:r>
            <a:endParaRPr lang="ko-KR" sz="1250" dirty="0"/>
          </a:p>
        </p:txBody>
      </p:sp>
      <p:sp>
        <p:nvSpPr>
          <p:cNvPr id="14" name="Text 11"/>
          <p:cNvSpPr/>
          <p:nvPr/>
        </p:nvSpPr>
        <p:spPr>
          <a:xfrm>
            <a:off x="857250" y="5435600"/>
            <a:ext cx="2548985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준비합니다. 형식 오류와 권한 검사는 별도</a:t>
            </a:r>
            <a:endParaRPr lang="ko-KR" sz="1250" dirty="0"/>
          </a:p>
        </p:txBody>
      </p:sp>
      <p:sp>
        <p:nvSpPr>
          <p:cNvPr id="15" name="Text 12"/>
          <p:cNvSpPr/>
          <p:nvPr/>
        </p:nvSpPr>
        <p:spPr>
          <a:xfrm>
            <a:off x="857250" y="5638800"/>
            <a:ext cx="74409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설계합니다.</a:t>
            </a:r>
            <a:endParaRPr lang="ko-KR" sz="1250" dirty="0"/>
          </a:p>
        </p:txBody>
      </p:sp>
      <p:sp>
        <p:nvSpPr>
          <p:cNvPr id="16" name="Shape 13"/>
          <p:cNvSpPr/>
          <p:nvPr/>
        </p:nvSpPr>
        <p:spPr>
          <a:xfrm>
            <a:off x="4351834" y="4813300"/>
            <a:ext cx="3488234" cy="12700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51834" y="4813300"/>
            <a:ext cx="3488234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40067" y="4813300"/>
            <a:ext cx="0" cy="12700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51834" y="6083300"/>
            <a:ext cx="3488234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51834" y="4813300"/>
            <a:ext cx="0" cy="127000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97884" y="495935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분기의 의미</a:t>
            </a:r>
            <a:endParaRPr lang="ko-KR" sz="1250" dirty="0"/>
          </a:p>
        </p:txBody>
      </p:sp>
      <p:sp>
        <p:nvSpPr>
          <p:cNvPr id="22" name="Text 19"/>
          <p:cNvSpPr/>
          <p:nvPr/>
        </p:nvSpPr>
        <p:spPr>
          <a:xfrm>
            <a:off x="4497884" y="5232400"/>
            <a:ext cx="268441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답변에는 관련 근거를, 평가에는 검토 기록을</a:t>
            </a:r>
            <a:endParaRPr lang="ko-KR" sz="1250" dirty="0"/>
          </a:p>
        </p:txBody>
      </p:sp>
      <p:sp>
        <p:nvSpPr>
          <p:cNvPr id="23" name="Text 20"/>
          <p:cNvSpPr/>
          <p:nvPr/>
        </p:nvSpPr>
        <p:spPr>
          <a:xfrm>
            <a:off x="4497884" y="5435600"/>
            <a:ext cx="2915995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연결합니다. 저장했다고 답변 품질이 보장되지는</a:t>
            </a:r>
            <a:endParaRPr lang="ko-KR" sz="1250" dirty="0"/>
          </a:p>
        </p:txBody>
      </p:sp>
      <p:sp>
        <p:nvSpPr>
          <p:cNvPr id="24" name="Text 21"/>
          <p:cNvSpPr/>
          <p:nvPr/>
        </p:nvSpPr>
        <p:spPr>
          <a:xfrm>
            <a:off x="4497884" y="5638800"/>
            <a:ext cx="60925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않습니다.</a:t>
            </a:r>
            <a:endParaRPr lang="ko-KR" sz="1250" dirty="0"/>
          </a:p>
        </p:txBody>
      </p:sp>
      <p:sp>
        <p:nvSpPr>
          <p:cNvPr id="25" name="Shape 22"/>
          <p:cNvSpPr/>
          <p:nvPr/>
        </p:nvSpPr>
        <p:spPr>
          <a:xfrm>
            <a:off x="7992467" y="4813300"/>
            <a:ext cx="3488234" cy="12700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992467" y="4813300"/>
            <a:ext cx="3488234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480701" y="4813300"/>
            <a:ext cx="0" cy="127000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992467" y="6083300"/>
            <a:ext cx="3488234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92467" y="4813300"/>
            <a:ext cx="0" cy="127000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38517" y="495935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범례와 한계</a:t>
            </a:r>
            <a:endParaRPr lang="ko-KR" sz="1250" dirty="0"/>
          </a:p>
        </p:txBody>
      </p:sp>
      <p:sp>
        <p:nvSpPr>
          <p:cNvPr id="31" name="Text 28"/>
          <p:cNvSpPr/>
          <p:nvPr/>
        </p:nvSpPr>
        <p:spPr>
          <a:xfrm>
            <a:off x="8138517" y="5232400"/>
            <a:ext cx="298187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실선은 제안한 데이터 전달입니다. 실제 Foundry</a:t>
            </a:r>
            <a:endParaRPr lang="ko-KR" sz="1250" dirty="0"/>
          </a:p>
        </p:txBody>
      </p:sp>
      <p:sp>
        <p:nvSpPr>
          <p:cNvPr id="32" name="Text 29"/>
          <p:cNvSpPr/>
          <p:nvPr/>
        </p:nvSpPr>
        <p:spPr>
          <a:xfrm>
            <a:off x="8138517" y="5435600"/>
            <a:ext cx="299160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구조나 자동 수집·동기화를 뜻하지 않습니다.</a:t>
            </a:r>
            <a:endParaRPr lang="ko-KR" sz="1250" dirty="0"/>
          </a:p>
        </p:txBody>
      </p:sp>
      <p:sp>
        <p:nvSpPr>
          <p:cNvPr id="33" name="Text 30"/>
          <p:cNvSpPr/>
          <p:nvPr/>
        </p:nvSpPr>
        <p:spPr>
          <a:xfrm>
            <a:off x="711200" y="6337300"/>
            <a:ext cx="835279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25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가상 예시</a:t>
            </a:r>
            <a:endParaRPr lang="ko-KR" sz="1250" dirty="0"/>
          </a:p>
        </p:txBody>
      </p:sp>
      <p:sp>
        <p:nvSpPr>
          <p:cNvPr id="34" name="Text 31"/>
          <p:cNvSpPr/>
          <p:nvPr/>
        </p:nvSpPr>
        <p:spPr>
          <a:xfrm>
            <a:off x="10591800" y="6340475"/>
            <a:ext cx="28600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25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ko-KR" sz="1250" dirty="0"/>
          </a:p>
        </p:txBody>
      </p:sp>
      <p:sp>
        <p:nvSpPr>
          <p:cNvPr id="35" name="Text 32"/>
          <p:cNvSpPr/>
          <p:nvPr/>
        </p:nvSpPr>
        <p:spPr>
          <a:xfrm>
            <a:off x="10845800" y="6340475"/>
            <a:ext cx="66700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25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520700"/>
            <a:ext cx="5327706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요청과 근거 반환을 구분합니다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39725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985695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50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호출 순서</a:t>
            </a:r>
            <a:endParaRPr lang="ko-KR" sz="1250" dirty="0"/>
          </a:p>
        </p:txBody>
      </p:sp>
      <p:sp>
        <p:nvSpPr>
          <p:cNvPr id="5" name="Text 3"/>
          <p:cNvSpPr/>
          <p:nvPr/>
        </p:nvSpPr>
        <p:spPr>
          <a:xfrm>
            <a:off x="711200" y="1100534"/>
            <a:ext cx="5004947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응용 → 에이전트 → 검색 도구의 정상 경로를 단순화한 가상 시퀀스입니다.</a:t>
            </a:r>
            <a:endParaRPr lang="ko-KR" sz="1400" dirty="0"/>
          </a:p>
        </p:txBody>
      </p:sp>
      <p:pic>
        <p:nvPicPr>
          <p:cNvPr id="6" name="Image 0" descr="응용 에이전트 검색 도구 1 · 질문 요청 2 · 근거 검색 3 · 근거 반환 4 · 답변 반환 실선 · 요청 점선 · 응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2095500"/>
            <a:ext cx="7366000" cy="40314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2095500"/>
            <a:ext cx="3251200" cy="1267619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2095500"/>
            <a:ext cx="3251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80800" y="2095500"/>
            <a:ext cx="0" cy="1267619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0" y="3363119"/>
            <a:ext cx="3251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0" y="2095500"/>
            <a:ext cx="0" cy="1267619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88350" y="2254250"/>
            <a:ext cx="434138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참여자</a:t>
            </a:r>
            <a:endParaRPr lang="ko-KR" sz="1250" dirty="0"/>
          </a:p>
        </p:txBody>
      </p:sp>
      <p:sp>
        <p:nvSpPr>
          <p:cNvPr id="13" name="Text 10"/>
          <p:cNvSpPr/>
          <p:nvPr/>
        </p:nvSpPr>
        <p:spPr>
          <a:xfrm>
            <a:off x="8388350" y="2533650"/>
            <a:ext cx="257150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응용은 질문을 보내고 에이전트는 도구로</a:t>
            </a:r>
            <a:endParaRPr lang="ko-KR" sz="1300" dirty="0"/>
          </a:p>
        </p:txBody>
      </p:sp>
      <p:sp>
        <p:nvSpPr>
          <p:cNvPr id="14" name="Text 11"/>
          <p:cNvSpPr/>
          <p:nvPr/>
        </p:nvSpPr>
        <p:spPr>
          <a:xfrm>
            <a:off x="8388350" y="2761456"/>
            <a:ext cx="293008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근거를 요청합니다. 도구는 허용된 검색 결과를</a:t>
            </a:r>
            <a:endParaRPr lang="ko-KR" sz="1300" dirty="0"/>
          </a:p>
        </p:txBody>
      </p:sp>
      <p:sp>
        <p:nvSpPr>
          <p:cNvPr id="15" name="Text 12"/>
          <p:cNvSpPr/>
          <p:nvPr/>
        </p:nvSpPr>
        <p:spPr>
          <a:xfrm>
            <a:off x="8388350" y="2989263"/>
            <a:ext cx="77257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반환합니다.</a:t>
            </a:r>
            <a:endParaRPr lang="ko-KR" sz="1300" dirty="0"/>
          </a:p>
        </p:txBody>
      </p:sp>
      <p:sp>
        <p:nvSpPr>
          <p:cNvPr id="16" name="Shape 13"/>
          <p:cNvSpPr/>
          <p:nvPr/>
        </p:nvSpPr>
        <p:spPr>
          <a:xfrm>
            <a:off x="8229600" y="3477419"/>
            <a:ext cx="3251200" cy="1267619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0" y="3477419"/>
            <a:ext cx="3251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480800" y="3477419"/>
            <a:ext cx="0" cy="1267619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4745038"/>
            <a:ext cx="3251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29600" y="3477419"/>
            <a:ext cx="0" cy="1267619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88350" y="3636169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반환 순서</a:t>
            </a:r>
            <a:endParaRPr lang="ko-KR" sz="1250" dirty="0"/>
          </a:p>
        </p:txBody>
      </p:sp>
      <p:sp>
        <p:nvSpPr>
          <p:cNvPr id="22" name="Text 19"/>
          <p:cNvSpPr/>
          <p:nvPr/>
        </p:nvSpPr>
        <p:spPr>
          <a:xfrm>
            <a:off x="8388350" y="3915569"/>
            <a:ext cx="282888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근거를 받은 뒤 답변을 구성합니다. 세로</a:t>
            </a:r>
            <a:endParaRPr lang="ko-KR" sz="1300" dirty="0"/>
          </a:p>
        </p:txBody>
      </p:sp>
      <p:sp>
        <p:nvSpPr>
          <p:cNvPr id="23" name="Text 20"/>
          <p:cNvSpPr/>
          <p:nvPr/>
        </p:nvSpPr>
        <p:spPr>
          <a:xfrm>
            <a:off x="8388350" y="4143375"/>
            <a:ext cx="261050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간격과 화살표 길이는 지연 시간을 뜻하지</a:t>
            </a:r>
            <a:endParaRPr lang="ko-KR" sz="1300" dirty="0"/>
          </a:p>
        </p:txBody>
      </p:sp>
      <p:sp>
        <p:nvSpPr>
          <p:cNvPr id="24" name="Text 21"/>
          <p:cNvSpPr/>
          <p:nvPr/>
        </p:nvSpPr>
        <p:spPr>
          <a:xfrm>
            <a:off x="8388350" y="4371181"/>
            <a:ext cx="63237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않습니다.</a:t>
            </a:r>
            <a:endParaRPr lang="ko-KR" sz="1300" dirty="0"/>
          </a:p>
        </p:txBody>
      </p:sp>
      <p:sp>
        <p:nvSpPr>
          <p:cNvPr id="25" name="Shape 22"/>
          <p:cNvSpPr/>
          <p:nvPr/>
        </p:nvSpPr>
        <p:spPr>
          <a:xfrm>
            <a:off x="8229600" y="4859338"/>
            <a:ext cx="3251200" cy="1267619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29600" y="4859338"/>
            <a:ext cx="3251200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480800" y="4859338"/>
            <a:ext cx="0" cy="1267619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29600" y="6126956"/>
            <a:ext cx="3251200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229600" y="4859338"/>
            <a:ext cx="0" cy="1267619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388350" y="5018088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생략한 조건</a:t>
            </a:r>
            <a:endParaRPr lang="ko-KR" sz="1250" dirty="0"/>
          </a:p>
        </p:txBody>
      </p:sp>
      <p:sp>
        <p:nvSpPr>
          <p:cNvPr id="31" name="Text 28"/>
          <p:cNvSpPr/>
          <p:nvPr/>
        </p:nvSpPr>
        <p:spPr>
          <a:xfrm>
            <a:off x="8388350" y="5297488"/>
            <a:ext cx="283056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모델 호출·추가 도구·승인·오류·재시도는</a:t>
            </a:r>
            <a:endParaRPr lang="ko-KR" sz="1300" dirty="0"/>
          </a:p>
        </p:txBody>
      </p:sp>
      <p:sp>
        <p:nvSpPr>
          <p:cNvPr id="32" name="Text 29"/>
          <p:cNvSpPr/>
          <p:nvPr/>
        </p:nvSpPr>
        <p:spPr>
          <a:xfrm>
            <a:off x="8388350" y="5525294"/>
            <a:ext cx="295826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생략했습니다. 특정 SDK 호출 순서를 보장하지</a:t>
            </a:r>
            <a:endParaRPr lang="ko-KR" sz="1300" dirty="0"/>
          </a:p>
        </p:txBody>
      </p:sp>
      <p:sp>
        <p:nvSpPr>
          <p:cNvPr id="33" name="Text 30"/>
          <p:cNvSpPr/>
          <p:nvPr/>
        </p:nvSpPr>
        <p:spPr>
          <a:xfrm>
            <a:off x="8388350" y="5753100"/>
            <a:ext cx="63237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않습니다.</a:t>
            </a:r>
            <a:endParaRPr lang="ko-KR" sz="1300" dirty="0"/>
          </a:p>
        </p:txBody>
      </p:sp>
      <p:sp>
        <p:nvSpPr>
          <p:cNvPr id="34" name="Text 31"/>
          <p:cNvSpPr/>
          <p:nvPr/>
        </p:nvSpPr>
        <p:spPr>
          <a:xfrm>
            <a:off x="711200" y="6337300"/>
            <a:ext cx="835279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25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가상 예시</a:t>
            </a:r>
            <a:endParaRPr lang="ko-KR" sz="1250" dirty="0"/>
          </a:p>
        </p:txBody>
      </p:sp>
      <p:sp>
        <p:nvSpPr>
          <p:cNvPr id="35" name="Text 32"/>
          <p:cNvSpPr/>
          <p:nvPr/>
        </p:nvSpPr>
        <p:spPr>
          <a:xfrm>
            <a:off x="10591800" y="6340475"/>
            <a:ext cx="28600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25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ko-KR" sz="1250" dirty="0"/>
          </a:p>
        </p:txBody>
      </p:sp>
      <p:sp>
        <p:nvSpPr>
          <p:cNvPr id="36" name="Text 33"/>
          <p:cNvSpPr/>
          <p:nvPr/>
        </p:nvSpPr>
        <p:spPr>
          <a:xfrm>
            <a:off x="10845800" y="6340475"/>
            <a:ext cx="66700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25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6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520700"/>
            <a:ext cx="5327706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 경로와 작업 권한은 별개입니다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39725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985695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50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접근 경계</a:t>
            </a:r>
            <a:endParaRPr lang="ko-KR" sz="1250" dirty="0"/>
          </a:p>
        </p:txBody>
      </p:sp>
      <p:sp>
        <p:nvSpPr>
          <p:cNvPr id="5" name="Text 3"/>
          <p:cNvSpPr/>
          <p:nvPr/>
        </p:nvSpPr>
        <p:spPr>
          <a:xfrm>
            <a:off x="711200" y="1100534"/>
            <a:ext cx="5705332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Q&amp;A 응용의 가상 접근 경계입니다. 실제 Azure 배포도나 사설 연결 보장이 아닙니다.</a:t>
            </a:r>
            <a:endParaRPr lang="ko-KR" sz="1400" dirty="0"/>
          </a:p>
        </p:txBody>
      </p:sp>
      <p:pic>
        <p:nvPicPr>
          <p:cNvPr id="6" name="Image 0" descr="가상 서비스 구역 가상 실행 구역 가상 데이터 구역 문서 Q&amp;A 응용 게이트웨이 외부 직원 접속 전달 읽기 직접 접근 · 차단 의도 실선 · 허용 의도 점선 × · 차단 의도 점 테두리 · 가상 구역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2095500"/>
            <a:ext cx="7366000" cy="40314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2095500"/>
            <a:ext cx="3251200" cy="1267619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2095500"/>
            <a:ext cx="3251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80800" y="2095500"/>
            <a:ext cx="0" cy="1267619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0" y="3363119"/>
            <a:ext cx="3251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0" y="2095500"/>
            <a:ext cx="0" cy="1267619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88350" y="225425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구조의 의미</a:t>
            </a:r>
            <a:endParaRPr lang="ko-KR" sz="1250" dirty="0"/>
          </a:p>
        </p:txBody>
      </p:sp>
      <p:sp>
        <p:nvSpPr>
          <p:cNvPr id="13" name="Text 10"/>
          <p:cNvSpPr/>
          <p:nvPr/>
        </p:nvSpPr>
        <p:spPr>
          <a:xfrm>
            <a:off x="8388350" y="2533650"/>
            <a:ext cx="254997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사용자, 진입점, 업무 응용과 문서 자료를</a:t>
            </a:r>
            <a:endParaRPr lang="ko-KR" sz="1300" dirty="0"/>
          </a:p>
        </p:txBody>
      </p:sp>
      <p:sp>
        <p:nvSpPr>
          <p:cNvPr id="14" name="Text 11"/>
          <p:cNvSpPr/>
          <p:nvPr/>
        </p:nvSpPr>
        <p:spPr>
          <a:xfrm>
            <a:off x="8388350" y="2761456"/>
            <a:ext cx="183193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논리적 구역으로 나눴습니다.</a:t>
            </a:r>
            <a:endParaRPr lang="ko-KR" sz="1300" dirty="0"/>
          </a:p>
        </p:txBody>
      </p:sp>
      <p:sp>
        <p:nvSpPr>
          <p:cNvPr id="15" name="Shape 12"/>
          <p:cNvSpPr/>
          <p:nvPr/>
        </p:nvSpPr>
        <p:spPr>
          <a:xfrm>
            <a:off x="8229600" y="3477419"/>
            <a:ext cx="3251200" cy="1267619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3477419"/>
            <a:ext cx="3251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480800" y="3477419"/>
            <a:ext cx="0" cy="1267619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0" y="4745038"/>
            <a:ext cx="3251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3477419"/>
            <a:ext cx="0" cy="1267619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88350" y="3636169"/>
            <a:ext cx="141352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 검증 · 신원과 정책</a:t>
            </a:r>
            <a:endParaRPr lang="ko-KR" sz="1250" dirty="0"/>
          </a:p>
        </p:txBody>
      </p:sp>
      <p:sp>
        <p:nvSpPr>
          <p:cNvPr id="21" name="Text 18"/>
          <p:cNvSpPr/>
          <p:nvPr/>
        </p:nvSpPr>
        <p:spPr>
          <a:xfrm>
            <a:off x="8388350" y="3915569"/>
            <a:ext cx="278959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경로가 열려 있어도 신원과 작업 권한은 따로</a:t>
            </a:r>
            <a:endParaRPr lang="ko-KR" sz="1300" dirty="0"/>
          </a:p>
        </p:txBody>
      </p:sp>
      <p:sp>
        <p:nvSpPr>
          <p:cNvPr id="22" name="Text 19"/>
          <p:cNvSpPr/>
          <p:nvPr/>
        </p:nvSpPr>
        <p:spPr>
          <a:xfrm>
            <a:off x="8388350" y="4143375"/>
            <a:ext cx="233030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확인합니다. 관리 경로와 정책 전파는</a:t>
            </a:r>
            <a:endParaRPr lang="ko-KR" sz="1300" dirty="0"/>
          </a:p>
        </p:txBody>
      </p:sp>
      <p:sp>
        <p:nvSpPr>
          <p:cNvPr id="23" name="Text 20"/>
          <p:cNvSpPr/>
          <p:nvPr/>
        </p:nvSpPr>
        <p:spPr>
          <a:xfrm>
            <a:off x="8388350" y="4371181"/>
            <a:ext cx="9127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생략했습니다.</a:t>
            </a:r>
            <a:endParaRPr lang="ko-KR" sz="1300" dirty="0"/>
          </a:p>
        </p:txBody>
      </p:sp>
      <p:sp>
        <p:nvSpPr>
          <p:cNvPr id="24" name="Shape 21"/>
          <p:cNvSpPr/>
          <p:nvPr/>
        </p:nvSpPr>
        <p:spPr>
          <a:xfrm>
            <a:off x="8229600" y="4859338"/>
            <a:ext cx="3251200" cy="1267619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29600" y="4859338"/>
            <a:ext cx="3251200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1480800" y="4859338"/>
            <a:ext cx="0" cy="1267619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29600" y="6126956"/>
            <a:ext cx="3251200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29600" y="4859338"/>
            <a:ext cx="0" cy="1267619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88350" y="5018088"/>
            <a:ext cx="103709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차단 기호의 한계</a:t>
            </a:r>
            <a:endParaRPr lang="ko-KR" sz="1250" dirty="0"/>
          </a:p>
        </p:txBody>
      </p:sp>
      <p:sp>
        <p:nvSpPr>
          <p:cNvPr id="30" name="Text 27"/>
          <p:cNvSpPr/>
          <p:nvPr/>
        </p:nvSpPr>
        <p:spPr>
          <a:xfrm>
            <a:off x="8388350" y="5297488"/>
            <a:ext cx="295766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차단 표시는 의도입니다. 실제 네트워크·RBAC·</a:t>
            </a:r>
            <a:endParaRPr lang="ko-KR" sz="1300" dirty="0"/>
          </a:p>
        </p:txBody>
      </p:sp>
      <p:sp>
        <p:nvSpPr>
          <p:cNvPr id="31" name="Text 28"/>
          <p:cNvSpPr/>
          <p:nvPr/>
        </p:nvSpPr>
        <p:spPr>
          <a:xfrm>
            <a:off x="8388350" y="5525294"/>
            <a:ext cx="293028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접근 설정과 시험으로 검증해야 합니다.</a:t>
            </a:r>
            <a:endParaRPr lang="ko-KR" sz="1300" dirty="0"/>
          </a:p>
        </p:txBody>
      </p:sp>
      <p:sp>
        <p:nvSpPr>
          <p:cNvPr id="32" name="Text 29"/>
          <p:cNvSpPr/>
          <p:nvPr/>
        </p:nvSpPr>
        <p:spPr>
          <a:xfrm>
            <a:off x="711200" y="6337300"/>
            <a:ext cx="835279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25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가상 예시</a:t>
            </a:r>
            <a:endParaRPr lang="ko-KR" sz="1250" dirty="0"/>
          </a:p>
        </p:txBody>
      </p:sp>
      <p:sp>
        <p:nvSpPr>
          <p:cNvPr id="33" name="Text 30"/>
          <p:cNvSpPr/>
          <p:nvPr/>
        </p:nvSpPr>
        <p:spPr>
          <a:xfrm>
            <a:off x="10591800" y="6340475"/>
            <a:ext cx="28600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25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ko-KR" sz="1250" dirty="0"/>
          </a:p>
        </p:txBody>
      </p:sp>
      <p:sp>
        <p:nvSpPr>
          <p:cNvPr id="34" name="Text 31"/>
          <p:cNvSpPr/>
          <p:nvPr/>
        </p:nvSpPr>
        <p:spPr>
          <a:xfrm>
            <a:off x="10845800" y="6340475"/>
            <a:ext cx="66700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25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520700"/>
            <a:ext cx="5660684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차트는 단위와 표본부터 읽습니다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39725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65241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50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지표</a:t>
            </a:r>
            <a:endParaRPr lang="ko-KR" sz="1250" dirty="0"/>
          </a:p>
        </p:txBody>
      </p:sp>
      <p:sp>
        <p:nvSpPr>
          <p:cNvPr id="5" name="Text 3"/>
          <p:cNvSpPr/>
          <p:nvPr/>
        </p:nvSpPr>
        <p:spPr>
          <a:xfrm>
            <a:off x="711200" y="1100534"/>
            <a:ext cx="5434465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검토 건수 40·65·85건을 0~100건 축에 표시합니다. 실측 성능이 아닙니다.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711200" y="2095500"/>
            <a:ext cx="6858000" cy="398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7" name="Image 0" descr="가상 예시 · 실측 아님 검토 건수 (건) 100 50 0 40건 65건 85건 세트 A 세트 B 세트 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2095500"/>
            <a:ext cx="6858000" cy="2844800"/>
          </a:xfrm>
          <a:prstGeom prst="rect">
            <a:avLst/>
          </a:prstGeom>
        </p:spPr>
      </p:pic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200" y="5216525"/>
          <a:ext cx="6858000" cy="863600"/>
        </p:xfrm>
        <a:graphic>
          <a:graphicData uri="http://schemas.openxmlformats.org/drawingml/2006/table">
            <a:tbl>
              <a:tblPr/>
              <a:tblGrid>
                <a:gridCol w="3781326"/>
                <a:gridCol w="3070324"/>
              </a:tblGrid>
              <a:tr h="2878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세트 A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78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세트 B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793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세트 C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85건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11200" y="4940300"/>
            <a:ext cx="6858000" cy="27305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515916" y="4978400"/>
            <a:ext cx="128047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 대조표 · 단위: 건</a:t>
            </a:r>
            <a:endParaRPr lang="ko-KR" sz="1300" dirty="0"/>
          </a:p>
        </p:txBody>
      </p:sp>
      <p:sp>
        <p:nvSpPr>
          <p:cNvPr id="11" name="Shape 7"/>
          <p:cNvSpPr/>
          <p:nvPr/>
        </p:nvSpPr>
        <p:spPr>
          <a:xfrm>
            <a:off x="7721600" y="2095500"/>
            <a:ext cx="3759200" cy="1253034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721600" y="2095500"/>
            <a:ext cx="3759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1480800" y="2095500"/>
            <a:ext cx="0" cy="1253034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21600" y="3348534"/>
            <a:ext cx="3759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21600" y="2095500"/>
            <a:ext cx="0" cy="1253034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880350" y="225425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정의</a:t>
            </a:r>
            <a:endParaRPr lang="ko-KR" sz="1250" dirty="0"/>
          </a:p>
        </p:txBody>
      </p:sp>
      <p:sp>
        <p:nvSpPr>
          <p:cNvPr id="17" name="Text 13"/>
          <p:cNvSpPr/>
          <p:nvPr/>
        </p:nvSpPr>
        <p:spPr>
          <a:xfrm>
            <a:off x="7880350" y="2533650"/>
            <a:ext cx="346844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 정의는 검토한 질문 수입니다. 정답률, 처리 속도나</a:t>
            </a:r>
            <a:endParaRPr lang="ko-KR" sz="1300" dirty="0"/>
          </a:p>
        </p:txBody>
      </p:sp>
      <p:sp>
        <p:nvSpPr>
          <p:cNvPr id="18" name="Text 14"/>
          <p:cNvSpPr/>
          <p:nvPr/>
        </p:nvSpPr>
        <p:spPr>
          <a:xfrm>
            <a:off x="7880350" y="2761456"/>
            <a:ext cx="155153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절감률이 아닙니다.</a:t>
            </a:r>
            <a:endParaRPr lang="ko-KR" sz="1300" dirty="0"/>
          </a:p>
        </p:txBody>
      </p:sp>
      <p:sp>
        <p:nvSpPr>
          <p:cNvPr id="19" name="Shape 15"/>
          <p:cNvSpPr/>
          <p:nvPr/>
        </p:nvSpPr>
        <p:spPr>
          <a:xfrm>
            <a:off x="7721600" y="3462834"/>
            <a:ext cx="3759200" cy="125303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721600" y="3462834"/>
            <a:ext cx="3759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480800" y="3462834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721600" y="4715867"/>
            <a:ext cx="3759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721600" y="3462834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880350" y="3621584"/>
            <a:ext cx="978055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해석 · 비교 구간</a:t>
            </a:r>
            <a:endParaRPr lang="ko-KR" sz="1250" dirty="0"/>
          </a:p>
        </p:txBody>
      </p:sp>
      <p:sp>
        <p:nvSpPr>
          <p:cNvPr id="25" name="Text 21"/>
          <p:cNvSpPr/>
          <p:nvPr/>
        </p:nvSpPr>
        <p:spPr>
          <a:xfrm>
            <a:off x="7880350" y="3900984"/>
            <a:ext cx="343937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 C의 수가 더 많아도 품질 우위를 뜻하지 않습니다.</a:t>
            </a:r>
            <a:endParaRPr lang="ko-KR" sz="1300" dirty="0"/>
          </a:p>
        </p:txBody>
      </p:sp>
      <p:sp>
        <p:nvSpPr>
          <p:cNvPr id="26" name="Text 22"/>
          <p:cNvSpPr/>
          <p:nvPr/>
        </p:nvSpPr>
        <p:spPr>
          <a:xfrm>
            <a:off x="7880350" y="4128790"/>
            <a:ext cx="237049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기간·입력량·질문 구성을 함께 봅니다.</a:t>
            </a:r>
            <a:endParaRPr lang="ko-KR" sz="1300" dirty="0"/>
          </a:p>
        </p:txBody>
      </p:sp>
      <p:sp>
        <p:nvSpPr>
          <p:cNvPr id="27" name="Shape 23"/>
          <p:cNvSpPr/>
          <p:nvPr/>
        </p:nvSpPr>
        <p:spPr>
          <a:xfrm>
            <a:off x="7721600" y="4830167"/>
            <a:ext cx="3759200" cy="1253034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721600" y="4830167"/>
            <a:ext cx="3759200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1480800" y="4830167"/>
            <a:ext cx="0" cy="1253034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721600" y="6083201"/>
            <a:ext cx="3759200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721600" y="4830167"/>
            <a:ext cx="0" cy="1253034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880350" y="4988917"/>
            <a:ext cx="103709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표본과 출처 한계</a:t>
            </a:r>
            <a:endParaRPr lang="ko-KR" sz="1250" dirty="0"/>
          </a:p>
        </p:txBody>
      </p:sp>
      <p:sp>
        <p:nvSpPr>
          <p:cNvPr id="33" name="Text 29"/>
          <p:cNvSpPr/>
          <p:nvPr/>
        </p:nvSpPr>
        <p:spPr>
          <a:xfrm>
            <a:off x="7880350" y="5268317"/>
            <a:ext cx="324996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레이아웃 설명용 가상 데이터입니다. 실제 평가·고객</a:t>
            </a:r>
            <a:endParaRPr lang="ko-KR" sz="1300" dirty="0"/>
          </a:p>
        </p:txBody>
      </p:sp>
      <p:sp>
        <p:nvSpPr>
          <p:cNvPr id="34" name="Text 30"/>
          <p:cNvSpPr/>
          <p:nvPr/>
        </p:nvSpPr>
        <p:spPr>
          <a:xfrm>
            <a:off x="7880350" y="5496123"/>
            <a:ext cx="261139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성과·모델 벤치마크로 인용하지 않습니다.</a:t>
            </a:r>
            <a:endParaRPr lang="ko-KR" sz="1300" dirty="0"/>
          </a:p>
        </p:txBody>
      </p:sp>
      <p:sp>
        <p:nvSpPr>
          <p:cNvPr id="35" name="Text 31"/>
          <p:cNvSpPr/>
          <p:nvPr/>
        </p:nvSpPr>
        <p:spPr>
          <a:xfrm>
            <a:off x="711200" y="6337300"/>
            <a:ext cx="835279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25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가상 예시</a:t>
            </a:r>
            <a:endParaRPr lang="ko-KR" sz="1250" dirty="0"/>
          </a:p>
        </p:txBody>
      </p:sp>
      <p:sp>
        <p:nvSpPr>
          <p:cNvPr id="36" name="Text 32"/>
          <p:cNvSpPr/>
          <p:nvPr/>
        </p:nvSpPr>
        <p:spPr>
          <a:xfrm>
            <a:off x="10591800" y="6340475"/>
            <a:ext cx="28600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25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ko-KR" sz="1250" dirty="0"/>
          </a:p>
        </p:txBody>
      </p:sp>
      <p:sp>
        <p:nvSpPr>
          <p:cNvPr id="37" name="Text 33"/>
          <p:cNvSpPr/>
          <p:nvPr/>
        </p:nvSpPr>
        <p:spPr>
          <a:xfrm>
            <a:off x="10845800" y="6340475"/>
            <a:ext cx="66700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25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6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6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6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520700"/>
            <a:ext cx="5327706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확인 지점을 코드로 설명합니다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39725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41183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50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해설 · 실행 불가</a:t>
            </a:r>
            <a:endParaRPr lang="ko-KR" sz="1250" dirty="0"/>
          </a:p>
        </p:txBody>
      </p:sp>
      <p:sp>
        <p:nvSpPr>
          <p:cNvPr id="5" name="Text 3"/>
          <p:cNvSpPr/>
          <p:nvPr/>
        </p:nvSpPr>
        <p:spPr>
          <a:xfrm>
            <a:off x="711200" y="1100534"/>
            <a:ext cx="6016184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권한, 검색, 근거 부족 시 행동을 읽는 의사 코드입니다. 실행 가능한 SDK 예제가 아닙니다.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711200" y="2095500"/>
            <a:ext cx="6858000" cy="39878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1200" y="2095500"/>
            <a:ext cx="6858000" cy="0"/>
          </a:xfrm>
          <a:prstGeom prst="line">
            <a:avLst/>
          </a:prstGeom>
          <a:noFill/>
          <a:ln w="38100">
            <a:solidFill>
              <a:srgbClr val="2C6B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9000" y="2305050"/>
            <a:ext cx="1998420" cy="259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의사 코드 · 실행 불가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889000" y="2798763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ko-KR" sz="1350" dirty="0"/>
          </a:p>
        </p:txBody>
      </p:sp>
      <p:sp>
        <p:nvSpPr>
          <p:cNvPr id="10" name="Text 8"/>
          <p:cNvSpPr/>
          <p:nvPr/>
        </p:nvSpPr>
        <p:spPr>
          <a:xfrm>
            <a:off x="1094780" y="2798763"/>
            <a:ext cx="219229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INPUT question, user</a:t>
            </a:r>
            <a:endParaRPr lang="ko-KR" sz="1350" dirty="0"/>
          </a:p>
        </p:txBody>
      </p:sp>
      <p:sp>
        <p:nvSpPr>
          <p:cNvPr id="11" name="Text 9"/>
          <p:cNvSpPr/>
          <p:nvPr/>
        </p:nvSpPr>
        <p:spPr>
          <a:xfrm>
            <a:off x="889000" y="3167063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ko-KR" sz="1350" dirty="0"/>
          </a:p>
        </p:txBody>
      </p:sp>
      <p:sp>
        <p:nvSpPr>
          <p:cNvPr id="12" name="Text 10"/>
          <p:cNvSpPr/>
          <p:nvPr/>
        </p:nvSpPr>
        <p:spPr>
          <a:xfrm>
            <a:off x="1094780" y="3167063"/>
            <a:ext cx="2500963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scope = authorize(user)</a:t>
            </a:r>
            <a:endParaRPr lang="ko-KR" sz="1350" dirty="0"/>
          </a:p>
        </p:txBody>
      </p:sp>
      <p:sp>
        <p:nvSpPr>
          <p:cNvPr id="13" name="Text 11"/>
          <p:cNvSpPr/>
          <p:nvPr/>
        </p:nvSpPr>
        <p:spPr>
          <a:xfrm>
            <a:off x="889000" y="3535363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ko-KR" sz="1350" dirty="0"/>
          </a:p>
        </p:txBody>
      </p:sp>
      <p:sp>
        <p:nvSpPr>
          <p:cNvPr id="14" name="Text 12"/>
          <p:cNvSpPr/>
          <p:nvPr/>
        </p:nvSpPr>
        <p:spPr>
          <a:xfrm>
            <a:off x="1094780" y="3535363"/>
            <a:ext cx="363245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evidence = search(question, scope)</a:t>
            </a:r>
            <a:endParaRPr lang="ko-KR" sz="1350" dirty="0"/>
          </a:p>
        </p:txBody>
      </p:sp>
      <p:sp>
        <p:nvSpPr>
          <p:cNvPr id="15" name="Text 13"/>
          <p:cNvSpPr/>
          <p:nvPr/>
        </p:nvSpPr>
        <p:spPr>
          <a:xfrm>
            <a:off x="889000" y="3903663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ko-KR" sz="1350" dirty="0"/>
          </a:p>
        </p:txBody>
      </p:sp>
      <p:sp>
        <p:nvSpPr>
          <p:cNvPr id="16" name="Text 14"/>
          <p:cNvSpPr/>
          <p:nvPr/>
        </p:nvSpPr>
        <p:spPr>
          <a:xfrm>
            <a:off x="1094780" y="3903663"/>
            <a:ext cx="311810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IF empty(evidence): ASK HUMAN</a:t>
            </a:r>
            <a:endParaRPr lang="ko-KR" sz="1350" dirty="0"/>
          </a:p>
        </p:txBody>
      </p:sp>
      <p:sp>
        <p:nvSpPr>
          <p:cNvPr id="17" name="Text 15"/>
          <p:cNvSpPr/>
          <p:nvPr/>
        </p:nvSpPr>
        <p:spPr>
          <a:xfrm>
            <a:off x="889000" y="4271963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ko-KR" sz="1350" dirty="0"/>
          </a:p>
        </p:txBody>
      </p:sp>
      <p:sp>
        <p:nvSpPr>
          <p:cNvPr id="18" name="Text 16"/>
          <p:cNvSpPr/>
          <p:nvPr/>
        </p:nvSpPr>
        <p:spPr>
          <a:xfrm>
            <a:off x="1094780" y="4271963"/>
            <a:ext cx="383823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answer = compose(question, evidence)</a:t>
            </a:r>
            <a:endParaRPr lang="ko-KR" sz="1350" dirty="0"/>
          </a:p>
        </p:txBody>
      </p:sp>
      <p:sp>
        <p:nvSpPr>
          <p:cNvPr id="19" name="Text 17"/>
          <p:cNvSpPr/>
          <p:nvPr/>
        </p:nvSpPr>
        <p:spPr>
          <a:xfrm>
            <a:off x="889000" y="4640263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ko-KR" sz="1350" dirty="0"/>
          </a:p>
        </p:txBody>
      </p:sp>
      <p:sp>
        <p:nvSpPr>
          <p:cNvPr id="20" name="Text 18"/>
          <p:cNvSpPr/>
          <p:nvPr/>
        </p:nvSpPr>
        <p:spPr>
          <a:xfrm>
            <a:off x="1094780" y="4640263"/>
            <a:ext cx="311810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record_refs(answer, evidence)</a:t>
            </a:r>
            <a:endParaRPr lang="ko-KR" sz="1350" dirty="0"/>
          </a:p>
        </p:txBody>
      </p:sp>
      <p:sp>
        <p:nvSpPr>
          <p:cNvPr id="21" name="Text 19"/>
          <p:cNvSpPr/>
          <p:nvPr/>
        </p:nvSpPr>
        <p:spPr>
          <a:xfrm>
            <a:off x="889000" y="5008563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ko-KR" sz="1350" dirty="0"/>
          </a:p>
        </p:txBody>
      </p:sp>
      <p:sp>
        <p:nvSpPr>
          <p:cNvPr id="22" name="Text 20"/>
          <p:cNvSpPr/>
          <p:nvPr/>
        </p:nvSpPr>
        <p:spPr>
          <a:xfrm>
            <a:off x="1094780" y="5008563"/>
            <a:ext cx="1472263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EAF0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RETURN answer</a:t>
            </a:r>
            <a:endParaRPr lang="ko-KR" sz="1350" dirty="0"/>
          </a:p>
        </p:txBody>
      </p:sp>
      <p:sp>
        <p:nvSpPr>
          <p:cNvPr id="23" name="Shape 21"/>
          <p:cNvSpPr/>
          <p:nvPr/>
        </p:nvSpPr>
        <p:spPr>
          <a:xfrm>
            <a:off x="7721600" y="2095500"/>
            <a:ext cx="3759200" cy="125303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21600" y="2095500"/>
            <a:ext cx="3759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80800" y="2095500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21600" y="3348534"/>
            <a:ext cx="37592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21600" y="2095500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80350" y="2247900"/>
            <a:ext cx="1310239" cy="259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02행 · 권한 확인</a:t>
            </a:r>
            <a:endParaRPr lang="ko-KR" sz="1600" dirty="0"/>
          </a:p>
        </p:txBody>
      </p:sp>
      <p:sp>
        <p:nvSpPr>
          <p:cNvPr id="29" name="Text 27"/>
          <p:cNvSpPr/>
          <p:nvPr/>
        </p:nvSpPr>
        <p:spPr>
          <a:xfrm>
            <a:off x="7880350" y="2595563"/>
            <a:ext cx="320373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2행은 허용 자료 범위를 확인하는 설계 지점입니다.</a:t>
            </a:r>
            <a:endParaRPr lang="ko-KR" sz="1300" dirty="0"/>
          </a:p>
        </p:txBody>
      </p:sp>
      <p:sp>
        <p:nvSpPr>
          <p:cNvPr id="30" name="Text 28"/>
          <p:cNvSpPr/>
          <p:nvPr/>
        </p:nvSpPr>
        <p:spPr>
          <a:xfrm>
            <a:off x="7880350" y="2823369"/>
            <a:ext cx="275119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지침만으로 권한을 통제하지 않습니다.</a:t>
            </a:r>
            <a:endParaRPr lang="ko-KR" sz="1300" dirty="0"/>
          </a:p>
        </p:txBody>
      </p:sp>
      <p:sp>
        <p:nvSpPr>
          <p:cNvPr id="31" name="Shape 29"/>
          <p:cNvSpPr/>
          <p:nvPr/>
        </p:nvSpPr>
        <p:spPr>
          <a:xfrm>
            <a:off x="7721600" y="3462834"/>
            <a:ext cx="3759200" cy="1253034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21600" y="3462834"/>
            <a:ext cx="3759200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480800" y="3462834"/>
            <a:ext cx="0" cy="1253034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21600" y="4715867"/>
            <a:ext cx="3759200" cy="0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21600" y="3462834"/>
            <a:ext cx="0" cy="1253034"/>
          </a:xfrm>
          <a:prstGeom prst="line">
            <a:avLst/>
          </a:prstGeom>
          <a:noFill/>
          <a:ln w="6350">
            <a:solidFill>
              <a:srgbClr val="E5EDF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80350" y="3615234"/>
            <a:ext cx="1319764" cy="259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04행 · 근거 부족</a:t>
            </a:r>
            <a:endParaRPr lang="ko-KR" sz="1600" dirty="0"/>
          </a:p>
        </p:txBody>
      </p:sp>
      <p:sp>
        <p:nvSpPr>
          <p:cNvPr id="37" name="Text 35"/>
          <p:cNvSpPr/>
          <p:nvPr/>
        </p:nvSpPr>
        <p:spPr>
          <a:xfrm>
            <a:off x="7880350" y="3962896"/>
            <a:ext cx="275000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4행은 근거가 없을 때 추가 확인을 요청하는</a:t>
            </a:r>
            <a:endParaRPr lang="ko-KR" sz="1300" dirty="0"/>
          </a:p>
        </p:txBody>
      </p:sp>
      <p:sp>
        <p:nvSpPr>
          <p:cNvPr id="38" name="Text 36"/>
          <p:cNvSpPr/>
          <p:nvPr/>
        </p:nvSpPr>
        <p:spPr>
          <a:xfrm>
            <a:off x="7880350" y="4190702"/>
            <a:ext cx="310977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분기입니다. 빈 결과를 성공으로 숨기지 않습니다.</a:t>
            </a:r>
            <a:endParaRPr lang="ko-KR" sz="1300" dirty="0"/>
          </a:p>
        </p:txBody>
      </p:sp>
      <p:sp>
        <p:nvSpPr>
          <p:cNvPr id="39" name="Shape 37"/>
          <p:cNvSpPr/>
          <p:nvPr/>
        </p:nvSpPr>
        <p:spPr>
          <a:xfrm>
            <a:off x="7721600" y="4830167"/>
            <a:ext cx="3759200" cy="1253034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21600" y="4830167"/>
            <a:ext cx="3759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480800" y="4830167"/>
            <a:ext cx="0" cy="1253034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21600" y="6083201"/>
            <a:ext cx="3759200" cy="0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21600" y="4830167"/>
            <a:ext cx="0" cy="1253034"/>
          </a:xfrm>
          <a:prstGeom prst="line">
            <a:avLst/>
          </a:prstGeom>
          <a:noFill/>
          <a:ln w="6350">
            <a:solidFill>
              <a:srgbClr val="0E23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80350" y="4982567"/>
            <a:ext cx="1316788" cy="259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06행 · 참조 기록</a:t>
            </a:r>
            <a:endParaRPr lang="ko-KR" sz="1600" dirty="0"/>
          </a:p>
        </p:txBody>
      </p:sp>
      <p:sp>
        <p:nvSpPr>
          <p:cNvPr id="45" name="Text 43"/>
          <p:cNvSpPr/>
          <p:nvPr/>
        </p:nvSpPr>
        <p:spPr>
          <a:xfrm>
            <a:off x="7880350" y="5330230"/>
            <a:ext cx="302890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6행은 근거와 응답 기록을 연결하는 지점입니다.</a:t>
            </a:r>
            <a:endParaRPr lang="ko-KR" sz="1300" dirty="0"/>
          </a:p>
        </p:txBody>
      </p:sp>
      <p:sp>
        <p:nvSpPr>
          <p:cNvPr id="46" name="Text 44"/>
          <p:cNvSpPr/>
          <p:nvPr/>
        </p:nvSpPr>
        <p:spPr>
          <a:xfrm>
            <a:off x="7880350" y="5558036"/>
            <a:ext cx="261099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민감한 원문은 무조건 기록하지 않습니다.</a:t>
            </a:r>
            <a:endParaRPr lang="ko-KR" sz="1300" dirty="0"/>
          </a:p>
        </p:txBody>
      </p:sp>
      <p:sp>
        <p:nvSpPr>
          <p:cNvPr id="47" name="Text 45"/>
          <p:cNvSpPr/>
          <p:nvPr/>
        </p:nvSpPr>
        <p:spPr>
          <a:xfrm>
            <a:off x="711200" y="6337300"/>
            <a:ext cx="835279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25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가상 예시</a:t>
            </a:r>
            <a:endParaRPr lang="ko-KR" sz="1250" dirty="0"/>
          </a:p>
        </p:txBody>
      </p:sp>
      <p:sp>
        <p:nvSpPr>
          <p:cNvPr id="48" name="Text 46"/>
          <p:cNvSpPr/>
          <p:nvPr/>
        </p:nvSpPr>
        <p:spPr>
          <a:xfrm>
            <a:off x="10591800" y="6340475"/>
            <a:ext cx="28600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25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ko-KR" sz="1250" dirty="0"/>
          </a:p>
        </p:txBody>
      </p:sp>
      <p:sp>
        <p:nvSpPr>
          <p:cNvPr id="49" name="Text 47"/>
          <p:cNvSpPr/>
          <p:nvPr/>
        </p:nvSpPr>
        <p:spPr>
          <a:xfrm>
            <a:off x="10845800" y="6340475"/>
            <a:ext cx="66700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25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6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6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6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6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6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6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6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6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6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6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6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6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6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6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6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6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6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6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6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9" dur="6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5660684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 범위와 근거로 응답을 분기합니다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8608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DECISION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6053094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Q&amp;A 설계입니다. 자료 접근 허용 여부와 검색 근거의 충분함은 서로 다른 판단입니다.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1534220" y="2438400"/>
            <a:ext cx="5212655" cy="6985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34220" y="2438400"/>
            <a:ext cx="5212655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46875" y="2438400"/>
            <a:ext cx="0" cy="6985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34220" y="3136900"/>
            <a:ext cx="5212655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34220" y="2438400"/>
            <a:ext cx="0" cy="6985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5361" y="2552700"/>
            <a:ext cx="1902277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접근이 허용된 자료인가요?</a:t>
            </a:r>
            <a:endParaRPr lang="ko-KR" sz="1450" dirty="0"/>
          </a:p>
        </p:txBody>
      </p:sp>
      <p:sp>
        <p:nvSpPr>
          <p:cNvPr id="12" name="Text 10"/>
          <p:cNvSpPr/>
          <p:nvPr/>
        </p:nvSpPr>
        <p:spPr>
          <a:xfrm>
            <a:off x="2950270" y="2846189"/>
            <a:ext cx="2412559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사용자와 자료의 허용 범위를 확인합니다.</a:t>
            </a:r>
            <a:endParaRPr lang="ko-KR" sz="1200" dirty="0"/>
          </a:p>
        </p:txBody>
      </p:sp>
      <p:sp>
        <p:nvSpPr>
          <p:cNvPr id="13" name="Text 11"/>
          <p:cNvSpPr/>
          <p:nvPr/>
        </p:nvSpPr>
        <p:spPr>
          <a:xfrm>
            <a:off x="2099667" y="3264297"/>
            <a:ext cx="63991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아니오 ↓</a:t>
            </a:r>
            <a:endParaRPr lang="ko-KR" sz="1300" dirty="0"/>
          </a:p>
        </p:txBody>
      </p:sp>
      <p:sp>
        <p:nvSpPr>
          <p:cNvPr id="14" name="Text 12"/>
          <p:cNvSpPr/>
          <p:nvPr/>
        </p:nvSpPr>
        <p:spPr>
          <a:xfrm>
            <a:off x="5713710" y="3264297"/>
            <a:ext cx="35952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↓</a:t>
            </a:r>
            <a:endParaRPr lang="ko-KR" sz="1300" dirty="0"/>
          </a:p>
        </p:txBody>
      </p:sp>
      <p:sp>
        <p:nvSpPr>
          <p:cNvPr id="15" name="Shape 13"/>
          <p:cNvSpPr/>
          <p:nvPr/>
        </p:nvSpPr>
        <p:spPr>
          <a:xfrm>
            <a:off x="711200" y="3594100"/>
            <a:ext cx="3384947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1200" y="3594100"/>
            <a:ext cx="338494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96147" y="3594100"/>
            <a:ext cx="0" cy="8128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200" y="4406900"/>
            <a:ext cx="338494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1200" y="3594100"/>
            <a:ext cx="0" cy="8128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7250" y="3708400"/>
            <a:ext cx="1306270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접근을 중단합니다</a:t>
            </a:r>
            <a:endParaRPr lang="ko-KR" sz="1450" dirty="0"/>
          </a:p>
        </p:txBody>
      </p:sp>
      <p:sp>
        <p:nvSpPr>
          <p:cNvPr id="21" name="Text 19"/>
          <p:cNvSpPr/>
          <p:nvPr/>
        </p:nvSpPr>
        <p:spPr>
          <a:xfrm>
            <a:off x="857250" y="4001889"/>
            <a:ext cx="2707438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권한을 우회하지 않고 거절 이유를 안내합니다.</a:t>
            </a:r>
            <a:endParaRPr lang="ko-KR" sz="1200" dirty="0"/>
          </a:p>
        </p:txBody>
      </p:sp>
      <p:sp>
        <p:nvSpPr>
          <p:cNvPr id="22" name="Shape 20"/>
          <p:cNvSpPr/>
          <p:nvPr/>
        </p:nvSpPr>
        <p:spPr>
          <a:xfrm>
            <a:off x="4185047" y="3594100"/>
            <a:ext cx="3384947" cy="8128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85047" y="3594100"/>
            <a:ext cx="338494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69994" y="3594100"/>
            <a:ext cx="0" cy="8128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85047" y="4406900"/>
            <a:ext cx="338494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85047" y="3594100"/>
            <a:ext cx="0" cy="8128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31097" y="3708400"/>
            <a:ext cx="1747695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근거가 충분한가요?</a:t>
            </a:r>
            <a:endParaRPr lang="ko-KR" sz="1450" dirty="0"/>
          </a:p>
        </p:txBody>
      </p:sp>
      <p:sp>
        <p:nvSpPr>
          <p:cNvPr id="28" name="Text 26"/>
          <p:cNvSpPr/>
          <p:nvPr/>
        </p:nvSpPr>
        <p:spPr>
          <a:xfrm>
            <a:off x="4331097" y="4001889"/>
            <a:ext cx="2283178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문서와 질문의 대응을 확인합니다.</a:t>
            </a:r>
            <a:endParaRPr lang="ko-KR" sz="1200" dirty="0"/>
          </a:p>
        </p:txBody>
      </p:sp>
      <p:sp>
        <p:nvSpPr>
          <p:cNvPr id="29" name="Text 27"/>
          <p:cNvSpPr/>
          <p:nvPr/>
        </p:nvSpPr>
        <p:spPr>
          <a:xfrm>
            <a:off x="4845248" y="4521597"/>
            <a:ext cx="35952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↓</a:t>
            </a:r>
            <a:endParaRPr lang="ko-KR" sz="1300" dirty="0"/>
          </a:p>
        </p:txBody>
      </p:sp>
      <p:sp>
        <p:nvSpPr>
          <p:cNvPr id="30" name="Text 28"/>
          <p:cNvSpPr/>
          <p:nvPr/>
        </p:nvSpPr>
        <p:spPr>
          <a:xfrm>
            <a:off x="6441976" y="4521597"/>
            <a:ext cx="63991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아니오 ↓</a:t>
            </a:r>
            <a:endParaRPr lang="ko-KR" sz="1300" dirty="0"/>
          </a:p>
        </p:txBody>
      </p:sp>
      <p:sp>
        <p:nvSpPr>
          <p:cNvPr id="31" name="Shape 29"/>
          <p:cNvSpPr/>
          <p:nvPr/>
        </p:nvSpPr>
        <p:spPr>
          <a:xfrm>
            <a:off x="4185047" y="4838700"/>
            <a:ext cx="1648023" cy="9017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85047" y="4838700"/>
            <a:ext cx="1648023" cy="0"/>
          </a:xfrm>
          <a:prstGeom prst="line">
            <a:avLst/>
          </a:prstGeom>
          <a:noFill/>
          <a:ln w="31750">
            <a:solidFill>
              <a:srgbClr val="2C6B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33070" y="4838700"/>
            <a:ext cx="0" cy="901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85047" y="5740400"/>
            <a:ext cx="1648023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85047" y="4838700"/>
            <a:ext cx="0" cy="901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2997" y="4965700"/>
            <a:ext cx="75878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32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근거와 답변</a:t>
            </a:r>
            <a:endParaRPr lang="ko-KR" sz="1300" dirty="0"/>
          </a:p>
        </p:txBody>
      </p:sp>
      <p:sp>
        <p:nvSpPr>
          <p:cNvPr id="37" name="Text 35"/>
          <p:cNvSpPr/>
          <p:nvPr/>
        </p:nvSpPr>
        <p:spPr>
          <a:xfrm>
            <a:off x="4292997" y="5236666"/>
            <a:ext cx="1317780" cy="18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100" spc="-16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참조를 남겨 검토합니다.</a:t>
            </a:r>
            <a:endParaRPr lang="ko-KR" sz="1100" dirty="0"/>
          </a:p>
        </p:txBody>
      </p:sp>
      <p:sp>
        <p:nvSpPr>
          <p:cNvPr id="38" name="Shape 36"/>
          <p:cNvSpPr/>
          <p:nvPr/>
        </p:nvSpPr>
        <p:spPr>
          <a:xfrm>
            <a:off x="5921970" y="4838700"/>
            <a:ext cx="1648023" cy="9017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21970" y="4838700"/>
            <a:ext cx="1648023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69994" y="4838700"/>
            <a:ext cx="0" cy="901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21970" y="5740400"/>
            <a:ext cx="1648023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21970" y="4838700"/>
            <a:ext cx="0" cy="901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29920" y="4940300"/>
            <a:ext cx="62027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32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확인</a:t>
            </a:r>
            <a:endParaRPr lang="ko-KR" sz="1300" dirty="0"/>
          </a:p>
        </p:txBody>
      </p:sp>
      <p:sp>
        <p:nvSpPr>
          <p:cNvPr id="44" name="Text 42"/>
          <p:cNvSpPr/>
          <p:nvPr/>
        </p:nvSpPr>
        <p:spPr>
          <a:xfrm>
            <a:off x="6029920" y="5211266"/>
            <a:ext cx="1436445" cy="18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100" spc="-16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정보나 검토를 요청합니다.</a:t>
            </a:r>
            <a:endParaRPr lang="ko-KR" sz="1100" dirty="0"/>
          </a:p>
        </p:txBody>
      </p:sp>
      <p:sp>
        <p:nvSpPr>
          <p:cNvPr id="45" name="Shape 43"/>
          <p:cNvSpPr/>
          <p:nvPr/>
        </p:nvSpPr>
        <p:spPr>
          <a:xfrm>
            <a:off x="7773194" y="2095500"/>
            <a:ext cx="3707606" cy="125303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73194" y="2095500"/>
            <a:ext cx="3707606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480800" y="2095500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73194" y="3348534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73194" y="2095500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19244" y="226060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기준</a:t>
            </a:r>
            <a:endParaRPr lang="ko-KR" sz="1250" dirty="0"/>
          </a:p>
        </p:txBody>
      </p:sp>
      <p:sp>
        <p:nvSpPr>
          <p:cNvPr id="51" name="Text 49"/>
          <p:cNvSpPr/>
          <p:nvPr/>
        </p:nvSpPr>
        <p:spPr>
          <a:xfrm>
            <a:off x="7919244" y="2533650"/>
            <a:ext cx="326058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 허용은 응용의 통제 지점에서 확인합니다. 모델의</a:t>
            </a:r>
            <a:endParaRPr lang="ko-KR" sz="1250" dirty="0"/>
          </a:p>
        </p:txBody>
      </p:sp>
      <p:sp>
        <p:nvSpPr>
          <p:cNvPr id="52" name="Text 50"/>
          <p:cNvSpPr/>
          <p:nvPr/>
        </p:nvSpPr>
        <p:spPr>
          <a:xfrm>
            <a:off x="7919244" y="2743200"/>
            <a:ext cx="220469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지침만으로 대신하지 않습니다.</a:t>
            </a:r>
            <a:endParaRPr lang="ko-KR" sz="1250" dirty="0"/>
          </a:p>
        </p:txBody>
      </p:sp>
      <p:sp>
        <p:nvSpPr>
          <p:cNvPr id="53" name="Shape 51"/>
          <p:cNvSpPr/>
          <p:nvPr/>
        </p:nvSpPr>
        <p:spPr>
          <a:xfrm>
            <a:off x="7773194" y="3462834"/>
            <a:ext cx="3707606" cy="125303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3194" y="3462834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480800" y="3462834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73194" y="4715867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73194" y="3462834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19244" y="3608884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관점</a:t>
            </a:r>
            <a:endParaRPr lang="ko-KR" sz="1250" dirty="0"/>
          </a:p>
        </p:txBody>
      </p:sp>
      <p:sp>
        <p:nvSpPr>
          <p:cNvPr id="59" name="Text 57"/>
          <p:cNvSpPr/>
          <p:nvPr/>
        </p:nvSpPr>
        <p:spPr>
          <a:xfrm>
            <a:off x="7919244" y="3881934"/>
            <a:ext cx="316314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허용된 자료라도 답변 근거가 부족할 수 있습니다. 두</a:t>
            </a:r>
            <a:endParaRPr lang="ko-KR" sz="1250" dirty="0"/>
          </a:p>
        </p:txBody>
      </p:sp>
      <p:sp>
        <p:nvSpPr>
          <p:cNvPr id="60" name="Text 58"/>
          <p:cNvSpPr/>
          <p:nvPr/>
        </p:nvSpPr>
        <p:spPr>
          <a:xfrm>
            <a:off x="7919244" y="4091484"/>
            <a:ext cx="19350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조건의 실패 경로를 구분합니다.</a:t>
            </a:r>
            <a:endParaRPr lang="ko-KR" sz="1250" dirty="0"/>
          </a:p>
        </p:txBody>
      </p:sp>
      <p:sp>
        <p:nvSpPr>
          <p:cNvPr id="61" name="Shape 59"/>
          <p:cNvSpPr/>
          <p:nvPr/>
        </p:nvSpPr>
        <p:spPr>
          <a:xfrm>
            <a:off x="7773194" y="4830167"/>
            <a:ext cx="3707606" cy="1253034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3194" y="4830167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80800" y="4830167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73194" y="6083201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773194" y="4830167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19244" y="4976217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범위와 한계</a:t>
            </a:r>
            <a:endParaRPr lang="ko-KR" sz="1250" dirty="0"/>
          </a:p>
        </p:txBody>
      </p:sp>
      <p:sp>
        <p:nvSpPr>
          <p:cNvPr id="67" name="Text 65"/>
          <p:cNvSpPr/>
          <p:nvPr/>
        </p:nvSpPr>
        <p:spPr>
          <a:xfrm>
            <a:off x="7919244" y="5249267"/>
            <a:ext cx="329898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설명용 분기입니다. 실제 인증·오류·재시도와 사람 검토</a:t>
            </a:r>
            <a:endParaRPr lang="ko-KR" sz="1250" dirty="0"/>
          </a:p>
        </p:txBody>
      </p:sp>
      <p:sp>
        <p:nvSpPr>
          <p:cNvPr id="68" name="Text 66"/>
          <p:cNvSpPr/>
          <p:nvPr/>
        </p:nvSpPr>
        <p:spPr>
          <a:xfrm>
            <a:off x="7919244" y="5458817"/>
            <a:ext cx="19350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절차는 별도 구현이 필요합니다.</a:t>
            </a:r>
            <a:endParaRPr lang="ko-KR" sz="1250" dirty="0"/>
          </a:p>
        </p:txBody>
      </p:sp>
      <p:sp>
        <p:nvSpPr>
          <p:cNvPr id="69" name="Text 67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70" name="Text 68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ko-KR" sz="900" dirty="0"/>
          </a:p>
        </p:txBody>
      </p:sp>
      <p:sp>
        <p:nvSpPr>
          <p:cNvPr id="71" name="Text 69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6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6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6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6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6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6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6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6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6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6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6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6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6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6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6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6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6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6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6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9" dur="6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6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4" dur="6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6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9" dur="6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6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4" dur="6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6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9" dur="6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6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4" dur="6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6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9" dur="6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6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4" dur="6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6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9" dur="6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6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74" dur="6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6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79" dur="6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6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84" dur="6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6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89" dur="6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6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4" dur="6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6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9" dur="6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6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04" dur="6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6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09" dur="6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6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14" dur="62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6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19" dur="62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6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24" dur="62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6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29" dur="62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6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34" dur="62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6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39" dur="62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6734925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확장보다 업무와 통제의 기반을 먼저 놓습니다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7592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PYRAMID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6695337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도입 원칙을 기반·검증·확장의 세 층으로 읽습니다. 공식 제품 계층이나 성숙도 점수가 아닙니다.</a:t>
            </a:r>
            <a:endParaRPr 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2494459" y="2337197"/>
            <a:ext cx="3292177" cy="95250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94459" y="2337197"/>
            <a:ext cx="329217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86636" y="2337197"/>
            <a:ext cx="0" cy="9525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94459" y="3289697"/>
            <a:ext cx="329217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94459" y="2337197"/>
            <a:ext cx="0" cy="9525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5970" y="2502297"/>
            <a:ext cx="1041059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범위 확장</a:t>
            </a:r>
            <a:endParaRPr lang="ko-KR" sz="1450" dirty="0"/>
          </a:p>
        </p:txBody>
      </p:sp>
      <p:sp>
        <p:nvSpPr>
          <p:cNvPr id="12" name="Text 10"/>
          <p:cNvSpPr/>
          <p:nvPr/>
        </p:nvSpPr>
        <p:spPr>
          <a:xfrm>
            <a:off x="3227090" y="2795786"/>
            <a:ext cx="1858919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업무와 사용자를 검토합니다.</a:t>
            </a:r>
            <a:endParaRPr lang="ko-KR" sz="1200" dirty="0"/>
          </a:p>
        </p:txBody>
      </p:sp>
      <p:sp>
        <p:nvSpPr>
          <p:cNvPr id="13" name="Shape 11"/>
          <p:cNvSpPr/>
          <p:nvPr/>
        </p:nvSpPr>
        <p:spPr>
          <a:xfrm>
            <a:off x="1671439" y="3403997"/>
            <a:ext cx="4938316" cy="9525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71439" y="3403997"/>
            <a:ext cx="493831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09755" y="3403997"/>
            <a:ext cx="0" cy="9525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71439" y="4356497"/>
            <a:ext cx="493831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71439" y="3403997"/>
            <a:ext cx="0" cy="9525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1358" y="3569097"/>
            <a:ext cx="1190482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평가와 검토</a:t>
            </a:r>
            <a:endParaRPr lang="ko-KR" sz="1450" dirty="0"/>
          </a:p>
        </p:txBody>
      </p:sp>
      <p:sp>
        <p:nvSpPr>
          <p:cNvPr id="19" name="Text 17"/>
          <p:cNvSpPr/>
          <p:nvPr/>
        </p:nvSpPr>
        <p:spPr>
          <a:xfrm>
            <a:off x="2849166" y="3862586"/>
            <a:ext cx="2614867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질문·실패 조건·운영 신호를 확인합니다.</a:t>
            </a:r>
            <a:endParaRPr lang="ko-KR" sz="1200" dirty="0"/>
          </a:p>
        </p:txBody>
      </p:sp>
      <p:sp>
        <p:nvSpPr>
          <p:cNvPr id="20" name="Shape 18"/>
          <p:cNvSpPr/>
          <p:nvPr/>
        </p:nvSpPr>
        <p:spPr>
          <a:xfrm>
            <a:off x="711200" y="4470797"/>
            <a:ext cx="6858794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1200" y="4470797"/>
            <a:ext cx="6858794" cy="0"/>
          </a:xfrm>
          <a:prstGeom prst="line">
            <a:avLst/>
          </a:prstGeom>
          <a:noFill/>
          <a:ln w="31750">
            <a:solidFill>
              <a:srgbClr val="2C6B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69994" y="4470797"/>
            <a:ext cx="0" cy="9525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1200" y="5423297"/>
            <a:ext cx="685879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1200" y="4470797"/>
            <a:ext cx="0" cy="9525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74355" y="4661297"/>
            <a:ext cx="1164388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업무와 통제</a:t>
            </a:r>
            <a:endParaRPr lang="ko-KR" sz="1450" dirty="0"/>
          </a:p>
        </p:txBody>
      </p:sp>
      <p:sp>
        <p:nvSpPr>
          <p:cNvPr id="26" name="Text 24"/>
          <p:cNvSpPr/>
          <p:nvPr/>
        </p:nvSpPr>
        <p:spPr>
          <a:xfrm>
            <a:off x="2849166" y="4954786"/>
            <a:ext cx="2614867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범위·접근 조건·담당 책임을 합의합니다.</a:t>
            </a:r>
            <a:endParaRPr lang="ko-KR" sz="1200" dirty="0"/>
          </a:p>
        </p:txBody>
      </p:sp>
      <p:sp>
        <p:nvSpPr>
          <p:cNvPr id="27" name="Text 25"/>
          <p:cNvSpPr/>
          <p:nvPr/>
        </p:nvSpPr>
        <p:spPr>
          <a:xfrm>
            <a:off x="2282428" y="5626497"/>
            <a:ext cx="37482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 기반부터 위 확장으로 · 면적은 정량 데이터가 아닙니다</a:t>
            </a:r>
            <a:endParaRPr lang="ko-KR" sz="1300" dirty="0"/>
          </a:p>
        </p:txBody>
      </p:sp>
      <p:sp>
        <p:nvSpPr>
          <p:cNvPr id="28" name="Shape 26"/>
          <p:cNvSpPr/>
          <p:nvPr/>
        </p:nvSpPr>
        <p:spPr>
          <a:xfrm>
            <a:off x="7773194" y="2095500"/>
            <a:ext cx="3707606" cy="125303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3194" y="2095500"/>
            <a:ext cx="3707606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480800" y="2095500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3194" y="3348534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3194" y="2095500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19244" y="226060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기준</a:t>
            </a:r>
            <a:endParaRPr lang="ko-KR" sz="1250" dirty="0"/>
          </a:p>
        </p:txBody>
      </p:sp>
      <p:sp>
        <p:nvSpPr>
          <p:cNvPr id="34" name="Text 32"/>
          <p:cNvSpPr/>
          <p:nvPr/>
        </p:nvSpPr>
        <p:spPr>
          <a:xfrm>
            <a:off x="7919244" y="2533650"/>
            <a:ext cx="302900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기반에는 업무 범위, 자료 접근 조건과 허용 행동을</a:t>
            </a:r>
            <a:endParaRPr lang="ko-KR" sz="1250" dirty="0"/>
          </a:p>
        </p:txBody>
      </p:sp>
      <p:sp>
        <p:nvSpPr>
          <p:cNvPr id="35" name="Text 33"/>
          <p:cNvSpPr/>
          <p:nvPr/>
        </p:nvSpPr>
        <p:spPr>
          <a:xfrm>
            <a:off x="7919244" y="2743200"/>
            <a:ext cx="2279805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둡니다. 기능 수보다 먼저 합의합니다.</a:t>
            </a:r>
            <a:endParaRPr lang="ko-KR" sz="1250" dirty="0"/>
          </a:p>
        </p:txBody>
      </p:sp>
      <p:sp>
        <p:nvSpPr>
          <p:cNvPr id="36" name="Shape 34"/>
          <p:cNvSpPr/>
          <p:nvPr/>
        </p:nvSpPr>
        <p:spPr>
          <a:xfrm>
            <a:off x="7773194" y="3462834"/>
            <a:ext cx="3707606" cy="125303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3194" y="3462834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480800" y="3462834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3194" y="4715867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73194" y="3462834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19244" y="3608884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관점</a:t>
            </a:r>
            <a:endParaRPr lang="ko-KR" sz="1250" dirty="0"/>
          </a:p>
        </p:txBody>
      </p:sp>
      <p:sp>
        <p:nvSpPr>
          <p:cNvPr id="42" name="Text 40"/>
          <p:cNvSpPr/>
          <p:nvPr/>
        </p:nvSpPr>
        <p:spPr>
          <a:xfrm>
            <a:off x="7919244" y="3881934"/>
            <a:ext cx="316314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질문과 실패 조건을 검증한 뒤 범위를 넓힙니다.</a:t>
            </a:r>
            <a:endParaRPr lang="ko-KR" sz="1250" dirty="0"/>
          </a:p>
        </p:txBody>
      </p:sp>
      <p:sp>
        <p:nvSpPr>
          <p:cNvPr id="43" name="Text 41"/>
          <p:cNvSpPr/>
          <p:nvPr/>
        </p:nvSpPr>
        <p:spPr>
          <a:xfrm>
            <a:off x="7919244" y="4091484"/>
            <a:ext cx="2414445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기록을 다음 단계의 근거로 씁니다.</a:t>
            </a:r>
            <a:endParaRPr lang="ko-KR" sz="1250" dirty="0"/>
          </a:p>
        </p:txBody>
      </p:sp>
      <p:sp>
        <p:nvSpPr>
          <p:cNvPr id="44" name="Shape 42"/>
          <p:cNvSpPr/>
          <p:nvPr/>
        </p:nvSpPr>
        <p:spPr>
          <a:xfrm>
            <a:off x="7773194" y="4830167"/>
            <a:ext cx="3707606" cy="1253034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3194" y="4830167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480800" y="4830167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73194" y="6083201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73194" y="4830167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19244" y="4976217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범위와 한계</a:t>
            </a:r>
            <a:endParaRPr lang="ko-KR" sz="1250" dirty="0"/>
          </a:p>
        </p:txBody>
      </p:sp>
      <p:sp>
        <p:nvSpPr>
          <p:cNvPr id="50" name="Text 48"/>
          <p:cNvSpPr/>
          <p:nvPr/>
        </p:nvSpPr>
        <p:spPr>
          <a:xfrm>
            <a:off x="7919244" y="5249267"/>
            <a:ext cx="326058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층의 면적과 높이는 수치가 아닙니다. 실제 도입에서는</a:t>
            </a:r>
            <a:endParaRPr lang="ko-KR" sz="1250" dirty="0"/>
          </a:p>
        </p:txBody>
      </p:sp>
      <p:sp>
        <p:nvSpPr>
          <p:cNvPr id="51" name="Text 49"/>
          <p:cNvSpPr/>
          <p:nvPr/>
        </p:nvSpPr>
        <p:spPr>
          <a:xfrm>
            <a:off x="7919244" y="5458817"/>
            <a:ext cx="2069858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병렬 작업과 재검토가 가능합니다.</a:t>
            </a:r>
            <a:endParaRPr lang="ko-KR" sz="1250" dirty="0"/>
          </a:p>
        </p:txBody>
      </p:sp>
      <p:sp>
        <p:nvSpPr>
          <p:cNvPr id="52" name="Text 50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53" name="Text 51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</a:t>
            </a:r>
            <a:endParaRPr lang="ko-KR" sz="900" dirty="0"/>
          </a:p>
        </p:txBody>
      </p:sp>
      <p:sp>
        <p:nvSpPr>
          <p:cNvPr id="54" name="Text 52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6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6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6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6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6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6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6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6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6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6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6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6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6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6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6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6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6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6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6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9" dur="6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6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4" dur="6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6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9" dur="6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6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4" dur="6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6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9" dur="6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6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4" dur="6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6810331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후보를 검증 가능한 작은 범위로 좁힙니다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6576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FUNNEL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5671499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업무 선정 흐름입니다. 도입 사례의 수량·전환율·성과를 측정한 퍼널이 아닙니다.</a:t>
            </a:r>
            <a:endParaRPr lang="ko-KR" sz="1400" dirty="0"/>
          </a:p>
        </p:txBody>
      </p:sp>
      <p:pic>
        <p:nvPicPr>
          <p:cNvPr id="6" name="Image 0" descr="CSS deco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2184797"/>
            <a:ext cx="6858794" cy="800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12480" y="2299097"/>
            <a:ext cx="688138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후보</a:t>
            </a:r>
            <a:endParaRPr lang="ko-KR" sz="1450" dirty="0"/>
          </a:p>
        </p:txBody>
      </p:sp>
      <p:sp>
        <p:nvSpPr>
          <p:cNvPr id="8" name="Text 5"/>
          <p:cNvSpPr/>
          <p:nvPr/>
        </p:nvSpPr>
        <p:spPr>
          <a:xfrm>
            <a:off x="3079750" y="2592586"/>
            <a:ext cx="2153698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질문과 자료 위치를 살펴봅니다.</a:t>
            </a:r>
            <a:endParaRPr lang="ko-KR" sz="1200" dirty="0"/>
          </a:p>
        </p:txBody>
      </p:sp>
      <p:pic>
        <p:nvPicPr>
          <p:cNvPr id="9" name="Image 1" descr="CSS decor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209" y="3061097"/>
            <a:ext cx="5692775" cy="8001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12480" y="3175397"/>
            <a:ext cx="688138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확인</a:t>
            </a:r>
            <a:endParaRPr lang="ko-KR" sz="1450" dirty="0"/>
          </a:p>
        </p:txBody>
      </p:sp>
      <p:sp>
        <p:nvSpPr>
          <p:cNvPr id="11" name="Text 7"/>
          <p:cNvSpPr/>
          <p:nvPr/>
        </p:nvSpPr>
        <p:spPr>
          <a:xfrm>
            <a:off x="3079750" y="3468886"/>
            <a:ext cx="2153698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 범위와 이용 조건을 확인합니다.</a:t>
            </a:r>
            <a:endParaRPr lang="ko-KR" sz="1200" dirty="0"/>
          </a:p>
        </p:txBody>
      </p:sp>
      <p:pic>
        <p:nvPicPr>
          <p:cNvPr id="12" name="Image 2" descr="CSS decor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219" y="3937397"/>
            <a:ext cx="4526756" cy="8001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12480" y="4051697"/>
            <a:ext cx="688138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 실험</a:t>
            </a:r>
            <a:endParaRPr lang="ko-KR" sz="1450" dirty="0"/>
          </a:p>
        </p:txBody>
      </p:sp>
      <p:sp>
        <p:nvSpPr>
          <p:cNvPr id="14" name="Text 9"/>
          <p:cNvSpPr/>
          <p:nvPr/>
        </p:nvSpPr>
        <p:spPr>
          <a:xfrm>
            <a:off x="3079750" y="4345186"/>
            <a:ext cx="2153698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질문과 실패 조건을 검토합니다.</a:t>
            </a:r>
            <a:endParaRPr lang="ko-KR" sz="1200" dirty="0"/>
          </a:p>
        </p:txBody>
      </p:sp>
      <p:pic>
        <p:nvPicPr>
          <p:cNvPr id="15" name="Image 3" descr="CSS decor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0228" y="4813697"/>
            <a:ext cx="3360738" cy="8001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812480" y="4927997"/>
            <a:ext cx="688138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 합의</a:t>
            </a:r>
            <a:endParaRPr lang="ko-KR" sz="1450" dirty="0"/>
          </a:p>
        </p:txBody>
      </p:sp>
      <p:sp>
        <p:nvSpPr>
          <p:cNvPr id="17" name="Text 11"/>
          <p:cNvSpPr/>
          <p:nvPr/>
        </p:nvSpPr>
        <p:spPr>
          <a:xfrm>
            <a:off x="3227090" y="5221486"/>
            <a:ext cx="1858919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담당자와 남은 질문을 남깁니다.</a:t>
            </a:r>
            <a:endParaRPr lang="ko-KR" sz="1200" dirty="0"/>
          </a:p>
        </p:txBody>
      </p:sp>
      <p:sp>
        <p:nvSpPr>
          <p:cNvPr id="18" name="Text 12"/>
          <p:cNvSpPr/>
          <p:nvPr/>
        </p:nvSpPr>
        <p:spPr>
          <a:xfrm>
            <a:off x="2212380" y="5778897"/>
            <a:ext cx="388843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선정 기준으로 범위를 좁힙니다 · 폭은 실제 전환율이 아닙니다</a:t>
            </a:r>
            <a:endParaRPr lang="ko-KR" sz="1300" dirty="0"/>
          </a:p>
        </p:txBody>
      </p:sp>
      <p:sp>
        <p:nvSpPr>
          <p:cNvPr id="19" name="Shape 13"/>
          <p:cNvSpPr/>
          <p:nvPr/>
        </p:nvSpPr>
        <p:spPr>
          <a:xfrm>
            <a:off x="7773194" y="2095500"/>
            <a:ext cx="3707606" cy="125303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773194" y="2095500"/>
            <a:ext cx="3707606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480800" y="2095500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773194" y="3348534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773194" y="2095500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919244" y="226060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기준</a:t>
            </a:r>
            <a:endParaRPr lang="ko-KR" sz="1250" dirty="0"/>
          </a:p>
        </p:txBody>
      </p:sp>
      <p:sp>
        <p:nvSpPr>
          <p:cNvPr id="25" name="Text 19"/>
          <p:cNvSpPr/>
          <p:nvPr/>
        </p:nvSpPr>
        <p:spPr>
          <a:xfrm>
            <a:off x="7919244" y="2533650"/>
            <a:ext cx="295320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질문과 자료 위치가 명확한 업무부터 후보로</a:t>
            </a:r>
            <a:endParaRPr lang="ko-KR" sz="1250" dirty="0"/>
          </a:p>
        </p:txBody>
      </p:sp>
      <p:sp>
        <p:nvSpPr>
          <p:cNvPr id="26" name="Text 20"/>
          <p:cNvSpPr/>
          <p:nvPr/>
        </p:nvSpPr>
        <p:spPr>
          <a:xfrm>
            <a:off x="7919244" y="2743200"/>
            <a:ext cx="2721725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모읍니다. 자료 이용 조건을 함께 확인합니다.</a:t>
            </a:r>
            <a:endParaRPr lang="ko-KR" sz="1250" dirty="0"/>
          </a:p>
        </p:txBody>
      </p:sp>
      <p:sp>
        <p:nvSpPr>
          <p:cNvPr id="27" name="Shape 21"/>
          <p:cNvSpPr/>
          <p:nvPr/>
        </p:nvSpPr>
        <p:spPr>
          <a:xfrm>
            <a:off x="7773194" y="3462834"/>
            <a:ext cx="3707606" cy="125303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773194" y="3462834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1480800" y="3462834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773194" y="4715867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773194" y="3462834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919244" y="3608884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관점</a:t>
            </a:r>
            <a:endParaRPr lang="ko-KR" sz="1250" dirty="0"/>
          </a:p>
        </p:txBody>
      </p:sp>
      <p:sp>
        <p:nvSpPr>
          <p:cNvPr id="33" name="Text 27"/>
          <p:cNvSpPr/>
          <p:nvPr/>
        </p:nvSpPr>
        <p:spPr>
          <a:xfrm>
            <a:off x="7919244" y="3881934"/>
            <a:ext cx="308804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실험에서 확인할 질문과 제외할 행동을 명확히</a:t>
            </a:r>
            <a:endParaRPr lang="ko-KR" sz="1250" dirty="0"/>
          </a:p>
        </p:txBody>
      </p:sp>
      <p:sp>
        <p:nvSpPr>
          <p:cNvPr id="34" name="Text 28"/>
          <p:cNvSpPr/>
          <p:nvPr/>
        </p:nvSpPr>
        <p:spPr>
          <a:xfrm>
            <a:off x="7919244" y="4091484"/>
            <a:ext cx="210756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합니다. 보류한 이유도 기록합니다.</a:t>
            </a:r>
            <a:endParaRPr lang="ko-KR" sz="1250" dirty="0"/>
          </a:p>
        </p:txBody>
      </p:sp>
      <p:sp>
        <p:nvSpPr>
          <p:cNvPr id="35" name="Shape 29"/>
          <p:cNvSpPr/>
          <p:nvPr/>
        </p:nvSpPr>
        <p:spPr>
          <a:xfrm>
            <a:off x="7773194" y="4830167"/>
            <a:ext cx="3707606" cy="1253034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7773194" y="4830167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11480800" y="4830167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7773194" y="6083201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773194" y="4830167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919244" y="4976217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범위와 한계</a:t>
            </a:r>
            <a:endParaRPr lang="ko-KR" sz="1250" dirty="0"/>
          </a:p>
        </p:txBody>
      </p:sp>
      <p:sp>
        <p:nvSpPr>
          <p:cNvPr id="41" name="Text 35"/>
          <p:cNvSpPr/>
          <p:nvPr/>
        </p:nvSpPr>
        <p:spPr>
          <a:xfrm>
            <a:off x="7919244" y="5249267"/>
            <a:ext cx="339532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폭은 정성적인 범위 축소만 나타냅니다. 고객 도입률이나</a:t>
            </a:r>
            <a:endParaRPr lang="ko-KR" sz="1250" dirty="0"/>
          </a:p>
        </p:txBody>
      </p:sp>
      <p:sp>
        <p:nvSpPr>
          <p:cNvPr id="42" name="Text 36"/>
          <p:cNvSpPr/>
          <p:nvPr/>
        </p:nvSpPr>
        <p:spPr>
          <a:xfrm>
            <a:off x="7919244" y="5458817"/>
            <a:ext cx="237694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검증 성공률로 인용하지 않습니다.</a:t>
            </a:r>
            <a:endParaRPr lang="ko-KR" sz="1250" dirty="0"/>
          </a:p>
        </p:txBody>
      </p:sp>
      <p:sp>
        <p:nvSpPr>
          <p:cNvPr id="43" name="Text 37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44" name="Text 38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</a:t>
            </a:r>
            <a:endParaRPr lang="ko-KR" sz="900" dirty="0"/>
          </a:p>
        </p:txBody>
      </p:sp>
      <p:sp>
        <p:nvSpPr>
          <p:cNvPr id="45" name="Text 39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6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6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6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6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6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6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6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6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6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6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6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6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6734925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영향과 가능성을 나누어 대응 순서를 정합니다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7592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RISKMAP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6311956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가상의 검토 연습입니다. 구역 배치는 실제 시스템의 위험 평가나 발생 확률을 뜻하지 않습니다.</a:t>
            </a:r>
            <a:endParaRPr lang="ko-KR" sz="1400" dirty="0"/>
          </a:p>
        </p:txBody>
      </p:sp>
      <p:sp>
        <p:nvSpPr>
          <p:cNvPr id="6" name="Text 4"/>
          <p:cNvSpPr/>
          <p:nvPr/>
        </p:nvSpPr>
        <p:spPr>
          <a:xfrm>
            <a:off x="711200" y="2108200"/>
            <a:ext cx="49773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영향 ↑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042918" y="5842794"/>
            <a:ext cx="155908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가능성 → 낮음에서 높음</a:t>
            </a:r>
            <a:endParaRPr lang="ko-KR" sz="1300" dirty="0"/>
          </a:p>
        </p:txBody>
      </p:sp>
      <p:sp>
        <p:nvSpPr>
          <p:cNvPr id="8" name="Shape 6"/>
          <p:cNvSpPr/>
          <p:nvPr/>
        </p:nvSpPr>
        <p:spPr>
          <a:xfrm>
            <a:off x="711200" y="2362200"/>
            <a:ext cx="3384947" cy="165735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200" y="2362200"/>
            <a:ext cx="338494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96147" y="2362200"/>
            <a:ext cx="0" cy="165735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1200" y="4019550"/>
            <a:ext cx="338494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1200" y="2362200"/>
            <a:ext cx="0" cy="165735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4550" y="2495550"/>
            <a:ext cx="1237016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0B16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높은 영향 · 낮은 가능성</a:t>
            </a:r>
            <a:endParaRPr lang="ko-KR" sz="1050" dirty="0"/>
          </a:p>
        </p:txBody>
      </p:sp>
      <p:sp>
        <p:nvSpPr>
          <p:cNvPr id="14" name="Text 12"/>
          <p:cNvSpPr/>
          <p:nvPr/>
        </p:nvSpPr>
        <p:spPr>
          <a:xfrm>
            <a:off x="844550" y="2774950"/>
            <a:ext cx="1227392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밖 자료 노출</a:t>
            </a:r>
            <a:endParaRPr lang="ko-KR" sz="1450" dirty="0"/>
          </a:p>
        </p:txBody>
      </p:sp>
      <p:sp>
        <p:nvSpPr>
          <p:cNvPr id="15" name="Text 13"/>
          <p:cNvSpPr/>
          <p:nvPr/>
        </p:nvSpPr>
        <p:spPr>
          <a:xfrm>
            <a:off x="844550" y="3068439"/>
            <a:ext cx="3131598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낮은 가능성으로 가정해도 접근 통제와 점검을 둡니다.</a:t>
            </a:r>
            <a:endParaRPr lang="ko-KR" sz="1200" dirty="0"/>
          </a:p>
        </p:txBody>
      </p:sp>
      <p:sp>
        <p:nvSpPr>
          <p:cNvPr id="16" name="Shape 14"/>
          <p:cNvSpPr/>
          <p:nvPr/>
        </p:nvSpPr>
        <p:spPr>
          <a:xfrm>
            <a:off x="4185047" y="2362200"/>
            <a:ext cx="3384947" cy="1657350"/>
          </a:xfrm>
          <a:prstGeom prst="rect">
            <a:avLst/>
          </a:prstGeom>
          <a:solidFill>
            <a:srgbClr val="0E23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85047" y="2362200"/>
            <a:ext cx="338494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69994" y="2362200"/>
            <a:ext cx="0" cy="165735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85047" y="4019550"/>
            <a:ext cx="338494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85047" y="2362200"/>
            <a:ext cx="0" cy="165735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8397" y="2495550"/>
            <a:ext cx="1237016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높은 영향 · 높은 가능성</a:t>
            </a:r>
            <a:endParaRPr lang="ko-KR" sz="1050" dirty="0"/>
          </a:p>
        </p:txBody>
      </p:sp>
      <p:sp>
        <p:nvSpPr>
          <p:cNvPr id="22" name="Text 20"/>
          <p:cNvSpPr/>
          <p:nvPr/>
        </p:nvSpPr>
        <p:spPr>
          <a:xfrm>
            <a:off x="4318397" y="2774950"/>
            <a:ext cx="138197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없는 중요 답변</a:t>
            </a:r>
            <a:endParaRPr lang="ko-KR" sz="1450" dirty="0"/>
          </a:p>
        </p:txBody>
      </p:sp>
      <p:sp>
        <p:nvSpPr>
          <p:cNvPr id="23" name="Text 21"/>
          <p:cNvSpPr/>
          <p:nvPr/>
        </p:nvSpPr>
        <p:spPr>
          <a:xfrm>
            <a:off x="4318397" y="3068439"/>
            <a:ext cx="2836819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높은 영향과 가능성을 가정하고 우선 확인합니다.</a:t>
            </a:r>
            <a:endParaRPr lang="ko-KR" sz="1200" dirty="0"/>
          </a:p>
        </p:txBody>
      </p:sp>
      <p:sp>
        <p:nvSpPr>
          <p:cNvPr id="24" name="Shape 22"/>
          <p:cNvSpPr/>
          <p:nvPr/>
        </p:nvSpPr>
        <p:spPr>
          <a:xfrm>
            <a:off x="711200" y="4108450"/>
            <a:ext cx="3384947" cy="165735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1200" y="4108450"/>
            <a:ext cx="338494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96147" y="4108450"/>
            <a:ext cx="0" cy="165735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1200" y="5765800"/>
            <a:ext cx="338494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1200" y="4108450"/>
            <a:ext cx="0" cy="165735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4550" y="4241800"/>
            <a:ext cx="1237016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0B16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낮은 영향 · 낮은 가능성</a:t>
            </a:r>
            <a:endParaRPr lang="ko-KR" sz="1050" dirty="0"/>
          </a:p>
        </p:txBody>
      </p:sp>
      <p:sp>
        <p:nvSpPr>
          <p:cNvPr id="30" name="Text 28"/>
          <p:cNvSpPr/>
          <p:nvPr/>
        </p:nvSpPr>
        <p:spPr>
          <a:xfrm>
            <a:off x="844550" y="4521200"/>
            <a:ext cx="1035006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드문 표시 오류</a:t>
            </a:r>
            <a:endParaRPr lang="ko-KR" sz="1450" dirty="0"/>
          </a:p>
        </p:txBody>
      </p:sp>
      <p:sp>
        <p:nvSpPr>
          <p:cNvPr id="31" name="Text 29"/>
          <p:cNvSpPr/>
          <p:nvPr/>
        </p:nvSpPr>
        <p:spPr>
          <a:xfrm>
            <a:off x="844550" y="4814689"/>
            <a:ext cx="2836819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낮은 영향으로 가정하고 변화 신호를 살펴봅니다.</a:t>
            </a:r>
            <a:endParaRPr lang="ko-KR" sz="1200" dirty="0"/>
          </a:p>
        </p:txBody>
      </p:sp>
      <p:sp>
        <p:nvSpPr>
          <p:cNvPr id="32" name="Shape 30"/>
          <p:cNvSpPr/>
          <p:nvPr/>
        </p:nvSpPr>
        <p:spPr>
          <a:xfrm>
            <a:off x="4185047" y="4108450"/>
            <a:ext cx="3384947" cy="165735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85047" y="4108450"/>
            <a:ext cx="338494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69994" y="4108450"/>
            <a:ext cx="0" cy="165735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85047" y="5765800"/>
            <a:ext cx="3384947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85047" y="4108450"/>
            <a:ext cx="0" cy="165735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8397" y="4241800"/>
            <a:ext cx="1237016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0B16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낮은 영향 · 높은 가능성</a:t>
            </a:r>
            <a:endParaRPr lang="ko-KR" sz="1050" dirty="0"/>
          </a:p>
        </p:txBody>
      </p:sp>
      <p:sp>
        <p:nvSpPr>
          <p:cNvPr id="38" name="Text 36"/>
          <p:cNvSpPr/>
          <p:nvPr/>
        </p:nvSpPr>
        <p:spPr>
          <a:xfrm>
            <a:off x="4318397" y="4521200"/>
            <a:ext cx="1035006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spc="-36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형식 오류</a:t>
            </a:r>
            <a:endParaRPr lang="ko-KR" sz="1450" dirty="0"/>
          </a:p>
        </p:txBody>
      </p:sp>
      <p:sp>
        <p:nvSpPr>
          <p:cNvPr id="39" name="Text 37"/>
          <p:cNvSpPr/>
          <p:nvPr/>
        </p:nvSpPr>
        <p:spPr>
          <a:xfrm>
            <a:off x="4318397" y="4814689"/>
            <a:ext cx="3002613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spc="-1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실패가 반복되지 않게 입력·출력을 점검합니다.</a:t>
            </a:r>
            <a:endParaRPr lang="ko-KR" sz="1200" dirty="0"/>
          </a:p>
        </p:txBody>
      </p:sp>
      <p:sp>
        <p:nvSpPr>
          <p:cNvPr id="40" name="Shape 38"/>
          <p:cNvSpPr/>
          <p:nvPr/>
        </p:nvSpPr>
        <p:spPr>
          <a:xfrm>
            <a:off x="7773194" y="2095500"/>
            <a:ext cx="3707606" cy="125303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73194" y="2095500"/>
            <a:ext cx="3707606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480800" y="2095500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73194" y="3348534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73194" y="2095500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19244" y="226060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기준</a:t>
            </a:r>
            <a:endParaRPr lang="ko-KR" sz="1250" dirty="0"/>
          </a:p>
        </p:txBody>
      </p:sp>
      <p:sp>
        <p:nvSpPr>
          <p:cNvPr id="46" name="Text 44"/>
          <p:cNvSpPr/>
          <p:nvPr/>
        </p:nvSpPr>
        <p:spPr>
          <a:xfrm>
            <a:off x="7919244" y="2533650"/>
            <a:ext cx="316404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영향은 위로, 가능성은 오른쪽으로 커집니다. 두 축의</a:t>
            </a:r>
            <a:endParaRPr lang="ko-KR" sz="1250" dirty="0"/>
          </a:p>
        </p:txBody>
      </p:sp>
      <p:sp>
        <p:nvSpPr>
          <p:cNvPr id="47" name="Text 45"/>
          <p:cNvSpPr/>
          <p:nvPr/>
        </p:nvSpPr>
        <p:spPr>
          <a:xfrm>
            <a:off x="7919244" y="2743200"/>
            <a:ext cx="180018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기준을 먼저 합의합니다.</a:t>
            </a:r>
            <a:endParaRPr lang="ko-KR" sz="1250" dirty="0"/>
          </a:p>
        </p:txBody>
      </p:sp>
      <p:sp>
        <p:nvSpPr>
          <p:cNvPr id="48" name="Shape 46"/>
          <p:cNvSpPr/>
          <p:nvPr/>
        </p:nvSpPr>
        <p:spPr>
          <a:xfrm>
            <a:off x="7773194" y="3462834"/>
            <a:ext cx="3707606" cy="125303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73194" y="3462834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480800" y="3462834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73194" y="4715867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73194" y="3462834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19244" y="3608884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관점</a:t>
            </a:r>
            <a:endParaRPr lang="ko-KR" sz="1250" dirty="0"/>
          </a:p>
        </p:txBody>
      </p:sp>
      <p:sp>
        <p:nvSpPr>
          <p:cNvPr id="54" name="Text 52"/>
          <p:cNvSpPr/>
          <p:nvPr/>
        </p:nvSpPr>
        <p:spPr>
          <a:xfrm>
            <a:off x="7919244" y="3881934"/>
            <a:ext cx="299070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문제도 입력 자료와 허용 행동에 따라 위치가</a:t>
            </a:r>
            <a:endParaRPr lang="ko-KR" sz="1250" dirty="0"/>
          </a:p>
        </p:txBody>
      </p:sp>
      <p:sp>
        <p:nvSpPr>
          <p:cNvPr id="55" name="Text 53"/>
          <p:cNvSpPr/>
          <p:nvPr/>
        </p:nvSpPr>
        <p:spPr>
          <a:xfrm>
            <a:off x="7919244" y="4091484"/>
            <a:ext cx="254948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달라집니다. 증거에 따라 다시 분류합니다.</a:t>
            </a:r>
            <a:endParaRPr lang="ko-KR" sz="1250" dirty="0"/>
          </a:p>
        </p:txBody>
      </p:sp>
      <p:sp>
        <p:nvSpPr>
          <p:cNvPr id="56" name="Shape 54"/>
          <p:cNvSpPr/>
          <p:nvPr/>
        </p:nvSpPr>
        <p:spPr>
          <a:xfrm>
            <a:off x="7773194" y="4830167"/>
            <a:ext cx="3707606" cy="1253034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73194" y="4830167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80800" y="4830167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73194" y="6083201"/>
            <a:ext cx="3707606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73194" y="4830167"/>
            <a:ext cx="0" cy="1253034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919244" y="4976217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범위와 한계</a:t>
            </a:r>
            <a:endParaRPr lang="ko-KR" sz="1250" dirty="0"/>
          </a:p>
        </p:txBody>
      </p:sp>
      <p:sp>
        <p:nvSpPr>
          <p:cNvPr id="62" name="Text 60"/>
          <p:cNvSpPr/>
          <p:nvPr/>
        </p:nvSpPr>
        <p:spPr>
          <a:xfrm>
            <a:off x="7919244" y="5249267"/>
            <a:ext cx="329848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표시한 위치는 설명용 가정입니다. 실제 위험 수용·출시</a:t>
            </a:r>
            <a:endParaRPr lang="ko-KR" sz="1250" dirty="0"/>
          </a:p>
        </p:txBody>
      </p:sp>
      <p:sp>
        <p:nvSpPr>
          <p:cNvPr id="63" name="Text 61"/>
          <p:cNvSpPr/>
          <p:nvPr/>
        </p:nvSpPr>
        <p:spPr>
          <a:xfrm>
            <a:off x="7919244" y="5458817"/>
            <a:ext cx="2204696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승인은 담당자의 검토가 필요합니다.</a:t>
            </a:r>
            <a:endParaRPr lang="ko-KR" sz="1250" dirty="0"/>
          </a:p>
        </p:txBody>
      </p:sp>
      <p:sp>
        <p:nvSpPr>
          <p:cNvPr id="64" name="Text 62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65" name="Text 63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</a:t>
            </a:r>
            <a:endParaRPr lang="ko-KR" sz="900" dirty="0"/>
          </a:p>
        </p:txBody>
      </p:sp>
      <p:sp>
        <p:nvSpPr>
          <p:cNvPr id="66" name="Text 64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6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6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6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6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6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6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6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6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6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6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6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6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6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6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6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6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6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6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6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9" dur="6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6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4" dur="6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6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9" dur="6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6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4" dur="6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6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9" dur="6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6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4" dur="6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6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9" dur="6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6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4" dur="6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6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9" dur="6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6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74" dur="6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6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79" dur="6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6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84" dur="6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6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89" dur="6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6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4" dur="6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6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9" dur="6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6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04" dur="6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6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09" dur="6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6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14" dur="62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6401947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단계마다 맡을 일과 넘길 근거를 연결합니다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8608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SWIMLANE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6545120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가상의 협업 예시입니다. 행은 담당 역할, 열은 단계이며 실제 조직의 역할 배정을 뜻하지 않습니다.</a:t>
            </a:r>
            <a:endParaRPr lang="ko-KR" sz="14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200" y="2098675"/>
          <a:ext cx="10769600" cy="2520950"/>
        </p:xfrm>
        <a:graphic>
          <a:graphicData uri="http://schemas.openxmlformats.org/drawingml/2006/table">
            <a:tbl>
              <a:tblPr/>
              <a:tblGrid>
                <a:gridCol w="1524000"/>
                <a:gridCol w="3079750"/>
                <a:gridCol w="3079750"/>
                <a:gridCol w="3079750"/>
              </a:tblGrid>
              <a:tr h="449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0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0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범위·근거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0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구현·평가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0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출시·운영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업무 담당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업무·대표 질문 정의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답변 검토 기준 제공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 범위와 보류 조건 확인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개발 담당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자료 접근 조건 확인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응용 구현·실패 사례 기록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릴리스 근거·남은 문제 인계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운영 담당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관측·기록 범위 합의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신호·대응 절차 검토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16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 확인·재검토 연결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9700" marR="139700" marT="114300" marB="1143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11200" y="4800600"/>
            <a:ext cx="3488234" cy="12827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1200" y="4800600"/>
            <a:ext cx="3488234" cy="0"/>
          </a:xfrm>
          <a:prstGeom prst="line">
            <a:avLst/>
          </a:prstGeom>
          <a:noFill/>
          <a:ln w="25400">
            <a:solidFill>
              <a:srgbClr val="2C6B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99434" y="4800600"/>
            <a:ext cx="0" cy="1282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1200" y="60833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1200" y="4800600"/>
            <a:ext cx="0" cy="1282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7250" y="496570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기준</a:t>
            </a:r>
            <a:endParaRPr lang="ko-KR" sz="1250" dirty="0"/>
          </a:p>
        </p:txBody>
      </p:sp>
      <p:sp>
        <p:nvSpPr>
          <p:cNvPr id="13" name="Text 10"/>
          <p:cNvSpPr/>
          <p:nvPr/>
        </p:nvSpPr>
        <p:spPr>
          <a:xfrm>
            <a:off x="857250" y="5238750"/>
            <a:ext cx="312574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셀은 해당 역할의 행동과 전달할 근거입니다. 색상은</a:t>
            </a:r>
            <a:endParaRPr lang="ko-KR" sz="1250" dirty="0"/>
          </a:p>
        </p:txBody>
      </p:sp>
      <p:sp>
        <p:nvSpPr>
          <p:cNvPr id="14" name="Text 11"/>
          <p:cNvSpPr/>
          <p:nvPr/>
        </p:nvSpPr>
        <p:spPr>
          <a:xfrm>
            <a:off x="857250" y="5448300"/>
            <a:ext cx="268402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권한이나 승인 완료 상태를 뜻하지 않습니다.</a:t>
            </a:r>
            <a:endParaRPr lang="ko-KR" sz="1250" dirty="0"/>
          </a:p>
        </p:txBody>
      </p:sp>
      <p:sp>
        <p:nvSpPr>
          <p:cNvPr id="15" name="Shape 12"/>
          <p:cNvSpPr/>
          <p:nvPr/>
        </p:nvSpPr>
        <p:spPr>
          <a:xfrm>
            <a:off x="4351834" y="4800600"/>
            <a:ext cx="3488234" cy="12827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51834" y="48006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40067" y="4800600"/>
            <a:ext cx="0" cy="1282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51834" y="60833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51834" y="4800600"/>
            <a:ext cx="0" cy="1282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97884" y="494665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관점</a:t>
            </a:r>
            <a:endParaRPr lang="ko-KR" sz="1250" dirty="0"/>
          </a:p>
        </p:txBody>
      </p:sp>
      <p:sp>
        <p:nvSpPr>
          <p:cNvPr id="21" name="Text 18"/>
          <p:cNvSpPr/>
          <p:nvPr/>
        </p:nvSpPr>
        <p:spPr>
          <a:xfrm>
            <a:off x="4497884" y="5219700"/>
            <a:ext cx="268382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인계에는 조건과 담당자를 남깁니다. 개발</a:t>
            </a:r>
            <a:endParaRPr lang="ko-KR" sz="1250" dirty="0"/>
          </a:p>
        </p:txBody>
      </p:sp>
      <p:sp>
        <p:nvSpPr>
          <p:cNvPr id="22" name="Text 19"/>
          <p:cNvSpPr/>
          <p:nvPr/>
        </p:nvSpPr>
        <p:spPr>
          <a:xfrm>
            <a:off x="4497884" y="5429250"/>
            <a:ext cx="264661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완료만으로 출시 승인을 대신하지 않습니다.</a:t>
            </a:r>
            <a:endParaRPr lang="ko-KR" sz="1250" dirty="0"/>
          </a:p>
        </p:txBody>
      </p:sp>
      <p:sp>
        <p:nvSpPr>
          <p:cNvPr id="23" name="Shape 20"/>
          <p:cNvSpPr/>
          <p:nvPr/>
        </p:nvSpPr>
        <p:spPr>
          <a:xfrm>
            <a:off x="7992467" y="4800600"/>
            <a:ext cx="3488234" cy="12827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992467" y="48006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1480701" y="4800600"/>
            <a:ext cx="0" cy="1282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992467" y="6083300"/>
            <a:ext cx="3488234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992467" y="4800600"/>
            <a:ext cx="0" cy="128270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38517" y="494665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범위와 한계</a:t>
            </a:r>
            <a:endParaRPr lang="ko-KR" sz="1250" dirty="0"/>
          </a:p>
        </p:txBody>
      </p:sp>
      <p:sp>
        <p:nvSpPr>
          <p:cNvPr id="29" name="Text 26"/>
          <p:cNvSpPr/>
          <p:nvPr/>
        </p:nvSpPr>
        <p:spPr>
          <a:xfrm>
            <a:off x="8138517" y="5219700"/>
            <a:ext cx="320154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팀의 책임·승인·운영 절차는 별도 합의합니다. 이</a:t>
            </a:r>
            <a:endParaRPr lang="ko-KR" sz="1250" dirty="0"/>
          </a:p>
        </p:txBody>
      </p:sp>
      <p:sp>
        <p:nvSpPr>
          <p:cNvPr id="30" name="Text 27"/>
          <p:cNvSpPr/>
          <p:nvPr/>
        </p:nvSpPr>
        <p:spPr>
          <a:xfrm>
            <a:off x="8138517" y="5429250"/>
            <a:ext cx="2440341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표는 조직별 RACI를 대체하지 않습니다.</a:t>
            </a:r>
            <a:endParaRPr lang="ko-KR" sz="1250" dirty="0"/>
          </a:p>
        </p:txBody>
      </p:sp>
      <p:sp>
        <p:nvSpPr>
          <p:cNvPr id="31" name="Text 28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32" name="Text 29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</a:t>
            </a:r>
            <a:endParaRPr lang="ko-KR" sz="900" dirty="0"/>
          </a:p>
        </p:txBody>
      </p:sp>
      <p:sp>
        <p:nvSpPr>
          <p:cNvPr id="33" name="Text 30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6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88950"/>
            <a:ext cx="6068969" cy="50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44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업무와 명확한 출시 근거를 남깁니다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11200" y="323850"/>
            <a:ext cx="215900" cy="19050"/>
          </a:xfrm>
          <a:prstGeom prst="rect">
            <a:avLst/>
          </a:prstGeom>
          <a:solidFill>
            <a:srgbClr val="2C6B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254000"/>
            <a:ext cx="1759204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00" spc="200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FOUNDRY / CLOSING</a:t>
            </a:r>
            <a:endParaRPr lang="ko-KR" sz="1000" dirty="0"/>
          </a:p>
        </p:txBody>
      </p:sp>
      <p:sp>
        <p:nvSpPr>
          <p:cNvPr id="5" name="Text 3"/>
          <p:cNvSpPr/>
          <p:nvPr/>
        </p:nvSpPr>
        <p:spPr>
          <a:xfrm>
            <a:off x="711200" y="1068784"/>
            <a:ext cx="4635456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8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Foundry 도입은 기능 목록보다 업무·통제·검증을 연결하는 일입니다.</a:t>
            </a:r>
            <a:endParaRPr lang="ko-KR" sz="1400" dirty="0"/>
          </a:p>
        </p:txBody>
      </p:sp>
      <p:pic>
        <p:nvPicPr>
          <p:cNvPr id="6" name="Image 0" descr="CSS deco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2095500"/>
            <a:ext cx="4381500" cy="3987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336800"/>
            <a:ext cx="1003653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논의를 정리하면</a:t>
            </a:r>
            <a:endParaRPr lang="ko-KR" sz="1250" dirty="0"/>
          </a:p>
        </p:txBody>
      </p:sp>
      <p:sp>
        <p:nvSpPr>
          <p:cNvPr id="8" name="Text 5"/>
          <p:cNvSpPr/>
          <p:nvPr/>
        </p:nvSpPr>
        <p:spPr>
          <a:xfrm>
            <a:off x="914400" y="2609850"/>
            <a:ext cx="3690596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1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모델과 도구, 에이전트의 역할을 구분한 뒤 필요한 구현</a:t>
            </a:r>
            <a:endParaRPr lang="ko-KR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2849860"/>
            <a:ext cx="1324427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1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범위를 선택합니다.</a:t>
            </a:r>
            <a:endParaRPr lang="ko-KR" sz="1400" dirty="0"/>
          </a:p>
        </p:txBody>
      </p:sp>
      <p:sp>
        <p:nvSpPr>
          <p:cNvPr id="10" name="Shape 7"/>
          <p:cNvSpPr/>
          <p:nvPr/>
        </p:nvSpPr>
        <p:spPr>
          <a:xfrm>
            <a:off x="914400" y="4197350"/>
            <a:ext cx="3975100" cy="0"/>
          </a:xfrm>
          <a:prstGeom prst="line">
            <a:avLst/>
          </a:prstGeom>
          <a:noFill/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4381500"/>
            <a:ext cx="735564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7FA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기억할 원칙</a:t>
            </a:r>
            <a:endParaRPr lang="ko-KR" sz="1250" dirty="0"/>
          </a:p>
        </p:txBody>
      </p:sp>
      <p:sp>
        <p:nvSpPr>
          <p:cNvPr id="12" name="Text 9"/>
          <p:cNvSpPr/>
          <p:nvPr/>
        </p:nvSpPr>
        <p:spPr>
          <a:xfrm>
            <a:off x="914400" y="4654550"/>
            <a:ext cx="3388574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1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작게 시작하되 접근 조건과 평가 기록, 운영 책임은</a:t>
            </a:r>
            <a:endParaRPr lang="ko-KR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4894560"/>
            <a:ext cx="1819430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spc="-21" kern="0" dirty="0">
                <a:solidFill>
                  <a:srgbClr val="EAF0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처음부터 함께 설계합니다.</a:t>
            </a:r>
            <a:endParaRPr lang="ko-KR" sz="1400" dirty="0"/>
          </a:p>
        </p:txBody>
      </p:sp>
      <p:sp>
        <p:nvSpPr>
          <p:cNvPr id="14" name="Shape 11"/>
          <p:cNvSpPr/>
          <p:nvPr/>
        </p:nvSpPr>
        <p:spPr>
          <a:xfrm>
            <a:off x="5295900" y="2095500"/>
            <a:ext cx="61849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95900" y="3136900"/>
            <a:ext cx="61849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22900" y="2171700"/>
            <a:ext cx="355600" cy="0"/>
          </a:xfrm>
          <a:prstGeom prst="line">
            <a:avLst/>
          </a:prstGeom>
          <a:noFill/>
          <a:ln w="19050">
            <a:solidFill>
              <a:srgbClr val="2C6B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22900" y="221615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ko-KR" sz="1250" dirty="0"/>
          </a:p>
        </p:txBody>
      </p:sp>
      <p:sp>
        <p:nvSpPr>
          <p:cNvPr id="18" name="Text 15"/>
          <p:cNvSpPr/>
          <p:nvPr/>
        </p:nvSpPr>
        <p:spPr>
          <a:xfrm>
            <a:off x="5918200" y="2165350"/>
            <a:ext cx="1298928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업무를 고릅니다</a:t>
            </a:r>
            <a:endParaRPr lang="ko-KR" sz="1400" dirty="0"/>
          </a:p>
        </p:txBody>
      </p:sp>
      <p:sp>
        <p:nvSpPr>
          <p:cNvPr id="19" name="Text 16"/>
          <p:cNvSpPr/>
          <p:nvPr/>
        </p:nvSpPr>
        <p:spPr>
          <a:xfrm>
            <a:off x="5918200" y="2435820"/>
            <a:ext cx="374109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질문·데이터·허용 행동이 명확한 사례 하나로 범위를 좁힙니다.</a:t>
            </a:r>
            <a:endParaRPr lang="ko-KR" sz="1250" dirty="0"/>
          </a:p>
        </p:txBody>
      </p:sp>
      <p:sp>
        <p:nvSpPr>
          <p:cNvPr id="20" name="Shape 17"/>
          <p:cNvSpPr/>
          <p:nvPr/>
        </p:nvSpPr>
        <p:spPr>
          <a:xfrm>
            <a:off x="5295900" y="3136900"/>
            <a:ext cx="61849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295900" y="4178300"/>
            <a:ext cx="61849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22900" y="3213100"/>
            <a:ext cx="355600" cy="0"/>
          </a:xfrm>
          <a:prstGeom prst="line">
            <a:avLst/>
          </a:prstGeom>
          <a:noFill/>
          <a:ln w="19050">
            <a:solidFill>
              <a:srgbClr val="2C6B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22900" y="325755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ko-KR" sz="1250" dirty="0"/>
          </a:p>
        </p:txBody>
      </p:sp>
      <p:sp>
        <p:nvSpPr>
          <p:cNvPr id="24" name="Text 21"/>
          <p:cNvSpPr/>
          <p:nvPr/>
        </p:nvSpPr>
        <p:spPr>
          <a:xfrm>
            <a:off x="5918200" y="3206750"/>
            <a:ext cx="1597279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필요한 증거를 정합니다</a:t>
            </a:r>
            <a:endParaRPr lang="ko-KR" sz="1400" dirty="0"/>
          </a:p>
        </p:txBody>
      </p:sp>
      <p:sp>
        <p:nvSpPr>
          <p:cNvPr id="25" name="Text 22"/>
          <p:cNvSpPr/>
          <p:nvPr/>
        </p:nvSpPr>
        <p:spPr>
          <a:xfrm>
            <a:off x="5918200" y="3477220"/>
            <a:ext cx="320224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질문, 실패 조건과 출시·보류 기준을 합의합니다.</a:t>
            </a:r>
            <a:endParaRPr lang="ko-KR" sz="1250" dirty="0"/>
          </a:p>
        </p:txBody>
      </p:sp>
      <p:sp>
        <p:nvSpPr>
          <p:cNvPr id="26" name="Shape 23"/>
          <p:cNvSpPr/>
          <p:nvPr/>
        </p:nvSpPr>
        <p:spPr>
          <a:xfrm>
            <a:off x="5295900" y="4178300"/>
            <a:ext cx="61849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295900" y="5219700"/>
            <a:ext cx="6184900" cy="0"/>
          </a:xfrm>
          <a:prstGeom prst="line">
            <a:avLst/>
          </a:prstGeom>
          <a:noFill/>
          <a:ln w="6350">
            <a:solidFill>
              <a:srgbClr val="D8D3C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22900" y="4254500"/>
            <a:ext cx="355600" cy="0"/>
          </a:xfrm>
          <a:prstGeom prst="line">
            <a:avLst/>
          </a:prstGeom>
          <a:noFill/>
          <a:ln w="19050">
            <a:solidFill>
              <a:srgbClr val="2C6B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22900" y="4298950"/>
            <a:ext cx="24155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75" kern="0" dirty="0">
                <a:solidFill>
                  <a:srgbClr val="2C6B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ko-KR" sz="1250" dirty="0"/>
          </a:p>
        </p:txBody>
      </p:sp>
      <p:sp>
        <p:nvSpPr>
          <p:cNvPr id="30" name="Text 27"/>
          <p:cNvSpPr/>
          <p:nvPr/>
        </p:nvSpPr>
        <p:spPr>
          <a:xfrm>
            <a:off x="5918200" y="4248150"/>
            <a:ext cx="1597279" cy="234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spc="-35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책임을 연결합니다</a:t>
            </a:r>
            <a:endParaRPr lang="ko-KR" sz="1400" dirty="0"/>
          </a:p>
        </p:txBody>
      </p:sp>
      <p:sp>
        <p:nvSpPr>
          <p:cNvPr id="31" name="Text 28"/>
          <p:cNvSpPr/>
          <p:nvPr/>
        </p:nvSpPr>
        <p:spPr>
          <a:xfrm>
            <a:off x="5918200" y="4518620"/>
            <a:ext cx="3029502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5A6A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담당자, 남은 질문과 다음 확인 시점을 기록합니다.</a:t>
            </a:r>
            <a:endParaRPr lang="ko-KR" sz="1250" dirty="0"/>
          </a:p>
        </p:txBody>
      </p:sp>
      <p:sp>
        <p:nvSpPr>
          <p:cNvPr id="32" name="Shape 29"/>
          <p:cNvSpPr/>
          <p:nvPr/>
        </p:nvSpPr>
        <p:spPr>
          <a:xfrm>
            <a:off x="5295900" y="5219700"/>
            <a:ext cx="6184900" cy="863600"/>
          </a:xfrm>
          <a:prstGeom prst="rect">
            <a:avLst/>
          </a:prstGeom>
          <a:solidFill>
            <a:srgbClr val="E5ED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295900" y="5219700"/>
            <a:ext cx="6184900" cy="0"/>
          </a:xfrm>
          <a:prstGeom prst="line">
            <a:avLst/>
          </a:prstGeom>
          <a:noFill/>
          <a:ln w="12700">
            <a:solidFill>
              <a:srgbClr val="2C6BE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397500" y="5314950"/>
            <a:ext cx="601520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25" kern="0" dirty="0">
                <a:solidFill>
                  <a:srgbClr val="2C6B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질문</a:t>
            </a:r>
            <a:endParaRPr lang="ko-KR" sz="1250" dirty="0"/>
          </a:p>
        </p:txBody>
      </p:sp>
      <p:sp>
        <p:nvSpPr>
          <p:cNvPr id="35" name="Text 32"/>
          <p:cNvSpPr/>
          <p:nvPr/>
        </p:nvSpPr>
        <p:spPr>
          <a:xfrm>
            <a:off x="6068616" y="5314950"/>
            <a:ext cx="4834489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미확인 기능·리전·비용과 남은 실패 사례를 숨기지 않습니다. 이 자료는 실제 배포</a:t>
            </a:r>
            <a:endParaRPr lang="ko-KR" sz="1250" dirty="0"/>
          </a:p>
        </p:txBody>
      </p:sp>
      <p:sp>
        <p:nvSpPr>
          <p:cNvPr id="36" name="Text 33"/>
          <p:cNvSpPr/>
          <p:nvPr/>
        </p:nvSpPr>
        <p:spPr>
          <a:xfrm>
            <a:off x="5397500" y="5518150"/>
            <a:ext cx="1186017" cy="20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spc="-19" kern="0" dirty="0">
                <a:solidFill>
                  <a:srgbClr val="0E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보고서가 아닙니다.</a:t>
            </a:r>
            <a:endParaRPr lang="ko-KR" sz="1250" dirty="0"/>
          </a:p>
        </p:txBody>
      </p:sp>
      <p:sp>
        <p:nvSpPr>
          <p:cNvPr id="37" name="Text 34"/>
          <p:cNvSpPr/>
          <p:nvPr/>
        </p:nvSpPr>
        <p:spPr>
          <a:xfrm>
            <a:off x="711200" y="6407150"/>
            <a:ext cx="259234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spc="180" kern="0" dirty="0">
                <a:solidFill>
                  <a:srgbClr val="8493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LEARN · 2026-09-30</a:t>
            </a:r>
            <a:endParaRPr lang="ko-KR" sz="900" dirty="0"/>
          </a:p>
        </p:txBody>
      </p:sp>
      <p:sp>
        <p:nvSpPr>
          <p:cNvPr id="38" name="Text 35"/>
          <p:cNvSpPr/>
          <p:nvPr/>
        </p:nvSpPr>
        <p:spPr>
          <a:xfrm>
            <a:off x="10840641" y="6407150"/>
            <a:ext cx="214963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</a:t>
            </a:r>
            <a:endParaRPr lang="ko-KR" sz="900" dirty="0"/>
          </a:p>
        </p:txBody>
      </p:sp>
      <p:sp>
        <p:nvSpPr>
          <p:cNvPr id="39" name="Text 36"/>
          <p:cNvSpPr/>
          <p:nvPr/>
        </p:nvSpPr>
        <p:spPr>
          <a:xfrm>
            <a:off x="11023600" y="6407150"/>
            <a:ext cx="489204" cy="16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900" b="1" spc="180" kern="0" dirty="0">
                <a:solidFill>
                  <a:srgbClr val="0E2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20</a:t>
            </a:r>
            <a:endParaRPr lang="ko-KR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6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6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6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6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Foundry on Azure · All 20 templates</dc:title>
  <dc:subject>PptxGenJS Presentation</dc:subject>
  <dc:creator>PptxGenJS</dc:creator>
  <cp:lastModifiedBy>PptxGenJS</cp:lastModifiedBy>
  <cp:revision>1</cp:revision>
  <dcterms:created xsi:type="dcterms:W3CDTF">2026-09-30T14:08:26Z</dcterms:created>
  <dcterms:modified xsi:type="dcterms:W3CDTF">2026-09-30T14:08:26Z</dcterms:modified>
</cp:coreProperties>
</file>