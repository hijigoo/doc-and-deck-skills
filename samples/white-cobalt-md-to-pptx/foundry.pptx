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Foundry는 모델, 에이전트, 도구와 관리 기능을 연결하는 플랫폼입니다.</a:t>
            </a:r>
            <a:br/>
            <a:r>
              <a:rPr lang="en-US" dirty="0"/>
              <a:t>이 자료는 기능 관계와 도입 판단을 설명하며 실제 Azure 배포를 수행하지 않았습니다.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오늘은 제품 메뉴보다 업무의 질문을 먼저 보겠습니다.</a:t>
            </a:r>
            <a:br/>
            <a:r>
              <a:rPr lang="en-US" dirty="0"/>
              <a:t>무엇을 만들지, 어떤 권한을 줄지, 어떤 근거로 출시할지를 연결하겠습니다.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COVER</a:t>
            </a:r>
            <a:br/>
            <a:r>
              <a:rPr lang="en-US" dirty="0"/>
              <a:t>01 / 15</a:t>
            </a:r>
            <a:br/>
            <a:r>
              <a:rPr lang="en-US" dirty="0"/>
              <a:t>모델 실험에서 운영 판단까지</a:t>
            </a:r>
            <a:br/>
            <a:r>
              <a:rPr lang="en-US" dirty="0"/>
              <a:t>01</a:t>
            </a:r>
            <a:br/>
            <a:r>
              <a:rPr lang="en-US" dirty="0"/>
              <a:t/>
            </a:r>
            <a:br/>
            <a:r>
              <a:rPr lang="en-US" dirty="0"/>
              <a:t>Microsoft Foundry에서 모델·에이전트·도구와 평가를 함께 이해합니다.</a:t>
            </a:r>
            <a:br/>
            <a:r>
              <a:rPr lang="en-US" dirty="0"/>
              <a:t/>
            </a:r>
            <a:br/>
            <a:r>
              <a:rPr lang="en-US" dirty="0"/>
              <a:t>01</a:t>
            </a:r>
            <a:br/>
            <a:r>
              <a:rPr lang="en-US" dirty="0"/>
              <a:t>역할을 구분합니다</a:t>
            </a:r>
            <a:br/>
            <a:r>
              <a:rPr lang="en-US" dirty="0"/>
              <a:t/>
            </a:r>
            <a:br/>
            <a:r>
              <a:rPr lang="en-US" dirty="0"/>
              <a:t>모델, 에이전트, 도구가 각각 무엇을 담당하는지 살펴봅니다.</a:t>
            </a:r>
            <a:br/>
            <a:r>
              <a:rPr lang="en-US" dirty="0"/>
              <a:t/>
            </a:r>
            <a:br/>
            <a:r>
              <a:rPr lang="en-US" dirty="0"/>
              <a:t>02</a:t>
            </a:r>
            <a:br/>
            <a:r>
              <a:rPr lang="en-US" dirty="0"/>
              <a:t>구현 경로를 고릅니다</a:t>
            </a:r>
            <a:br/>
            <a:r>
              <a:rPr lang="en-US" dirty="0"/>
              <a:t/>
            </a:r>
            <a:br/>
            <a:r>
              <a:rPr lang="en-US" dirty="0"/>
              <a:t>직접 호출부터 코드 기반 에이전트까지 필요한 제어 수준으로 선택합니다.</a:t>
            </a:r>
            <a:br/>
            <a:r>
              <a:rPr lang="en-US" dirty="0"/>
              <a:t/>
            </a:r>
            <a:br/>
            <a:r>
              <a:rPr lang="en-US" dirty="0"/>
              <a:t>03</a:t>
            </a:r>
            <a:br/>
            <a:r>
              <a:rPr lang="en-US" dirty="0"/>
              <a:t>근거로 출시를 판단합니다</a:t>
            </a:r>
            <a:br/>
            <a:r>
              <a:rPr lang="en-US" dirty="0"/>
              <a:t/>
            </a:r>
            <a:br/>
            <a:r>
              <a:rPr lang="en-US" dirty="0"/>
              <a:t>평가 결과와 실패 사례, 운영 책임을 연결해 진행 여부를 결정합니다.</a:t>
            </a:r>
            <a:br/>
            <a:r>
              <a:rPr lang="en-US" dirty="0"/>
              <a:t/>
            </a:r>
            <a:br/>
            <a:r>
              <a:rPr lang="en-US" dirty="0"/>
              <a:t>출발점</a:t>
            </a:r>
            <a:br/>
            <a:r>
              <a:rPr lang="en-US" dirty="0"/>
              <a:t/>
            </a:r>
            <a:br/>
            <a:r>
              <a:rPr lang="en-US" dirty="0"/>
              <a:t>좋은 답변 한 번보다 반복 가능한 업무 결과가 중요합니다. 해결할 문제와 허용할 행동부터 정합니다.</a:t>
            </a:r>
            <a:br/>
            <a:r>
              <a:rPr lang="en-US" dirty="0"/>
              <a:t/>
            </a:r>
            <a:br/>
            <a:r>
              <a:rPr lang="en-US" dirty="0"/>
              <a:t>읽는 방향</a:t>
            </a:r>
            <a:br/>
            <a:r>
              <a:rPr lang="en-US" dirty="0"/>
              <a:t/>
            </a:r>
            <a:br/>
            <a:r>
              <a:rPr lang="en-US" dirty="0"/>
              <a:t>기능을 고르기 전에 업무 범위, 통제 조건, 출시 근거를 연결합니다.</a:t>
            </a:r>
            <a:br/>
            <a:r>
              <a:rPr lang="en-US" dirty="0"/>
              <a:t/>
            </a:r>
            <a:br/>
            <a:r>
              <a:rPr lang="en-US" dirty="0"/>
              <a:t>범위</a:t>
            </a:r>
            <a:br/>
            <a:r>
              <a:rPr lang="en-US" dirty="0"/>
              <a:t/>
            </a:r>
            <a:br/>
            <a:r>
              <a:rPr lang="en-US" dirty="0"/>
              <a:t>Azure AI Foundry의 현재 브랜드는 Microsoft Foundry입니다. 모든 기능이 모든 리전에 제공되는 것은 아닙니다.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평가와 관측은 개발 중 실험과 운영 중 확인에 서로 다른 근거를 제공합니다.</a:t>
            </a:r>
            <a:br/>
            <a:r>
              <a:rPr lang="en-US" dirty="0"/>
              <a:t>실험 응답을 실제 서비스의 품질·안전·비용 보장으로 확대 해석하지 않습니다.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시연은 가능성을 보여줍니다. 운영 판단은 실패 상황에서도 무엇을 할지 묻습니다.</a:t>
            </a:r>
            <a:br/>
            <a:r>
              <a:rPr lang="en-US" dirty="0"/>
              <a:t>이 차이를 먼저 합의하면 평가와 관측을 뒤늦게 붙이지 않을 수 있습니다.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CONTRAST</a:t>
            </a:r>
            <a:br/>
            <a:r>
              <a:rPr lang="en-US" dirty="0"/>
              <a:t>02 / 15</a:t>
            </a:r>
            <a:br/>
            <a:r>
              <a:rPr lang="en-US" dirty="0"/>
              <a:t>좋은 시연과 운영 준비는 다릅니다</a:t>
            </a:r>
            <a:br/>
            <a:r>
              <a:rPr lang="en-US" dirty="0"/>
              <a:t/>
            </a:r>
            <a:br/>
            <a:r>
              <a:rPr lang="en-US" dirty="0"/>
              <a:t>같은 AI 응답도 실험과 업무 운영에서는 확인해야 할 조건이 달라집니다.</a:t>
            </a:r>
            <a:br/>
            <a:r>
              <a:rPr lang="en-US" dirty="0"/>
              <a:t/>
            </a:r>
            <a:br/>
            <a:r>
              <a:rPr lang="en-US" dirty="0"/>
              <a:t>01</a:t>
            </a:r>
            <a:br/>
            <a:r>
              <a:rPr lang="en-US" dirty="0"/>
              <a:t>실험 · 가능한가</a:t>
            </a:r>
            <a:br/>
            <a:r>
              <a:rPr lang="en-US" dirty="0"/>
              <a:t/>
            </a:r>
            <a:br/>
            <a:r>
              <a:rPr lang="en-US" dirty="0"/>
              <a:t>짧은 입력으로 모델의 응답을 살펴보고 업무 가설을 좁힙니다.</a:t>
            </a:r>
            <a:br/>
            <a:r>
              <a:rPr lang="en-US" dirty="0"/>
              <a:t/>
            </a:r>
            <a:br/>
            <a:r>
              <a:rPr lang="en-US" dirty="0"/>
              <a:t>전환의 이유</a:t>
            </a:r>
            <a:br/>
            <a:r>
              <a:rPr lang="en-US" dirty="0"/>
              <a:t>→</a:t>
            </a:r>
            <a:br/>
            <a:r>
              <a:rPr lang="en-US" dirty="0"/>
              <a:t/>
            </a:r>
            <a:br/>
            <a:r>
              <a:rPr lang="en-US" dirty="0"/>
              <a:t>실험은 가능성을 찾는 출발점입니다. 대표 사례 하나가 전체 사용자와 예외 상황을 대신하지는 않습니다.</a:t>
            </a:r>
            <a:br/>
            <a:r>
              <a:rPr lang="en-US" dirty="0"/>
              <a:t/>
            </a:r>
            <a:br/>
            <a:r>
              <a:rPr lang="en-US" dirty="0"/>
              <a:t>02</a:t>
            </a:r>
            <a:br/>
            <a:r>
              <a:rPr lang="en-US" dirty="0"/>
              <a:t>운영 · 맡길 수 있는가</a:t>
            </a:r>
            <a:br/>
            <a:r>
              <a:rPr lang="en-US" dirty="0"/>
              <a:t/>
            </a:r>
            <a:br/>
            <a:r>
              <a:rPr lang="en-US" dirty="0"/>
              <a:t>대표 질문과 실패 조건, 허용 행동, 관측과 중단 책임을 함께 확인합니다.</a:t>
            </a:r>
            <a:br/>
            <a:r>
              <a:rPr lang="en-US" dirty="0"/>
              <a:t/>
            </a:r>
            <a:br/>
            <a:r>
              <a:rPr lang="en-US" dirty="0"/>
              <a:t>선택 기준</a:t>
            </a:r>
            <a:br/>
            <a:r>
              <a:rPr lang="en-US" dirty="0"/>
              <a:t/>
            </a:r>
            <a:br/>
            <a:r>
              <a:rPr lang="en-US" dirty="0"/>
              <a:t>실험을 버리는 대신 평가 데이터, 접근 통제, 추적 기록을 더해 반복 가능한 판단으로 발전시킵니다.</a:t>
            </a:r>
            <a:br/>
            <a:r>
              <a:rPr lang="en-US" dirty="0"/>
              <a:t/>
            </a:r>
            <a:br/>
            <a:r>
              <a:rPr lang="en-US" dirty="0"/>
              <a:t>주의할 해석</a:t>
            </a:r>
            <a:br/>
            <a:r>
              <a:rPr lang="en-US" dirty="0"/>
              <a:t/>
            </a:r>
            <a:br/>
            <a:r>
              <a:rPr lang="en-US" dirty="0"/>
              <a:t>아래 비교는 도입 관점의 제안입니다. Foundry를 선택했다는 사실만으로 운영 준비가 끝나지는 않습니다.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에이전트가 도구를 호출할 수 있다는 사실과 데이터 접근 권한은 별개입니다.</a:t>
            </a:r>
            <a:br/>
            <a:r>
              <a:rPr lang="en-US" dirty="0"/>
              <a:t>Foundry의 구성 개념을 조직의 보안 경계나 실제 배포 구조와 혼동하지 않습니다.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왼쪽은 사용할 재료와 기능, 가운데는 실행을 구성하는 역할, 오른쪽은 업무 경험입니다.</a:t>
            </a:r>
            <a:br/>
            <a:r>
              <a:rPr lang="en-US" dirty="0"/>
              <a:t>이 그림은 역할 설명이며 검증된 네트워크 배포도가 아닙니다.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ARCHITECTURE</a:t>
            </a:r>
            <a:br/>
            <a:r>
              <a:rPr lang="en-US" dirty="0"/>
              <a:t>03 / 15</a:t>
            </a:r>
            <a:br/>
            <a:r>
              <a:rPr lang="en-US" dirty="0"/>
              <a:t>Foundry의 역할을 세 층으로 읽습니다</a:t>
            </a:r>
            <a:br/>
            <a:r>
              <a:rPr lang="en-US" dirty="0"/>
              <a:t/>
            </a:r>
            <a:br/>
            <a:r>
              <a:rPr lang="en-US" dirty="0"/>
              <a:t>입력과 모델·도구, 에이전트 구성, 업무 응용을 잇는 개념도입니다.</a:t>
            </a:r>
            <a:br/>
            <a:r>
              <a:rPr lang="en-US" dirty="0"/>
              <a:t/>
            </a:r>
            <a:br/>
            <a:r>
              <a:rPr lang="en-US" dirty="0"/>
              <a:t>입력 / 기반 경계</a:t>
            </a:r>
            <a:br/>
            <a:r>
              <a:rPr lang="en-US" dirty="0"/>
              <a:t>모델 · 도구 · 지식</a:t>
            </a:r>
            <a:br/>
            <a:r>
              <a:rPr lang="en-US" dirty="0"/>
              <a:t/>
            </a:r>
            <a:br/>
            <a:r>
              <a:rPr lang="en-US" dirty="0"/>
              <a:t>업무에 맞는 추론 모델과 사용할 수 있는 자료·기능을 고릅니다.</a:t>
            </a:r>
            <a:br/>
            <a:r>
              <a:rPr lang="en-US" dirty="0"/>
              <a:t/>
            </a:r>
            <a:br/>
            <a:r>
              <a:rPr lang="en-US" dirty="0"/>
              <a:t>기반 관계</a:t>
            </a:r>
            <a:br/>
            <a:r>
              <a:rPr lang="en-US" dirty="0"/>
              <a:t>중심 플랫폼 경계</a:t>
            </a:r>
            <a:br/>
            <a:r>
              <a:rPr lang="en-US" dirty="0"/>
              <a:t>에이전트 구성</a:t>
            </a:r>
            <a:br/>
            <a:r>
              <a:rPr lang="en-US" dirty="0"/>
              <a:t/>
            </a:r>
            <a:br/>
            <a:r>
              <a:rPr lang="en-US" dirty="0"/>
              <a:t>지침과 대화, 도구 사용을 구성하며 허용 행동을 분명히 합니다.</a:t>
            </a:r>
            <a:br/>
            <a:r>
              <a:rPr lang="en-US" dirty="0"/>
              <a:t/>
            </a:r>
            <a:br/>
            <a:r>
              <a:rPr lang="en-US" dirty="0"/>
              <a:t>의미 연결</a:t>
            </a:r>
            <a:br/>
            <a:r>
              <a:rPr lang="en-US" dirty="0"/>
              <a:t>소비 / 응용 경계</a:t>
            </a:r>
            <a:br/>
            <a:r>
              <a:rPr lang="en-US" dirty="0"/>
              <a:t>업무 응용</a:t>
            </a:r>
            <a:br/>
            <a:r>
              <a:rPr lang="en-US" dirty="0"/>
              <a:t/>
            </a:r>
            <a:br/>
            <a:r>
              <a:rPr lang="en-US" dirty="0"/>
              <a:t>응답과 근거를 사용자 작업에 연결하고 예외 처리 경로를 제공합니다.</a:t>
            </a:r>
            <a:br/>
            <a:r>
              <a:rPr lang="en-US" dirty="0"/>
              <a:t/>
            </a:r>
            <a:br/>
            <a:r>
              <a:rPr lang="en-US" dirty="0"/>
              <a:t>설계 맥락</a:t>
            </a:r>
            <a:br/>
            <a:r>
              <a:rPr lang="en-US" dirty="0"/>
              <a:t/>
            </a:r>
            <a:br/>
            <a:r>
              <a:rPr lang="en-US" dirty="0"/>
              <a:t>Foundry project는 관련 AI 자산과 구성을 조직하는 작업 단위입니다. 그림은 논리적 역할 구분입니다.</a:t>
            </a:r>
            <a:br/>
            <a:r>
              <a:rPr lang="en-US" dirty="0"/>
              <a:t/>
            </a:r>
            <a:br/>
            <a:r>
              <a:rPr lang="en-US" dirty="0"/>
              <a:t>운영 확인 · 설계 메모</a:t>
            </a:r>
            <a:br/>
            <a:r>
              <a:rPr lang="en-US" dirty="0"/>
              <a:t/>
            </a:r>
            <a:br/>
            <a:r>
              <a:rPr lang="en-US" dirty="0"/>
              <a:t>실선은 개념을 읽는 관계입니다. 실제 API 호출, VNet이나 데이터 이동 경로를 뜻하지 않습니다.</a:t>
            </a:r>
            <a:br/>
            <a:r>
              <a:rPr lang="en-US" dirty="0"/>
              <a:t/>
            </a:r>
            <a:br/>
            <a:r>
              <a:rPr lang="en-US" dirty="0"/>
              <a:t>검증 범위</a:t>
            </a:r>
            <a:br/>
            <a:r>
              <a:rPr lang="en-US" dirty="0"/>
              <a:t/>
            </a:r>
            <a:br/>
            <a:r>
              <a:rPr lang="en-US" dirty="0"/>
              <a:t>데이터 접근, 신원, 네트워크 조건과 기록 범위는 별도로 설계하고 검증합니다.</a:t>
            </a:r>
            <a:br/>
            <a:r>
              <a:rPr lang="en-US" dirty="0"/>
              <a:t/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이는 공식 기능을 바탕으로 구성한 도입 제안이며 제품의 자동 승인 절차가 아닙니다.</a:t>
            </a:r>
            <a:br/>
            <a:r>
              <a:rPr lang="en-US" dirty="0"/>
              <a:t>단계의 순서와 산출물은 업무의 위험도와 조직의 검토 절차에 맞게 조정합니다.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먼저 완료 기준을 정한 뒤 작게 만듭니다.</a:t>
            </a:r>
            <a:br/>
            <a:r>
              <a:rPr lang="en-US" dirty="0"/>
              <a:t>평가에서 발견한 실패를 수정하고, 운영 책임이 준비되었는지 확인합니다.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PROCESS</a:t>
            </a:r>
            <a:br/>
            <a:r>
              <a:rPr lang="en-US" dirty="0"/>
              <a:t>04 / 15</a:t>
            </a:r>
            <a:br/>
            <a:r>
              <a:rPr lang="en-US" dirty="0"/>
              <a:t>평가 기준부터 작은 실행을 연결합니다</a:t>
            </a:r>
            <a:br/>
            <a:r>
              <a:rPr lang="en-US" dirty="0"/>
              <a:t/>
            </a:r>
            <a:br/>
            <a:r>
              <a:rPr lang="en-US" dirty="0"/>
              <a:t>범위 → 구현 → 평가 → 운영 준비로 이어지는 네 단계 도입 제안입니다.</a:t>
            </a:r>
            <a:br/>
            <a:r>
              <a:rPr lang="en-US" dirty="0"/>
              <a:t/>
            </a:r>
            <a:br/>
            <a:r>
              <a:rPr lang="en-US" dirty="0"/>
              <a:t>01</a:t>
            </a:r>
            <a:br/>
            <a:r>
              <a:rPr lang="en-US" dirty="0"/>
              <a:t>업무 범위</a:t>
            </a:r>
            <a:br/>
            <a:r>
              <a:rPr lang="en-US" dirty="0"/>
              <a:t/>
            </a:r>
            <a:br/>
            <a:r>
              <a:rPr lang="en-US" dirty="0"/>
              <a:t>사용자, 질문, 허용 행동과 제외할 상황을 합의합니다.</a:t>
            </a:r>
            <a:br/>
            <a:r>
              <a:rPr lang="en-US" dirty="0"/>
              <a:t/>
            </a:r>
            <a:br/>
            <a:r>
              <a:rPr lang="en-US" dirty="0"/>
              <a:t>↘</a:t>
            </a:r>
            <a:br/>
            <a:r>
              <a:rPr lang="en-US" dirty="0"/>
              <a:t>02</a:t>
            </a:r>
            <a:br/>
            <a:r>
              <a:rPr lang="en-US" dirty="0"/>
              <a:t>작은 구현</a:t>
            </a:r>
            <a:br/>
            <a:r>
              <a:rPr lang="en-US" dirty="0"/>
              <a:t/>
            </a:r>
            <a:br/>
            <a:r>
              <a:rPr lang="en-US" dirty="0"/>
              <a:t>모델과 구현 경로를 골라 제한된 데이터로 연결합니다.</a:t>
            </a:r>
            <a:br/>
            <a:r>
              <a:rPr lang="en-US" dirty="0"/>
              <a:t/>
            </a:r>
            <a:br/>
            <a:r>
              <a:rPr lang="en-US" dirty="0"/>
              <a:t>↗</a:t>
            </a:r>
            <a:br/>
            <a:r>
              <a:rPr lang="en-US" dirty="0"/>
              <a:t>03</a:t>
            </a:r>
            <a:br/>
            <a:r>
              <a:rPr lang="en-US" dirty="0"/>
              <a:t>평가와 수정</a:t>
            </a:r>
            <a:br/>
            <a:r>
              <a:rPr lang="en-US" dirty="0"/>
              <a:t/>
            </a:r>
            <a:br/>
            <a:r>
              <a:rPr lang="en-US" dirty="0"/>
              <a:t>대표 질문과 실패 사례에서 품질·안전·도구 동작을 확인합니다.</a:t>
            </a:r>
            <a:br/>
            <a:r>
              <a:rPr lang="en-US" dirty="0"/>
              <a:t/>
            </a:r>
            <a:br/>
            <a:r>
              <a:rPr lang="en-US" dirty="0"/>
              <a:t>↘</a:t>
            </a:r>
            <a:br/>
            <a:r>
              <a:rPr lang="en-US" dirty="0"/>
              <a:t>04</a:t>
            </a:r>
            <a:br/>
            <a:r>
              <a:rPr lang="en-US" dirty="0"/>
              <a:t>운영 준비</a:t>
            </a:r>
            <a:br/>
            <a:r>
              <a:rPr lang="en-US" dirty="0"/>
              <a:t/>
            </a:r>
            <a:br/>
            <a:r>
              <a:rPr lang="en-US" dirty="0"/>
              <a:t>추적, 오류 대응, 비용 확인과 중단 책임을 연결합니다.</a:t>
            </a:r>
            <a:br/>
            <a:r>
              <a:rPr lang="en-US" dirty="0"/>
              <a:t/>
            </a:r>
            <a:br/>
            <a:r>
              <a:rPr lang="en-US" dirty="0"/>
              <a:t>진행 단위</a:t>
            </a:r>
            <a:br/>
            <a:r>
              <a:rPr lang="en-US" dirty="0"/>
              <a:t/>
            </a:r>
            <a:br/>
            <a:r>
              <a:rPr lang="en-US" dirty="0"/>
              <a:t>대표 입력, 원하는 출력과 실패 조건을 먼저 적습니다. 그 기록을 다음 단계의 입력으로 사용합니다.</a:t>
            </a:r>
            <a:br/>
            <a:r>
              <a:rPr lang="en-US" dirty="0"/>
              <a:t/>
            </a:r>
            <a:br/>
            <a:r>
              <a:rPr lang="en-US" dirty="0"/>
              <a:t>완료 기준</a:t>
            </a:r>
            <a:br/>
            <a:r>
              <a:rPr lang="en-US" dirty="0"/>
              <a:t/>
            </a:r>
            <a:br/>
            <a:r>
              <a:rPr lang="en-US" dirty="0"/>
              <a:t>다음 단계에 넘길 산출물로 완료를 판단합니다. 구현 여부와 출시 가능 여부를 구분합니다.</a:t>
            </a:r>
            <a:br/>
            <a:r>
              <a:rPr lang="en-US" dirty="0"/>
              <a:t/>
            </a:r>
            <a:br/>
            <a:r>
              <a:rPr lang="en-US" dirty="0"/>
              <a:t>되돌아갈 조건</a:t>
            </a:r>
            <a:br/>
            <a:r>
              <a:rPr lang="en-US" dirty="0"/>
              <a:t/>
            </a:r>
            <a:br/>
            <a:r>
              <a:rPr lang="en-US" dirty="0"/>
              <a:t>품질·권한·기록 조건이 부족하면 이전 단계로 돌아갑니다. 실패 사례도 평가 자료에 남깁니다.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Prompt agent는 지침과 모델·도구를 설정하는 선언형 경로입니다.</a:t>
            </a:r>
            <a:br/>
            <a:r>
              <a:rPr lang="en-US" dirty="0"/>
              <a:t>Hosted agent는 자체 코드와 프레임워크를 실행하며 코드·의존성에 대한 팀의 책임이 남습니다.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모든 업무가 에이전트를 필요로 하지는 않습니다.</a:t>
            </a:r>
            <a:br/>
            <a:r>
              <a:rPr lang="en-US" dirty="0"/>
              <a:t>필요한 행동과 제어 수준을 먼저 정한 뒤 가장 단순한 구현 경로를 선택합니다.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MATRIX</a:t>
            </a:r>
            <a:br/>
            <a:r>
              <a:rPr lang="en-US" dirty="0"/>
              <a:t>05 / 15</a:t>
            </a:r>
            <a:br/>
            <a:r>
              <a:rPr lang="en-US" dirty="0"/>
              <a:t>필요한 제어 수준으로 구현을 고릅니다</a:t>
            </a:r>
            <a:br/>
            <a:r>
              <a:rPr lang="en-US" dirty="0"/>
              <a:t/>
            </a:r>
            <a:br/>
            <a:r>
              <a:rPr lang="en-US" dirty="0"/>
              <a:t>직접 모델 호출, prompt agent, hosted agent는 서로 다른 시작점입니다.</a:t>
            </a:r>
            <a:br/>
            <a:r>
              <a:rPr lang="en-US" dirty="0"/>
              <a:t/>
            </a:r>
            <a:br/>
            <a:r>
              <a:rPr lang="en-US" dirty="0"/>
              <a:t>시작 경로	직접 관리하는 것	선택 기준</a:t>
            </a:r>
            <a:br/>
            <a:r>
              <a:rPr lang="en-US" dirty="0"/>
              <a:t>모델 직접 호출	애플리케이션 코드	도구 없이 추론이 필요</a:t>
            </a:r>
            <a:br/>
            <a:r>
              <a:rPr lang="en-US" dirty="0"/>
              <a:t>Prompt agent	지침 · 모델 · 도구	선언형 구성으로 시작</a:t>
            </a:r>
            <a:br/>
            <a:r>
              <a:rPr lang="en-US" dirty="0"/>
              <a:t>Hosted agent	자체 코드와 의존성	고유한 실행 로직 제어</a:t>
            </a:r>
            <a:br/>
            <a:r>
              <a:rPr lang="en-US" dirty="0"/>
              <a:t>판단의 중심</a:t>
            </a:r>
            <a:br/>
            <a:r>
              <a:rPr lang="en-US" dirty="0"/>
              <a:t>→</a:t>
            </a:r>
            <a:br/>
            <a:r>
              <a:rPr lang="en-US" dirty="0"/>
              <a:t/>
            </a:r>
            <a:br/>
            <a:r>
              <a:rPr lang="en-US" dirty="0"/>
              <a:t>도구가 필요하지 않다면 직접 호출부터 검토합니다. 고유한 코드가 필요한 경우에만 복잡도를 늘립니다.</a:t>
            </a:r>
            <a:br/>
            <a:r>
              <a:rPr lang="en-US" dirty="0"/>
              <a:t/>
            </a:r>
            <a:br/>
            <a:r>
              <a:rPr lang="en-US" dirty="0"/>
              <a:t>비교의 전제</a:t>
            </a:r>
            <a:br/>
            <a:r>
              <a:rPr lang="en-US" dirty="0"/>
              <a:t/>
            </a:r>
            <a:br/>
            <a:r>
              <a:rPr lang="en-US" dirty="0"/>
              <a:t>비교는 텍스트 중심 업무 범위입니다. 음성 기반 prompt agent는 이번 표에서 제외합니다.</a:t>
            </a:r>
            <a:br/>
            <a:r>
              <a:rPr lang="en-US" dirty="0"/>
              <a:t/>
            </a:r>
            <a:br/>
            <a:r>
              <a:rPr lang="en-US" dirty="0"/>
              <a:t>해석의 한계</a:t>
            </a:r>
            <a:br/>
            <a:r>
              <a:rPr lang="en-US" dirty="0"/>
              <a:t/>
            </a:r>
            <a:br/>
            <a:r>
              <a:rPr lang="en-US" dirty="0"/>
              <a:t>직접 호출은 에이전트 유형이 아닙니다. 실제 지원 모델·도구·리전과 출시 상태를 별도로 확인합니다.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실제 문서나 사용자 데이터를 사용하지 않은 설명용 시나리오입니다.</a:t>
            </a:r>
            <a:br/>
            <a:r>
              <a:rPr lang="en-US" dirty="0"/>
              <a:t>권한 필터, 근거 부족 시 행동과 사람에게 넘기는 경로를 별도 구현·검증해야 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답변을 빨리 만드는 것보다 어떤 근거를 볼 수 있는지 먼저 확인합니다.</a:t>
            </a:r>
            <a:br/>
            <a:r>
              <a:rPr lang="en-US" dirty="0"/>
              <a:t>모델의 지침만으로 접근 권한을 통제했다고 판단하지 않습니다.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SCENARIO</a:t>
            </a:r>
            <a:br/>
            <a:r>
              <a:rPr lang="en-US" dirty="0"/>
              <a:t>06 / 15</a:t>
            </a:r>
            <a:br/>
            <a:r>
              <a:rPr lang="en-US" dirty="0"/>
              <a:t>사내 문서 Q&amp;A는 근거부터 확인합니다</a:t>
            </a:r>
            <a:br/>
            <a:r>
              <a:rPr lang="en-US" dirty="0"/>
              <a:t/>
            </a:r>
            <a:br/>
            <a:r>
              <a:rPr lang="en-US" dirty="0"/>
              <a:t>질문, 접근 확인, 근거 검토, 답변을 잇는 가상 업무 시나리오입니다.</a:t>
            </a:r>
            <a:br/>
            <a:r>
              <a:rPr lang="en-US" dirty="0"/>
              <a:t/>
            </a:r>
            <a:br/>
            <a:r>
              <a:rPr lang="en-US" dirty="0"/>
              <a:t>01</a:t>
            </a:r>
            <a:br/>
            <a:r>
              <a:rPr lang="en-US" dirty="0"/>
              <a:t>사용자 · 질문</a:t>
            </a:r>
            <a:br/>
            <a:r>
              <a:rPr lang="en-US" dirty="0"/>
              <a:t/>
            </a:r>
            <a:br/>
            <a:r>
              <a:rPr lang="en-US" dirty="0"/>
              <a:t>업무 맥락과 필요한 답변을 제공하며 민감한 입력을 최소화합니다.</a:t>
            </a:r>
            <a:br/>
            <a:r>
              <a:rPr lang="en-US" dirty="0"/>
              <a:t/>
            </a:r>
            <a:br/>
            <a:r>
              <a:rPr lang="en-US" dirty="0"/>
              <a:t>→</a:t>
            </a:r>
            <a:br/>
            <a:r>
              <a:rPr lang="en-US" dirty="0"/>
              <a:t>02</a:t>
            </a:r>
            <a:br/>
            <a:r>
              <a:rPr lang="en-US" dirty="0"/>
              <a:t>응용 · 접근 확인</a:t>
            </a:r>
            <a:br/>
            <a:r>
              <a:rPr lang="en-US" dirty="0"/>
              <a:t/>
            </a:r>
            <a:br/>
            <a:r>
              <a:rPr lang="en-US" dirty="0"/>
              <a:t>신원과 허용 자료 범위를 확인한 뒤 검색 요청을 구성합니다.</a:t>
            </a:r>
            <a:br/>
            <a:r>
              <a:rPr lang="en-US" dirty="0"/>
              <a:t/>
            </a:r>
            <a:br/>
            <a:r>
              <a:rPr lang="en-US" dirty="0"/>
              <a:t>↓</a:t>
            </a:r>
            <a:br/>
            <a:r>
              <a:rPr lang="en-US" dirty="0"/>
              <a:t>03</a:t>
            </a:r>
            <a:br/>
            <a:r>
              <a:rPr lang="en-US" dirty="0"/>
              <a:t>에이전트 · 근거 검토</a:t>
            </a:r>
            <a:br/>
            <a:r>
              <a:rPr lang="en-US" dirty="0"/>
              <a:t/>
            </a:r>
            <a:br/>
            <a:r>
              <a:rPr lang="en-US" dirty="0"/>
              <a:t>검색된 자료가 질문에 답하는지 확인하고 출처를 연결합니다.</a:t>
            </a:r>
            <a:br/>
            <a:r>
              <a:rPr lang="en-US" dirty="0"/>
              <a:t/>
            </a:r>
            <a:br/>
            <a:r>
              <a:rPr lang="en-US" dirty="0"/>
              <a:t>←</a:t>
            </a:r>
            <a:br/>
            <a:r>
              <a:rPr lang="en-US" dirty="0"/>
              <a:t>04</a:t>
            </a:r>
            <a:br/>
            <a:r>
              <a:rPr lang="en-US" dirty="0"/>
              <a:t>사용자 · 답변 확인</a:t>
            </a:r>
            <a:br/>
            <a:r>
              <a:rPr lang="en-US" dirty="0"/>
              <a:t/>
            </a:r>
            <a:br/>
            <a:r>
              <a:rPr lang="en-US" dirty="0"/>
              <a:t>답변과 근거를 검토하고 불확실한 내용은 담당자에게 넘깁니다.</a:t>
            </a:r>
            <a:br/>
            <a:r>
              <a:rPr lang="en-US" dirty="0"/>
              <a:t/>
            </a:r>
            <a:br/>
            <a:r>
              <a:rPr lang="en-US" dirty="0"/>
              <a:t>장면의 연결</a:t>
            </a:r>
            <a:br/>
            <a:r>
              <a:rPr lang="en-US" dirty="0"/>
              <a:t/>
            </a:r>
            <a:br/>
            <a:r>
              <a:rPr lang="en-US" dirty="0"/>
              <a:t>직원이 허용된 사내 문서를 질문합니다. 확인할 근거가 없으면 답을 꾸며내지 않고 추가 확인을 요청합니다.</a:t>
            </a:r>
            <a:br/>
            <a:r>
              <a:rPr lang="en-US" dirty="0"/>
              <a:t/>
            </a:r>
            <a:br/>
            <a:r>
              <a:rPr lang="en-US" dirty="0"/>
              <a:t>인계의 품질</a:t>
            </a:r>
            <a:br/>
            <a:r>
              <a:rPr lang="en-US" dirty="0"/>
              <a:t/>
            </a:r>
            <a:br/>
            <a:r>
              <a:rPr lang="en-US" dirty="0"/>
              <a:t>단계 사이에는 질문만 아니라 접근 범위와 근거가 함께 전달되어야 합니다.</a:t>
            </a:r>
            <a:br/>
            <a:r>
              <a:rPr lang="en-US" dirty="0"/>
              <a:t/>
            </a:r>
            <a:br/>
            <a:r>
              <a:rPr lang="en-US" dirty="0"/>
              <a:t>예외의 처리</a:t>
            </a:r>
            <a:br/>
            <a:r>
              <a:rPr lang="en-US" dirty="0"/>
              <a:t/>
            </a:r>
            <a:br/>
            <a:r>
              <a:rPr lang="en-US" dirty="0"/>
              <a:t>검색·권한·거부 처리는 설계 요구사항입니다. 이 그림이 제품의 자동 차단을 보장하지 않습니다.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출시 기준은 팀이 정하는 검토 기준이며 Foundry가 대신 승인해 주는 절차가 아닙니다.</a:t>
            </a:r>
            <a:br/>
            <a:r>
              <a:rPr lang="en-US" dirty="0"/>
              <a:t>제품의 출시 상태와 실제 업무에 대한 검증 근거는 각각 확인해야 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네 개의 체크를 채우는 것이 목적은 아닙니다.</a:t>
            </a:r>
            <a:br/>
            <a:r>
              <a:rPr lang="en-US" dirty="0"/>
              <a:t>각 답변을 뒷받침하는 기록과 책임자가 있는지를 보겠습니다.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Microsoft Foundry portal general availability overview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https://learn.microsoft.com/en-us/azure/foundry/concepts/general-availability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CHECKLIST</a:t>
            </a:r>
            <a:br/>
            <a:r>
              <a:rPr lang="en-US" dirty="0"/>
              <a:t>07 / 15</a:t>
            </a:r>
            <a:br/>
            <a:r>
              <a:rPr lang="en-US" dirty="0"/>
              <a:t>출시 전 네 가지 근거를 확인합니다</a:t>
            </a:r>
            <a:br/>
            <a:r>
              <a:rPr lang="en-US" dirty="0"/>
              <a:t/>
            </a:r>
            <a:br/>
            <a:r>
              <a:rPr lang="en-US" dirty="0"/>
              <a:t>체크 기호는 검토 대상이지 실제 승인이나 충족 상태가 아닙니다.</a:t>
            </a:r>
            <a:br/>
            <a:r>
              <a:rPr lang="en-US" dirty="0"/>
              <a:t/>
            </a:r>
            <a:br/>
            <a:r>
              <a:rPr lang="en-US" dirty="0"/>
              <a:t>업무 적합성</a:t>
            </a:r>
            <a:br/>
            <a:r>
              <a:rPr lang="en-US" dirty="0"/>
              <a:t/>
            </a:r>
            <a:br/>
            <a:r>
              <a:rPr lang="en-US" dirty="0"/>
              <a:t>대표 질문과 실패 사례에서 원하는 결과를 설명할 수 있습니까?</a:t>
            </a:r>
            <a:br/>
            <a:r>
              <a:rPr lang="en-US" dirty="0"/>
              <a:t/>
            </a:r>
            <a:br/>
            <a:r>
              <a:rPr lang="en-US" dirty="0"/>
              <a:t>접근과 허용 행동</a:t>
            </a:r>
            <a:br/>
            <a:r>
              <a:rPr lang="en-US" dirty="0"/>
              <a:t/>
            </a:r>
            <a:br/>
            <a:r>
              <a:rPr lang="en-US" dirty="0"/>
              <a:t>누가 어떤 자료와 도구를 사용할 수 있는지 검증했습니까?</a:t>
            </a:r>
            <a:br/>
            <a:r>
              <a:rPr lang="en-US" dirty="0"/>
              <a:t/>
            </a:r>
            <a:br/>
            <a:r>
              <a:rPr lang="en-US" dirty="0"/>
              <a:t>기능별 준비 상태</a:t>
            </a:r>
            <a:br/>
            <a:r>
              <a:rPr lang="en-US" dirty="0"/>
              <a:t/>
            </a:r>
            <a:br/>
            <a:r>
              <a:rPr lang="en-US" dirty="0"/>
              <a:t>GA/Preview, 대상 리전과 모델·도구 조건을 확인했습니까?</a:t>
            </a:r>
            <a:br/>
            <a:r>
              <a:rPr lang="en-US" dirty="0"/>
              <a:t/>
            </a:r>
            <a:br/>
            <a:r>
              <a:rPr lang="en-US" dirty="0"/>
              <a:t>운영과 중단 책임</a:t>
            </a:r>
            <a:br/>
            <a:r>
              <a:rPr lang="en-US" dirty="0"/>
              <a:t/>
            </a:r>
            <a:br/>
            <a:r>
              <a:rPr lang="en-US" dirty="0"/>
              <a:t>오류·비용·기록을 확인하고 필요하면 중단할 담당자가 있습니까?</a:t>
            </a:r>
            <a:br/>
            <a:r>
              <a:rPr lang="en-US" dirty="0"/>
              <a:t/>
            </a:r>
            <a:br/>
            <a:r>
              <a:rPr lang="en-US" dirty="0"/>
              <a:t>검토 방식</a:t>
            </a:r>
            <a:br/>
            <a:r>
              <a:rPr lang="en-US" dirty="0"/>
              <a:t/>
            </a:r>
            <a:br/>
            <a:r>
              <a:rPr lang="en-US" dirty="0"/>
              <a:t>기능·모델·도구 또는 데이터 범위가 바뀌면 같은 질문으로 다시 검토합니다.</a:t>
            </a:r>
            <a:br/>
            <a:r>
              <a:rPr lang="en-US" dirty="0"/>
              <a:t/>
            </a:r>
            <a:br/>
            <a:r>
              <a:rPr lang="en-US" dirty="0"/>
              <a:t>통과의 의미</a:t>
            </a:r>
            <a:br/>
            <a:r>
              <a:rPr lang="en-US" dirty="0"/>
              <a:t/>
            </a:r>
            <a:br/>
            <a:r>
              <a:rPr lang="en-US" dirty="0"/>
              <a:t>필수 조건을 뒷받침할 기록이 있을 때 제한된 적용을 검토합니다.</a:t>
            </a:r>
            <a:br/>
            <a:r>
              <a:rPr lang="en-US" dirty="0"/>
              <a:t/>
            </a:r>
            <a:br/>
            <a:r>
              <a:rPr lang="en-US" dirty="0"/>
              <a:t>보류의 가치</a:t>
            </a:r>
            <a:br/>
            <a:r>
              <a:rPr lang="en-US" dirty="0"/>
              <a:t/>
            </a:r>
            <a:br/>
            <a:r>
              <a:rPr lang="en-US" dirty="0"/>
              <a:t>미확인 조건은 완료로 표시하지 않습니다. 책임자와 다음 확인 시점을 남깁니다.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공식 상태는 문서에서 확인한 사실이고, 이를 우리 업무에 적용할지는 별도의 판단입니다.</a:t>
            </a:r>
            <a:br/>
            <a:r>
              <a:rPr lang="en-US" dirty="0"/>
              <a:t>기능별·경험별 범위를 생략해 Foundry 전체가 동일한 출시 상태라고 표현하지 않습니다.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상태 표를 읽을 때는 무엇에 대한 GA인지 확인해야 합니다.</a:t>
            </a:r>
            <a:br/>
            <a:r>
              <a:rPr lang="en-US" dirty="0"/>
              <a:t>공식 문서의 범위와 우리 조직의 도입 조건을 섞지 않겠습니다.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Microsoft Foundry portal general availability overview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https://learn.microsoft.com/en-us/azure/foundry/concepts/general-availability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EVIDENCE</a:t>
            </a:r>
            <a:br/>
            <a:r>
              <a:rPr lang="en-US" dirty="0"/>
              <a:t>08 / 15</a:t>
            </a:r>
            <a:br/>
            <a:r>
              <a:rPr lang="en-US" dirty="0"/>
              <a:t>공식 상태와 도입 판단을 분리합니다</a:t>
            </a:r>
            <a:br/>
            <a:r>
              <a:rPr lang="en-US" dirty="0"/>
              <a:t/>
            </a:r>
            <a:br/>
            <a:r>
              <a:rPr lang="en-US" dirty="0"/>
              <a:t>포털의 GA와 개별 기능의 GA는 같은 범위가 아닙니다.</a:t>
            </a:r>
            <a:br/>
            <a:r>
              <a:rPr lang="en-US" dirty="0"/>
              <a:t/>
            </a:r>
            <a:br/>
            <a:r>
              <a:rPr lang="en-US" dirty="0"/>
              <a:t>↳</a:t>
            </a:r>
            <a:br/>
            <a:r>
              <a:rPr lang="en-US" dirty="0"/>
              <a:t>근거의 범위</a:t>
            </a:r>
            <a:br/>
            <a:r>
              <a:rPr lang="en-US" dirty="0"/>
              <a:t/>
            </a:r>
            <a:br/>
            <a:r>
              <a:rPr lang="en-US" dirty="0"/>
              <a:t>공식 GA 개요를 2026-09-30에 확인했습니다. 상태는 이후 바뀔 수 있습니다.</a:t>
            </a:r>
            <a:br/>
            <a:r>
              <a:rPr lang="en-US" dirty="0"/>
              <a:t/>
            </a:r>
            <a:br/>
            <a:r>
              <a:rPr lang="en-US" dirty="0"/>
              <a:t>01</a:t>
            </a:r>
            <a:br/>
            <a:r>
              <a:rPr lang="en-US" dirty="0"/>
              <a:t>Agents 핵심 기능 · GA</a:t>
            </a:r>
            <a:br/>
            <a:r>
              <a:rPr lang="en-US" dirty="0"/>
              <a:t/>
            </a:r>
            <a:br/>
            <a:r>
              <a:rPr lang="en-US" dirty="0"/>
              <a:t>에이전트의 세부 유형, 연결 도구와 모델 조건까지 한꺼번에 보장하는 표기는 아닙니다.</a:t>
            </a:r>
            <a:br/>
            <a:r>
              <a:rPr lang="en-US" dirty="0"/>
              <a:t/>
            </a:r>
            <a:br/>
            <a:r>
              <a:rPr lang="en-US" dirty="0"/>
              <a:t>02</a:t>
            </a:r>
            <a:br/>
            <a:r>
              <a:rPr lang="en-US" dirty="0"/>
              <a:t>Evaluations · GA / 일부 Preview</a:t>
            </a:r>
            <a:br/>
            <a:r>
              <a:rPr lang="en-US" dirty="0"/>
              <a:t/>
            </a:r>
            <a:br/>
            <a:r>
              <a:rPr lang="en-US" dirty="0"/>
              <a:t>평가 기능 안에서도 평가자와 세부 기능의 출시 상태를 나눠 확인합니다.</a:t>
            </a:r>
            <a:br/>
            <a:r>
              <a:rPr lang="en-US" dirty="0"/>
              <a:t/>
            </a:r>
            <a:br/>
            <a:r>
              <a:rPr lang="en-US" dirty="0"/>
              <a:t>03</a:t>
            </a:r>
            <a:br/>
            <a:r>
              <a:rPr lang="en-US" dirty="0"/>
              <a:t>Monitoring · Memory · Preview</a:t>
            </a:r>
            <a:br/>
            <a:r>
              <a:rPr lang="en-US" dirty="0"/>
              <a:t/>
            </a:r>
            <a:br/>
            <a:r>
              <a:rPr lang="en-US" dirty="0"/>
              <a:t>운영 적용 정책과 데이터 보관·사용 조건을 기능별로 검토합니다.</a:t>
            </a:r>
            <a:br/>
            <a:r>
              <a:rPr lang="en-US" dirty="0"/>
              <a:t/>
            </a:r>
            <a:br/>
            <a:r>
              <a:rPr lang="en-US" dirty="0"/>
              <a:t>해석</a:t>
            </a:r>
            <a:br/>
            <a:r>
              <a:rPr lang="en-US" dirty="0"/>
              <a:t/>
            </a:r>
            <a:br/>
            <a:r>
              <a:rPr lang="en-US" dirty="0"/>
              <a:t>기능별 상태를 기록한 다음 업무 검증, 대상 리전과 운영 조건을 별도로 판단합니다.</a:t>
            </a:r>
            <a:br/>
            <a:r>
              <a:rPr lang="en-US" dirty="0"/>
              <a:t/>
            </a:r>
            <a:br/>
            <a:r>
              <a:rPr lang="en-US" dirty="0"/>
              <a:t>한계</a:t>
            </a:r>
            <a:br/>
            <a:r>
              <a:rPr lang="en-US" dirty="0"/>
              <a:t/>
            </a:r>
            <a:br/>
            <a:r>
              <a:rPr lang="en-US" dirty="0"/>
              <a:t>GA는 모든 하위 기능·모델·리전의 보장이 아닙니다. 실제 채택 시 최신 표를 다시 확인합니다.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세 단계는 프로젝트 관리 제안으로 Microsoft의 납기나 성능 약속이 아닙니다.</a:t>
            </a:r>
            <a:br/>
            <a:r>
              <a:rPr lang="en-US" dirty="0"/>
              <a:t>각 단계에서 필요한 검토와 산출물은 조직 정책에 맞춰 조정합니다.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날짜를 채우기 전에 어떤 근거가 있으면 다음 단계로 갈지 정합니다.</a:t>
            </a:r>
            <a:br/>
            <a:r>
              <a:rPr lang="en-US" dirty="0"/>
              <a:t>범위를 넓힐수록 검증 기록과 책임도 함께 확장해야 합니다.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ROADMAP</a:t>
            </a:r>
            <a:br/>
            <a:r>
              <a:rPr lang="en-US" dirty="0"/>
              <a:t>09 / 15</a:t>
            </a:r>
            <a:br/>
            <a:r>
              <a:rPr lang="en-US" dirty="0"/>
              <a:t>일정보다 단계별 통과 조건을 정합니다</a:t>
            </a:r>
            <a:br/>
            <a:r>
              <a:rPr lang="en-US" dirty="0"/>
              <a:t/>
            </a:r>
            <a:br/>
            <a:r>
              <a:rPr lang="en-US" dirty="0"/>
              <a:t>탐색, 제한 검증, 운영 준비의 산출물을 연결하는 도입 로드맵 제안입니다.</a:t>
            </a:r>
            <a:br/>
            <a:r>
              <a:rPr lang="en-US" dirty="0"/>
              <a:t/>
            </a:r>
            <a:br/>
            <a:r>
              <a:rPr lang="en-US" dirty="0"/>
              <a:t>실행 묶음</a:t>
            </a:r>
            <a:br/>
            <a:r>
              <a:rPr lang="en-US" dirty="0"/>
              <a:t>준비</a:t>
            </a:r>
            <a:br/>
            <a:r>
              <a:rPr lang="en-US" dirty="0"/>
              <a:t>실행</a:t>
            </a:r>
            <a:br/>
            <a:r>
              <a:rPr lang="en-US" dirty="0"/>
              <a:t>검토</a:t>
            </a:r>
            <a:br/>
            <a:r>
              <a:rPr lang="en-US" dirty="0"/>
              <a:t>탐색 · 업무 가설</a:t>
            </a:r>
            <a:br/>
            <a:r>
              <a:rPr lang="en-US" dirty="0"/>
              <a:t/>
            </a:r>
            <a:br/>
            <a:r>
              <a:rPr lang="en-US" dirty="0"/>
              <a:t>문제 정의, 대표 질문, 제외 조건과 기대 결과를 문서로 남깁니다.</a:t>
            </a:r>
            <a:br/>
            <a:r>
              <a:rPr lang="en-US" dirty="0"/>
              <a:t/>
            </a:r>
            <a:br/>
            <a:r>
              <a:rPr lang="en-US" dirty="0"/>
              <a:t>검증 · 실패 근거</a:t>
            </a:r>
            <a:br/>
            <a:r>
              <a:rPr lang="en-US" dirty="0"/>
              <a:t/>
            </a:r>
            <a:br/>
            <a:r>
              <a:rPr lang="en-US" dirty="0"/>
              <a:t>제한된 데이터로 구현하고 평가 기록·권한 시험·수정 이력을 남깁니다.</a:t>
            </a:r>
            <a:br/>
            <a:r>
              <a:rPr lang="en-US" dirty="0"/>
              <a:t/>
            </a:r>
            <a:br/>
            <a:r>
              <a:rPr lang="en-US" dirty="0"/>
              <a:t>준비 · 운영 책임</a:t>
            </a:r>
            <a:br/>
            <a:r>
              <a:rPr lang="en-US" dirty="0"/>
              <a:t/>
            </a:r>
            <a:br/>
            <a:r>
              <a:rPr lang="en-US" dirty="0"/>
              <a:t>관측, 오류 대응, 비용 확인과 중단 계획을 합의합니다.</a:t>
            </a:r>
            <a:br/>
            <a:r>
              <a:rPr lang="en-US" dirty="0"/>
              <a:t/>
            </a:r>
            <a:br/>
            <a:r>
              <a:rPr lang="en-US" dirty="0"/>
              <a:t>단계의 의미</a:t>
            </a:r>
            <a:br/>
            <a:r>
              <a:rPr lang="en-US" dirty="0"/>
              <a:t/>
            </a:r>
            <a:br/>
            <a:r>
              <a:rPr lang="en-US" dirty="0"/>
              <a:t>날짜와 소요 기간을 보장하지 않습니다. 업무 난도와 데이터·권한 준비 상태에 따라 달라집니다.</a:t>
            </a:r>
            <a:br/>
            <a:r>
              <a:rPr lang="en-US" dirty="0"/>
              <a:t/>
            </a:r>
            <a:br/>
            <a:r>
              <a:rPr lang="en-US" dirty="0"/>
              <a:t>이어지는 책임</a:t>
            </a:r>
            <a:br/>
            <a:r>
              <a:rPr lang="en-US" dirty="0"/>
              <a:t/>
            </a:r>
            <a:br/>
            <a:r>
              <a:rPr lang="en-US" dirty="0"/>
              <a:t>다음 단계로 넘어갈 때 이전 단계의 실패 사례와 가정을 함께 넘깁니다.</a:t>
            </a:r>
            <a:br/>
            <a:r>
              <a:rPr lang="en-US" dirty="0"/>
              <a:t/>
            </a:r>
            <a:br/>
            <a:r>
              <a:rPr lang="en-US" dirty="0"/>
              <a:t>계획의 한계</a:t>
            </a:r>
            <a:br/>
            <a:r>
              <a:rPr lang="en-US" dirty="0"/>
              <a:t/>
            </a:r>
            <a:br/>
            <a:r>
              <a:rPr lang="en-US" dirty="0"/>
              <a:t>질문·데이터 범위가 달라지면 검증을 다시 설계합니다. 작은 시연만으로 확대 적용하지 않습니다.</a:t>
            </a:r>
            <a:br/>
            <a:r>
              <a:rPr lang="en-US" dirty="0"/>
              <a:t/>
            </a:r>
            <a:br/>
            <a:r>
              <a:rPr lang="en-US" dirty="0"/>
              <a:t/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이 그림은 Q&amp;A를 설계할 때 고려할 데이터 준비와 소비 관계의 예시입니다.</a:t>
            </a:r>
            <a:br/>
            <a:r>
              <a:rPr lang="en-US" dirty="0"/>
              <a:t>어떤 검색 도구와 저장소를 선택할지, 삭제·갱신·권한 변경을 어떻게 반영할지는 별도 설계합니다.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문서를 넣었다는 사실보다 어떤 조각이 누구에게 보이는지가 중요합니다.</a:t>
            </a:r>
            <a:br/>
            <a:r>
              <a:rPr lang="en-US" dirty="0"/>
              <a:t>답변과 평가에 같은 근거를 연결해 실패 원인을 되짚을 수 있도록 합니다.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DATAFLOW · 가상 흐름</a:t>
            </a:r>
            <a:br/>
            <a:r>
              <a:rPr lang="en-US" dirty="0"/>
              <a:t>10 / 15</a:t>
            </a:r>
            <a:br/>
            <a:r>
              <a:rPr lang="en-US" dirty="0"/>
              <a:t>허용 문서를 검색 근거로 연결합니다</a:t>
            </a:r>
            <a:br/>
            <a:r>
              <a:rPr lang="en-US" dirty="0"/>
              <a:t/>
            </a:r>
            <a:br/>
            <a:r>
              <a:rPr lang="en-US" dirty="0"/>
              <a:t>문서 → 정제 → 검색 자료 → 답변·검토로 분기하는 가상 데이터 흐름입니다.</a:t>
            </a:r>
            <a:br/>
            <a:r>
              <a:rPr lang="en-US" dirty="0"/>
              <a:t/>
            </a:r>
            <a:br/>
            <a:r>
              <a:rPr lang="en-US" dirty="0"/>
              <a:t>01 / 원천</a:t>
            </a:r>
            <a:br/>
            <a:r>
              <a:rPr lang="en-US" dirty="0"/>
              <a:t>허용 문서</a:t>
            </a:r>
            <a:br/>
            <a:r>
              <a:rPr lang="en-US" dirty="0"/>
              <a:t>본문 · 문서 ID</a:t>
            </a:r>
            <a:br/>
            <a:r>
              <a:rPr lang="en-US" dirty="0"/>
              <a:t>접근 범위</a:t>
            </a:r>
            <a:br/>
            <a:r>
              <a:rPr lang="en-US" dirty="0"/>
              <a:t>02 / 처리</a:t>
            </a:r>
            <a:br/>
            <a:r>
              <a:rPr lang="en-US" dirty="0"/>
              <a:t>문서 정제</a:t>
            </a:r>
            <a:br/>
            <a:r>
              <a:rPr lang="en-US" dirty="0"/>
              <a:t>본문 분할 · 형식 정리</a:t>
            </a:r>
            <a:br/>
            <a:r>
              <a:rPr lang="en-US" dirty="0"/>
              <a:t>문서 ID 보존</a:t>
            </a:r>
            <a:br/>
            <a:r>
              <a:rPr lang="en-US" dirty="0"/>
              <a:t>03 / 저장</a:t>
            </a:r>
            <a:br/>
            <a:r>
              <a:rPr lang="en-US" dirty="0"/>
              <a:t>검색 자료</a:t>
            </a:r>
            <a:br/>
            <a:r>
              <a:rPr lang="en-US" dirty="0"/>
              <a:t>04 / 소비</a:t>
            </a:r>
            <a:br/>
            <a:r>
              <a:rPr lang="en-US" dirty="0"/>
              <a:t>답변</a:t>
            </a:r>
            <a:br/>
            <a:r>
              <a:rPr lang="en-US" dirty="0"/>
              <a:t>검토 기록</a:t>
            </a:r>
            <a:br/>
            <a:r>
              <a:rPr lang="en-US" dirty="0"/>
              <a:t>원문</a:t>
            </a:r>
            <a:br/>
            <a:r>
              <a:rPr lang="en-US" dirty="0"/>
              <a:t>문서 조각</a:t>
            </a:r>
            <a:br/>
            <a:r>
              <a:rPr lang="en-US" dirty="0"/>
              <a:t>근거</a:t>
            </a:r>
            <a:br/>
            <a:r>
              <a:rPr lang="en-US" dirty="0"/>
              <a:t>참조</a:t>
            </a:r>
            <a:br/>
            <a:r>
              <a:rPr lang="en-US" dirty="0"/>
              <a:t>실선 = 데이터 전달</a:t>
            </a:r>
            <a:br/>
            <a:r>
              <a:rPr lang="en-US" dirty="0"/>
              <a:t>가상 설계 · 배포 아님</a:t>
            </a:r>
            <a:br/>
            <a:r>
              <a:rPr lang="en-US" dirty="0"/>
              <a:t>변환</a:t>
            </a:r>
            <a:br/>
            <a:r>
              <a:rPr lang="en-US" dirty="0"/>
              <a:t/>
            </a:r>
            <a:br/>
            <a:r>
              <a:rPr lang="en-US" dirty="0"/>
              <a:t>문서 식별자와 접근 범위를 유지하며 조각을 준비합니다. 형식 오류와 권한 검사는 별도 설계합니다.</a:t>
            </a:r>
            <a:br/>
            <a:r>
              <a:rPr lang="en-US" dirty="0"/>
              <a:t/>
            </a:r>
            <a:br/>
            <a:r>
              <a:rPr lang="en-US" dirty="0"/>
              <a:t>분기</a:t>
            </a:r>
            <a:br/>
            <a:r>
              <a:rPr lang="en-US" dirty="0"/>
              <a:t/>
            </a:r>
            <a:br/>
            <a:r>
              <a:rPr lang="en-US" dirty="0"/>
              <a:t>답변에는 관련 근거를, 평가에는 검토 기록을 연결합니다. 저장했다고 답변 품질이 보장되지는 않습니다.</a:t>
            </a:r>
            <a:br/>
            <a:r>
              <a:rPr lang="en-US" dirty="0"/>
              <a:t/>
            </a:r>
            <a:br/>
            <a:r>
              <a:rPr lang="en-US" dirty="0"/>
              <a:t>가정</a:t>
            </a:r>
            <a:br/>
            <a:r>
              <a:rPr lang="en-US" dirty="0"/>
              <a:t/>
            </a:r>
            <a:br/>
            <a:r>
              <a:rPr lang="en-US" dirty="0"/>
              <a:t>실선은 제안한 데이터 전달입니다. 실제 Foundry 내부 구조나 자동 수집·동기화를 뜻하지 않습니다.</a:t>
            </a:r>
            <a:br/>
            <a:r>
              <a:rPr lang="en-US" dirty="0"/>
              <a:t>01 / 원천</a:t>
            </a:r>
            <a:br/>
            <a:r>
              <a:rPr lang="en-US" dirty="0"/>
              <a:t>허용 문서</a:t>
            </a:r>
            <a:br/>
            <a:r>
              <a:rPr lang="en-US" dirty="0"/>
              <a:t>본문 · 문서 ID</a:t>
            </a:r>
            <a:br/>
            <a:r>
              <a:rPr lang="en-US" dirty="0"/>
              <a:t>접근 범위</a:t>
            </a:r>
            <a:br/>
            <a:r>
              <a:rPr lang="en-US" dirty="0"/>
              <a:t>02 / 처리</a:t>
            </a:r>
            <a:br/>
            <a:r>
              <a:rPr lang="en-US" dirty="0"/>
              <a:t>문서 정제</a:t>
            </a:r>
            <a:br/>
            <a:r>
              <a:rPr lang="en-US" dirty="0"/>
              <a:t>본문 분할 · 형식 정리</a:t>
            </a:r>
            <a:br/>
            <a:r>
              <a:rPr lang="en-US" dirty="0"/>
              <a:t>문서 ID 보존</a:t>
            </a:r>
            <a:br/>
            <a:r>
              <a:rPr lang="en-US" dirty="0"/>
              <a:t>03 / 저장</a:t>
            </a:r>
            <a:br/>
            <a:r>
              <a:rPr lang="en-US" dirty="0"/>
              <a:t>검색 자료</a:t>
            </a:r>
            <a:br/>
            <a:r>
              <a:rPr lang="en-US" dirty="0"/>
              <a:t>04 / 소비</a:t>
            </a:r>
            <a:br/>
            <a:r>
              <a:rPr lang="en-US" dirty="0"/>
              <a:t>답변</a:t>
            </a:r>
            <a:br/>
            <a:r>
              <a:rPr lang="en-US" dirty="0"/>
              <a:t>검토 기록</a:t>
            </a:r>
            <a:br/>
            <a:r>
              <a:rPr lang="en-US" dirty="0"/>
              <a:t>원문</a:t>
            </a:r>
            <a:br/>
            <a:r>
              <a:rPr lang="en-US" dirty="0"/>
              <a:t>문서 조각</a:t>
            </a:r>
            <a:br/>
            <a:r>
              <a:rPr lang="en-US" dirty="0"/>
              <a:t>근거</a:t>
            </a:r>
            <a:br/>
            <a:r>
              <a:rPr lang="en-US" dirty="0"/>
              <a:t>참조</a:t>
            </a:r>
            <a:br/>
            <a:r>
              <a:rPr lang="en-US" dirty="0"/>
              <a:t>실선 = 데이터 전달</a:t>
            </a:r>
            <a:br/>
            <a:r>
              <a:rPr lang="en-US" dirty="0"/>
              <a:t>가상 설계 · 배포 아님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세 참여자와 네 메시지는 책임과 반환 방향을 설명하기 위한 축약입니다.</a:t>
            </a:r>
            <a:br/>
            <a:r>
              <a:rPr lang="en-US" dirty="0"/>
              <a:t>실제 에이전트 실행에서는 모델 판단과 추가 도구 호출 등 다른 단계가 포함될 수 있습니다.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요청과 응답의 방향을 분리해 읽겠습니다.</a:t>
            </a:r>
            <a:br/>
            <a:r>
              <a:rPr lang="en-US" dirty="0"/>
              <a:t>검색 결과가 곧 답변은 아니며, 근거를 받은 뒤 답변을 구성하는 단계가 필요합니다.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SEQUENCE · 가상 상호작용</a:t>
            </a:r>
            <a:br/>
            <a:r>
              <a:rPr lang="en-US" dirty="0"/>
              <a:t>11 / 15</a:t>
            </a:r>
            <a:br/>
            <a:r>
              <a:rPr lang="en-US" dirty="0"/>
              <a:t>검색 요청과 근거 반환을 구분합니다</a:t>
            </a:r>
            <a:br/>
            <a:r>
              <a:rPr lang="en-US" dirty="0"/>
              <a:t/>
            </a:r>
            <a:br/>
            <a:r>
              <a:rPr lang="en-US" dirty="0"/>
              <a:t>응용 → 에이전트 → 검색 도구의 정상 경로를 단순화한 가상 시퀀스입니다.</a:t>
            </a:r>
            <a:br/>
            <a:r>
              <a:rPr lang="en-US" dirty="0"/>
              <a:t/>
            </a:r>
            <a:br/>
            <a:r>
              <a:rPr lang="en-US" dirty="0"/>
              <a:t>응용</a:t>
            </a:r>
            <a:br/>
            <a:r>
              <a:rPr lang="en-US" dirty="0"/>
              <a:t>에이전트</a:t>
            </a:r>
            <a:br/>
            <a:r>
              <a:rPr lang="en-US" dirty="0"/>
              <a:t>검색 도구</a:t>
            </a:r>
            <a:br/>
            <a:r>
              <a:rPr lang="en-US" dirty="0"/>
              <a:t>1 · 질문 요청 / 업무 질문</a:t>
            </a:r>
            <a:br/>
            <a:r>
              <a:rPr lang="en-US" dirty="0"/>
              <a:t>2 · 근거 검색 / 허용 범위</a:t>
            </a:r>
            <a:br/>
            <a:r>
              <a:rPr lang="en-US" dirty="0"/>
              <a:t>3 · 검색 응답 / 관련 근거</a:t>
            </a:r>
            <a:br/>
            <a:r>
              <a:rPr lang="en-US" dirty="0"/>
              <a:t>4 · 답변 반환 / 근거 참조</a:t>
            </a:r>
            <a:br/>
            <a:r>
              <a:rPr lang="en-US" dirty="0"/>
              <a:t>실선 = 요청</a:t>
            </a:r>
            <a:br/>
            <a:r>
              <a:rPr lang="en-US" dirty="0"/>
              <a:t>점선 = 응답</a:t>
            </a:r>
            <a:br/>
            <a:r>
              <a:rPr lang="en-US" dirty="0"/>
              <a:t>세로 가는 선 = 생명선</a:t>
            </a:r>
            <a:br/>
            <a:r>
              <a:rPr lang="en-US" dirty="0"/>
              <a:t>순서</a:t>
            </a:r>
            <a:br/>
            <a:r>
              <a:rPr lang="en-US" dirty="0"/>
              <a:t/>
            </a:r>
            <a:br/>
            <a:r>
              <a:rPr lang="en-US" dirty="0"/>
              <a:t>응용은 질문을 보내고 에이전트는 도구로 근거를 요청합니다. 도구는 허용된 검색 결과를 반환합니다.</a:t>
            </a:r>
            <a:br/>
            <a:r>
              <a:rPr lang="en-US" dirty="0"/>
              <a:t/>
            </a:r>
            <a:br/>
            <a:r>
              <a:rPr lang="en-US" dirty="0"/>
              <a:t>책임</a:t>
            </a:r>
            <a:br/>
            <a:r>
              <a:rPr lang="en-US" dirty="0"/>
              <a:t/>
            </a:r>
            <a:br/>
            <a:r>
              <a:rPr lang="en-US" dirty="0"/>
              <a:t>검색 근거를 받은 뒤 답변을 구성합니다. 세로 간격과 화살표 길이는 지연 시간을 뜻하지 않습니다.</a:t>
            </a:r>
            <a:br/>
            <a:r>
              <a:rPr lang="en-US" dirty="0"/>
              <a:t/>
            </a:r>
            <a:br/>
            <a:r>
              <a:rPr lang="en-US" dirty="0"/>
              <a:t>범위</a:t>
            </a:r>
            <a:br/>
            <a:r>
              <a:rPr lang="en-US" dirty="0"/>
              <a:t/>
            </a:r>
            <a:br/>
            <a:r>
              <a:rPr lang="en-US" dirty="0"/>
              <a:t>실제 모델 호출·추가 도구·승인·오류·재시도는 생략했습니다. 특정 SDK 호출 순서를 보장하지 않습니다.</a:t>
            </a:r>
            <a:br/>
            <a:r>
              <a:rPr lang="en-US" dirty="0"/>
              <a:t>응용</a:t>
            </a:r>
            <a:br/>
            <a:r>
              <a:rPr lang="en-US" dirty="0"/>
              <a:t>에이전트</a:t>
            </a:r>
            <a:br/>
            <a:r>
              <a:rPr lang="en-US" dirty="0"/>
              <a:t>검색 도구</a:t>
            </a:r>
            <a:br/>
            <a:r>
              <a:rPr lang="en-US" dirty="0"/>
              <a:t>1 · 질문 요청 / 업무 질문</a:t>
            </a:r>
            <a:br/>
            <a:r>
              <a:rPr lang="en-US" dirty="0"/>
              <a:t>2 · 근거 검색 / 허용 범위</a:t>
            </a:r>
            <a:br/>
            <a:r>
              <a:rPr lang="en-US" dirty="0"/>
              <a:t>3 · 검색 응답 / 관련 근거</a:t>
            </a:r>
            <a:br/>
            <a:r>
              <a:rPr lang="en-US" dirty="0"/>
              <a:t>4 · 답변 반환 / 근거 참조</a:t>
            </a:r>
            <a:br/>
            <a:r>
              <a:rPr lang="en-US" dirty="0"/>
              <a:t>실선 = 요청</a:t>
            </a:r>
            <a:br/>
            <a:r>
              <a:rPr lang="en-US" dirty="0"/>
              <a:t>점선 = 응답</a:t>
            </a:r>
            <a:br/>
            <a:r>
              <a:rPr lang="en-US" dirty="0"/>
              <a:t>세로 가는 선 = 생명선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서비스 간 실제 지원 연결 방식이나 인증 전달은 이 개념도에서 검증하지 않았습니다.</a:t>
            </a:r>
            <a:br/>
            <a:r>
              <a:rPr lang="en-US" dirty="0"/>
              <a:t>Foundry의 관리 경로와 실행 경로, 연결 도구의 권한 체계는 실제 설계에서 따로 확인해야 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선 하나로 보안이 완성되는 것은 아닙니다.</a:t>
            </a:r>
            <a:br/>
            <a:r>
              <a:rPr lang="en-US" dirty="0"/>
              <a:t>네트워크 경계와 데이터 접근 권한을 각각 검증해야 한다는 점을 보여주는 그림입니다.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NETWORK · 가상 논리 구역</a:t>
            </a:r>
            <a:br/>
            <a:r>
              <a:rPr lang="en-US" dirty="0"/>
              <a:t>12 / 15</a:t>
            </a:r>
            <a:br/>
            <a:r>
              <a:rPr lang="en-US" dirty="0"/>
              <a:t>접근 경로와 작업 권한은 별개입니다</a:t>
            </a:r>
            <a:br/>
            <a:r>
              <a:rPr lang="en-US" dirty="0"/>
              <a:t/>
            </a:r>
            <a:br/>
            <a:r>
              <a:rPr lang="en-US" dirty="0"/>
              <a:t>Q&amp;A 응용의 가상 접근 경계입니다. 실제 Azure 배포도나 사설 연결 보장이 아닙니다.</a:t>
            </a:r>
            <a:br/>
            <a:r>
              <a:rPr lang="en-US" dirty="0"/>
              <a:t/>
            </a:r>
            <a:br/>
            <a:r>
              <a:rPr lang="en-US" dirty="0"/>
              <a:t>직원</a:t>
            </a:r>
            <a:br/>
            <a:r>
              <a:rPr lang="en-US" dirty="0"/>
              <a:t>서비스 논리 구역 · 가상</a:t>
            </a:r>
            <a:br/>
            <a:r>
              <a:rPr lang="en-US" dirty="0"/>
              <a:t>게이트웨이</a:t>
            </a:r>
            <a:br/>
            <a:r>
              <a:rPr lang="en-US" dirty="0"/>
              <a:t>진입점</a:t>
            </a:r>
            <a:br/>
            <a:r>
              <a:rPr lang="en-US" dirty="0"/>
              <a:t>응용 구역</a:t>
            </a:r>
            <a:br/>
            <a:r>
              <a:rPr lang="en-US" dirty="0"/>
              <a:t>Q&amp;A 응용</a:t>
            </a:r>
            <a:br/>
            <a:r>
              <a:rPr lang="en-US" dirty="0"/>
              <a:t>진입 경로 제한</a:t>
            </a:r>
            <a:br/>
            <a:r>
              <a:rPr lang="en-US" dirty="0"/>
              <a:t>데이터 구역</a:t>
            </a:r>
            <a:br/>
            <a:r>
              <a:rPr lang="en-US" dirty="0"/>
              <a:t>허용 문서</a:t>
            </a:r>
            <a:br/>
            <a:r>
              <a:rPr lang="en-US" dirty="0"/>
              <a:t>조회 경로 제한</a:t>
            </a:r>
            <a:br/>
            <a:r>
              <a:rPr lang="en-US" dirty="0"/>
              <a:t>요청</a:t>
            </a:r>
            <a:br/>
            <a:r>
              <a:rPr lang="en-US" dirty="0"/>
              <a:t>전달</a:t>
            </a:r>
            <a:br/>
            <a:r>
              <a:rPr lang="en-US" dirty="0"/>
              <a:t>조회</a:t>
            </a:r>
            <a:br/>
            <a:r>
              <a:rPr lang="en-US" dirty="0"/>
              <a:t>직접 접근 차단</a:t>
            </a:r>
            <a:br/>
            <a:r>
              <a:rPr lang="en-US" dirty="0"/>
              <a:t>실선 = 허용 경로</a:t>
            </a:r>
            <a:br/>
            <a:r>
              <a:rPr lang="en-US" dirty="0"/>
              <a:t>점선 × = 차단 경로</a:t>
            </a:r>
            <a:br/>
            <a:r>
              <a:rPr lang="en-US" dirty="0"/>
              <a:t>ID / 작업 정책 · 별도 검사</a:t>
            </a:r>
            <a:br/>
            <a:r>
              <a:rPr lang="en-US" dirty="0"/>
              <a:t>경계</a:t>
            </a:r>
            <a:br/>
            <a:r>
              <a:rPr lang="en-US" dirty="0"/>
              <a:t/>
            </a:r>
            <a:br/>
            <a:r>
              <a:rPr lang="en-US" dirty="0"/>
              <a:t>사용자, 진입점, 업무 응용과 문서 자료를 논리적 구역으로 나눴습니다.</a:t>
            </a:r>
            <a:br/>
            <a:r>
              <a:rPr lang="en-US" dirty="0"/>
              <a:t/>
            </a:r>
            <a:br/>
            <a:r>
              <a:rPr lang="en-US" dirty="0"/>
              <a:t>ID와 정책</a:t>
            </a:r>
            <a:br/>
            <a:r>
              <a:rPr lang="en-US" dirty="0"/>
              <a:t/>
            </a:r>
            <a:br/>
            <a:r>
              <a:rPr lang="en-US" dirty="0"/>
              <a:t>경로가 열려 있어도 신원과 작업 권한은 따로 확인합니다. 관리 경로와 정책 전파는 생략했습니다.</a:t>
            </a:r>
            <a:br/>
            <a:r>
              <a:rPr lang="en-US" dirty="0"/>
              <a:t/>
            </a:r>
            <a:br/>
            <a:r>
              <a:rPr lang="en-US" dirty="0"/>
              <a:t>검증 전 설계</a:t>
            </a:r>
            <a:br/>
            <a:r>
              <a:rPr lang="en-US" dirty="0"/>
              <a:t/>
            </a:r>
            <a:br/>
            <a:r>
              <a:rPr lang="en-US" dirty="0"/>
              <a:t>차단 표시는 의도입니다. 실제 네트워크·RBAC·데이터 접근 설정과 시험으로 검증해야 합니다.</a:t>
            </a:r>
            <a:br/>
            <a:r>
              <a:rPr lang="en-US" dirty="0"/>
              <a:t>직원</a:t>
            </a:r>
            <a:br/>
            <a:r>
              <a:rPr lang="en-US" dirty="0"/>
              <a:t>서비스 논리 구역 · 가상</a:t>
            </a:r>
            <a:br/>
            <a:r>
              <a:rPr lang="en-US" dirty="0"/>
              <a:t>게이트웨이</a:t>
            </a:r>
            <a:br/>
            <a:r>
              <a:rPr lang="en-US" dirty="0"/>
              <a:t>진입점</a:t>
            </a:r>
            <a:br/>
            <a:r>
              <a:rPr lang="en-US" dirty="0"/>
              <a:t>응용 구역</a:t>
            </a:r>
            <a:br/>
            <a:r>
              <a:rPr lang="en-US" dirty="0"/>
              <a:t>Q&amp;A 응용</a:t>
            </a:r>
            <a:br/>
            <a:r>
              <a:rPr lang="en-US" dirty="0"/>
              <a:t>진입 경로 제한</a:t>
            </a:r>
            <a:br/>
            <a:r>
              <a:rPr lang="en-US" dirty="0"/>
              <a:t>데이터 구역</a:t>
            </a:r>
            <a:br/>
            <a:r>
              <a:rPr lang="en-US" dirty="0"/>
              <a:t>허용 문서</a:t>
            </a:r>
            <a:br/>
            <a:r>
              <a:rPr lang="en-US" dirty="0"/>
              <a:t>조회 경로 제한</a:t>
            </a:r>
            <a:br/>
            <a:r>
              <a:rPr lang="en-US" dirty="0"/>
              <a:t>요청</a:t>
            </a:r>
            <a:br/>
            <a:r>
              <a:rPr lang="en-US" dirty="0"/>
              <a:t>전달</a:t>
            </a:r>
            <a:br/>
            <a:r>
              <a:rPr lang="en-US" dirty="0"/>
              <a:t>조회</a:t>
            </a:r>
            <a:br/>
            <a:r>
              <a:rPr lang="en-US" dirty="0"/>
              <a:t>직접 접근 차단</a:t>
            </a:r>
            <a:br/>
            <a:r>
              <a:rPr lang="en-US" dirty="0"/>
              <a:t>실선 = 허용 경로</a:t>
            </a:r>
            <a:br/>
            <a:r>
              <a:rPr lang="en-US" dirty="0"/>
              <a:t>점선 × = 차단 경로</a:t>
            </a:r>
            <a:br/>
            <a:r>
              <a:rPr lang="en-US" dirty="0"/>
              <a:t>ID / 작업 정책 · 별도 검사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숫자는 차트의 축·막대 비례·라벨·값 표를 대조하는 템플릿 예시입니다.</a:t>
            </a:r>
            <a:br/>
            <a:r>
              <a:rPr lang="en-US" dirty="0"/>
              <a:t>관측 문서는 평가와 신호의 역할을 설명하는 출처이며 이 가상 숫자의 출처는 아닙니다.</a:t>
            </a:r>
            <a:br/>
            <a:r>
              <a:rPr lang="en-US" dirty="0"/>
              <a:t>실제 평가 보고에는 데이터셋, 기간, 평가 정의, 실패 사례와 측정 환경을 함께 기록해야 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막대가 높다는 이유만으로 좋은 모델이라고 판단하면 안 됩니다.</a:t>
            </a:r>
            <a:br/>
            <a:r>
              <a:rPr lang="en-US" dirty="0"/>
              <a:t>여기서는 질문을 몇 건 검토했는지만 보여주며, 모든 수치는 설명용입니다.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METRICS · 가상 수치</a:t>
            </a:r>
            <a:br/>
            <a:r>
              <a:rPr lang="en-US" dirty="0"/>
              <a:t>13 / 15</a:t>
            </a:r>
            <a:br/>
            <a:r>
              <a:rPr lang="en-US" dirty="0"/>
              <a:t>평가 차트는 단위와 표본부터 읽습니다</a:t>
            </a:r>
            <a:br/>
            <a:r>
              <a:rPr lang="en-US" dirty="0"/>
              <a:t/>
            </a:r>
            <a:br/>
            <a:r>
              <a:rPr lang="en-US" dirty="0"/>
              <a:t>가상 검토 건수 40·65·85건을 0~100건 축에 표시합니다. 실측 성능이 아닙니다.</a:t>
            </a:r>
            <a:br/>
            <a:r>
              <a:rPr lang="en-US" dirty="0"/>
              <a:t/>
            </a:r>
            <a:br/>
            <a:r>
              <a:rPr lang="en-US" dirty="0"/>
              <a:t>가상 예시 · 실측 아님</a:t>
            </a:r>
            <a:br/>
            <a:r>
              <a:rPr lang="en-US" dirty="0"/>
              <a:t>건</a:t>
            </a:r>
            <a:br/>
            <a:r>
              <a:rPr lang="en-US" dirty="0"/>
              <a:t>100</a:t>
            </a:r>
            <a:br/>
            <a:r>
              <a:rPr lang="en-US" dirty="0"/>
              <a:t>50</a:t>
            </a:r>
            <a:br/>
            <a:r>
              <a:rPr lang="en-US" dirty="0"/>
              <a:t>0</a:t>
            </a:r>
            <a:br/>
            <a:r>
              <a:rPr lang="en-US" dirty="0"/>
              <a:t>40건</a:t>
            </a:r>
            <a:br/>
            <a:r>
              <a:rPr lang="en-US" dirty="0"/>
              <a:t>세트 A</a:t>
            </a:r>
            <a:br/>
            <a:r>
              <a:rPr lang="en-US" dirty="0"/>
              <a:t>65건</a:t>
            </a:r>
            <a:br/>
            <a:r>
              <a:rPr lang="en-US" dirty="0"/>
              <a:t>세트 B</a:t>
            </a:r>
            <a:br/>
            <a:r>
              <a:rPr lang="en-US" dirty="0"/>
              <a:t>85건</a:t>
            </a:r>
            <a:br/>
            <a:r>
              <a:rPr lang="en-US" dirty="0"/>
              <a:t>세트 C</a:t>
            </a:r>
            <a:br/>
            <a:r>
              <a:rPr lang="en-US" dirty="0"/>
              <a:t>차트와 같은 값 · 단위: 건</a:t>
            </a:r>
            <a:br/>
            <a:r>
              <a:rPr lang="en-US" dirty="0"/>
              <a:t>질문 세트	검토 건수</a:t>
            </a:r>
            <a:br/>
            <a:r>
              <a:rPr lang="en-US" dirty="0"/>
              <a:t>세트 A	40건</a:t>
            </a:r>
            <a:br/>
            <a:r>
              <a:rPr lang="en-US" dirty="0"/>
              <a:t>세트 B	65건</a:t>
            </a:r>
            <a:br/>
            <a:r>
              <a:rPr lang="en-US" dirty="0"/>
              <a:t>세트 C	85건</a:t>
            </a:r>
            <a:br/>
            <a:r>
              <a:rPr lang="en-US" dirty="0"/>
              <a:t>정의 / 검토 건수</a:t>
            </a:r>
            <a:br/>
            <a:r>
              <a:rPr lang="en-US" dirty="0"/>
              <a:t/>
            </a:r>
            <a:br/>
            <a:r>
              <a:rPr lang="en-US" dirty="0"/>
              <a:t>차트 정의는 검토한 질문 수입니다. 정답률, 처리 속도나 비용 절감률이 아닙니다.</a:t>
            </a:r>
            <a:br/>
            <a:r>
              <a:rPr lang="en-US" dirty="0"/>
              <a:t/>
            </a:r>
            <a:br/>
            <a:r>
              <a:rPr lang="en-US" dirty="0"/>
              <a:t>해석 / 규모 차이</a:t>
            </a:r>
            <a:br/>
            <a:r>
              <a:rPr lang="en-US" dirty="0"/>
              <a:t/>
            </a:r>
            <a:br/>
            <a:r>
              <a:rPr lang="en-US" dirty="0"/>
              <a:t>표본 C의 수가 더 많아도 품질 우위를 뜻하지 않습니다. 기간·입력량·질문 구성을 함께 봅니다.</a:t>
            </a:r>
            <a:br/>
            <a:r>
              <a:rPr lang="en-US" dirty="0"/>
              <a:t/>
            </a:r>
            <a:br/>
            <a:r>
              <a:rPr lang="en-US" dirty="0"/>
              <a:t>표본 / 실측 아님</a:t>
            </a:r>
            <a:br/>
            <a:r>
              <a:rPr lang="en-US" dirty="0"/>
              <a:t/>
            </a:r>
            <a:br/>
            <a:r>
              <a:rPr lang="en-US" dirty="0"/>
              <a:t>레이아웃 설명용 가상 데이터입니다. 실제 평가·고객 성과·모델 벤치마크로 인용하지 않습니다.</a:t>
            </a:r>
            <a:br/>
            <a:r>
              <a:rPr lang="en-US" dirty="0"/>
              <a:t>건</a:t>
            </a:r>
            <a:br/>
            <a:r>
              <a:rPr lang="en-US" dirty="0"/>
              <a:t>100</a:t>
            </a:r>
            <a:br/>
            <a:r>
              <a:rPr lang="en-US" dirty="0"/>
              <a:t>50</a:t>
            </a:r>
            <a:br/>
            <a:r>
              <a:rPr lang="en-US" dirty="0"/>
              <a:t>0</a:t>
            </a:r>
            <a:br/>
            <a:r>
              <a:rPr lang="en-US" dirty="0"/>
              <a:t>40건</a:t>
            </a:r>
            <a:br/>
            <a:r>
              <a:rPr lang="en-US" dirty="0"/>
              <a:t>세트 A</a:t>
            </a:r>
            <a:br/>
            <a:r>
              <a:rPr lang="en-US" dirty="0"/>
              <a:t>65건</a:t>
            </a:r>
            <a:br/>
            <a:r>
              <a:rPr lang="en-US" dirty="0"/>
              <a:t>세트 B</a:t>
            </a:r>
            <a:br/>
            <a:r>
              <a:rPr lang="en-US" dirty="0"/>
              <a:t>85건</a:t>
            </a:r>
            <a:br/>
            <a:r>
              <a:rPr lang="en-US" dirty="0"/>
              <a:t>세트 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authorize, search, compose, record_refs는 흐름 설명을 위한 가상 함수 이름입니다.</a:t>
            </a:r>
            <a:br/>
            <a:r>
              <a:rPr lang="en-US" dirty="0"/>
              <a:t>실제 API, 오류 처리, 인증 토큰 전달, 기록의 보관 정책을 구현한 코드가 아닙니다.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코드의 길이보다 확인 지점을 보겠습니다.</a:t>
            </a:r>
            <a:br/>
            <a:r>
              <a:rPr lang="en-US" dirty="0"/>
              <a:t>권한 확인, 근거가 없을 때의 행동, 기록 범위가 서로 다른 책임이라는 점을 짚습니다.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 Agent Service?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https://learn.microsoft.com/en-us/azure/foundry/agents/overview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WALKTHROUGH · 예시 의사 코드</a:t>
            </a:r>
            <a:br/>
            <a:r>
              <a:rPr lang="en-US" dirty="0"/>
              <a:t>14 / 15</a:t>
            </a:r>
            <a:br/>
            <a:r>
              <a:rPr lang="en-US" dirty="0"/>
              <a:t>근거 확인 지점을 코드로 설명합니다</a:t>
            </a:r>
            <a:br/>
            <a:r>
              <a:rPr lang="en-US" dirty="0"/>
              <a:t/>
            </a:r>
            <a:br/>
            <a:r>
              <a:rPr lang="en-US" dirty="0"/>
              <a:t>권한, 검색, 근거 부족 시 행동을 읽는 의사 코드입니다. 실행 가능한 SDK 예제가 아닙니다.</a:t>
            </a:r>
            <a:br/>
            <a:r>
              <a:rPr lang="en-US" dirty="0"/>
              <a:t/>
            </a:r>
            <a:br/>
            <a:r>
              <a:rPr lang="en-US" dirty="0"/>
              <a:t>예시 의사 코드 · 실행 불가 / 제품 화면 아님</a:t>
            </a:r>
            <a:br/>
            <a:r>
              <a:rPr lang="en-US" dirty="0"/>
              <a:t>01 INPUT question, user</a:t>
            </a:r>
            <a:br/>
            <a:r>
              <a:rPr lang="en-US" dirty="0"/>
              <a:t>02 scope = authorize(user)</a:t>
            </a:r>
            <a:br/>
            <a:r>
              <a:rPr lang="en-US" dirty="0"/>
              <a:t>03 evidence = search(question, scope)</a:t>
            </a:r>
            <a:br/>
            <a:r>
              <a:rPr lang="en-US" dirty="0"/>
              <a:t>04 IF empty(evidence): ASK HUMAN</a:t>
            </a:r>
            <a:br/>
            <a:r>
              <a:rPr lang="en-US" dirty="0"/>
              <a:t>05 answer = compose(question, evidence)</a:t>
            </a:r>
            <a:br/>
            <a:r>
              <a:rPr lang="en-US" dirty="0"/>
              <a:t>06 record_refs(answer, evidence)</a:t>
            </a:r>
            <a:br/>
            <a:r>
              <a:rPr lang="en-US" dirty="0"/>
              <a:t>07 RETURN answer</a:t>
            </a:r>
            <a:br/>
            <a:r>
              <a:rPr lang="en-US" dirty="0"/>
              <a:t>2</a:t>
            </a:r>
            <a:br/>
            <a:r>
              <a:rPr lang="en-US" dirty="0"/>
              <a:t>02행 · 권한 확인</a:t>
            </a:r>
            <a:br/>
            <a:r>
              <a:rPr lang="en-US" dirty="0"/>
              <a:t/>
            </a:r>
            <a:br/>
            <a:r>
              <a:rPr lang="en-US" dirty="0"/>
              <a:t>2행은 허용 자료 범위를 확인하는 설계 지점입니다. 모델 지침만으로 권한을 통제하지 않습니다.</a:t>
            </a:r>
            <a:br/>
            <a:r>
              <a:rPr lang="en-US" dirty="0"/>
              <a:t/>
            </a:r>
            <a:br/>
            <a:r>
              <a:rPr lang="en-US" dirty="0"/>
              <a:t>4</a:t>
            </a:r>
            <a:br/>
            <a:r>
              <a:rPr lang="en-US" dirty="0"/>
              <a:t>04행 · 근거 부족</a:t>
            </a:r>
            <a:br/>
            <a:r>
              <a:rPr lang="en-US" dirty="0"/>
              <a:t/>
            </a:r>
            <a:br/>
            <a:r>
              <a:rPr lang="en-US" dirty="0"/>
              <a:t>4행은 근거가 없을 때 추가 확인을 요청하는 분기입니다. 빈 결과를 성공으로 숨기지 않습니다.</a:t>
            </a:r>
            <a:br/>
            <a:r>
              <a:rPr lang="en-US" dirty="0"/>
              <a:t/>
            </a:r>
            <a:br/>
            <a:r>
              <a:rPr lang="en-US" dirty="0"/>
              <a:t>6</a:t>
            </a:r>
            <a:br/>
            <a:r>
              <a:rPr lang="en-US" dirty="0"/>
              <a:t>06행 · 참조 기록</a:t>
            </a:r>
            <a:br/>
            <a:r>
              <a:rPr lang="en-US" dirty="0"/>
              <a:t/>
            </a:r>
            <a:br/>
            <a:r>
              <a:rPr lang="en-US" dirty="0"/>
              <a:t>6행은 근거와 응답 기록을 연결하는 지점입니다. 민감한 원문은 무조건 기록하지 않습니다.</a:t>
            </a:r>
            <a:br/>
            <a:r>
              <a:rPr lang="en-US" dirty="0"/>
              <a:t/>
            </a:r>
            <a:br/>
            <a:r>
              <a:rPr lang="en-US" dirty="0"/>
              <a:t>범위</a:t>
            </a:r>
            <a:br/>
            <a:r>
              <a:rPr lang="en-US" dirty="0"/>
              <a:t/>
            </a:r>
            <a:br/>
            <a:r>
              <a:rPr lang="en-US" dirty="0"/>
              <a:t>2행은 허용 자료 범위를 확인하는 설계 지점입니다. 모델 지침만으로 권한을 통제하지 않습니다.</a:t>
            </a:r>
            <a:br/>
            <a:r>
              <a:rPr lang="en-US" dirty="0"/>
              <a:t/>
            </a:r>
            <a:br/>
            <a:r>
              <a:rPr lang="en-US" dirty="0"/>
              <a:t>판단</a:t>
            </a:r>
            <a:br/>
            <a:r>
              <a:rPr lang="en-US" dirty="0"/>
              <a:t/>
            </a:r>
            <a:br/>
            <a:r>
              <a:rPr lang="en-US" dirty="0"/>
              <a:t>4행은 근거가 없을 때 추가 확인을 요청하는 분기입니다. 빈 결과를 성공으로 숨기지 않습니다.</a:t>
            </a:r>
            <a:br/>
            <a:r>
              <a:rPr lang="en-US" dirty="0"/>
              <a:t/>
            </a:r>
            <a:br/>
            <a:r>
              <a:rPr lang="en-US" dirty="0"/>
              <a:t>원본 교체</a:t>
            </a:r>
            <a:br/>
            <a:r>
              <a:rPr lang="en-US" dirty="0"/>
              <a:t/>
            </a:r>
            <a:br/>
            <a:r>
              <a:rPr lang="en-US" dirty="0"/>
              <a:t>6행은 근거와 응답 기록을 연결하는 지점입니다. 민감한 원문은 무조건 기록하지 않습니다.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상세 설명</a:t>
            </a:r>
            <a:br/>
            <a:r>
              <a:rPr lang="en-US" dirty="0"/>
              <a:t>15종 템플릿은 동일한 주제를 여러 정보 구조로 설명하는 예시입니다.</a:t>
            </a:r>
            <a:br/>
            <a:r>
              <a:rPr lang="en-US" dirty="0"/>
              <a:t>실제 도입에서는 모든 템플릿을 채우기보다 판단에 필요한 구조를 선택합니다.</a:t>
            </a:r>
            <a:br/>
            <a:r>
              <a:rPr lang="en-US" dirty="0"/>
              <a:t/>
            </a:r>
            <a:br/>
            <a:r>
              <a:rPr lang="en-US" dirty="0"/>
              <a:t>발표 스크립트</a:t>
            </a:r>
            <a:br/>
            <a:r>
              <a:rPr lang="en-US" dirty="0"/>
              <a:t>첫 업무 하나, 확인할 근거, 검토할 사람을 남기겠습니다.</a:t>
            </a:r>
            <a:br/>
            <a:r>
              <a:rPr lang="en-US" dirty="0"/>
              <a:t>그 세 가지가 합의되면 작은 실행으로 다음 질문을 확인할 수 있습니다.</a:t>
            </a:r>
            <a:br/>
            <a:r>
              <a:rPr lang="en-US" dirty="0"/>
              <a:t/>
            </a:r>
            <a:br/>
            <a:r>
              <a:rPr lang="en-US" dirty="0"/>
              <a:t>출처</a:t>
            </a:r>
            <a:br/>
            <a:r>
              <a:rPr lang="en-US" dirty="0"/>
              <a:t>What is Microsoft Foundry? · 확인 2026-09-30</a:t>
            </a:r>
            <a:br/>
            <a:r>
              <a:rPr lang="en-US" dirty="0"/>
              <a:t>Observability in Generative AI · 확인 2026-09-30</a:t>
            </a:r>
            <a:br/>
            <a:r>
              <a:rPr lang="en-US" dirty="0"/>
              <a:t>Microsoft Foundry portal general availability overview · 확인 2026-09-30</a:t>
            </a:r>
            <a:br/>
            <a:r>
              <a:rPr lang="en-US" dirty="0"/>
              <a:t/>
            </a:r>
            <a:br/>
            <a:r>
              <a:rPr lang="en-US" dirty="0"/>
              <a:t>출처 URL</a:t>
            </a:r>
            <a:br/>
            <a:r>
              <a:rPr lang="en-US" dirty="0"/>
              <a:t>https://learn.microsoft.com/en-us/azure/foundry/what-is-foundry</a:t>
            </a:r>
            <a:br/>
            <a:r>
              <a:rPr lang="en-US" dirty="0"/>
              <a:t>https://learn.microsoft.com/en-us/azure/foundry/concepts/observability</a:t>
            </a:r>
            <a:br/>
            <a:r>
              <a:rPr lang="en-US" dirty="0"/>
              <a:t>https://learn.microsoft.com/en-us/azure/foundry/concepts/general-availability</a:t>
            </a:r>
            <a:br/>
            <a:r>
              <a:rPr lang="en-US" dirty="0"/>
              <a:t/>
            </a:r>
            <a:br/>
            <a:r>
              <a:rPr lang="en-US" dirty="0"/>
              <a:t>시트 전사</a:t>
            </a:r>
            <a:br/>
            <a:r>
              <a:rPr lang="en-US" dirty="0"/>
              <a:t>FOUNDRY / CLOSING</a:t>
            </a:r>
            <a:br/>
            <a:r>
              <a:rPr lang="en-US" dirty="0"/>
              <a:t>15 / 15</a:t>
            </a:r>
            <a:br/>
            <a:r>
              <a:rPr lang="en-US" dirty="0"/>
              <a:t>작은 업무와 명확한 출시 근거를 남깁니다</a:t>
            </a:r>
            <a:br/>
            <a:r>
              <a:rPr lang="en-US" dirty="0"/>
              <a:t>→</a:t>
            </a:r>
            <a:br/>
            <a:r>
              <a:rPr lang="en-US" dirty="0"/>
              <a:t/>
            </a:r>
            <a:br/>
            <a:r>
              <a:rPr lang="en-US" dirty="0"/>
              <a:t>Foundry 도입은 기능 목록보다 업무·통제·검증을 연결하는 일입니다.</a:t>
            </a:r>
            <a:br/>
            <a:r>
              <a:rPr lang="en-US" dirty="0"/>
              <a:t/>
            </a:r>
            <a:br/>
            <a:r>
              <a:rPr lang="en-US" dirty="0"/>
              <a:t>이제 정할 것</a:t>
            </a:r>
            <a:br/>
            <a:r>
              <a:rPr lang="en-US" dirty="0"/>
              <a:t/>
            </a:r>
            <a:br/>
            <a:r>
              <a:rPr lang="en-US" dirty="0"/>
              <a:t>모델과 도구, 에이전트의 역할을 구분한 뒤 필요한 구현 범위를 선택합니다.</a:t>
            </a:r>
            <a:br/>
            <a:r>
              <a:rPr lang="en-US" dirty="0"/>
              <a:t/>
            </a:r>
            <a:br/>
            <a:r>
              <a:rPr lang="en-US" dirty="0"/>
              <a:t>01</a:t>
            </a:r>
            <a:br/>
            <a:r>
              <a:rPr lang="en-US" dirty="0"/>
              <a:t>첫 업무를 고릅니다</a:t>
            </a:r>
            <a:br/>
            <a:r>
              <a:rPr lang="en-US" dirty="0"/>
              <a:t/>
            </a:r>
            <a:br/>
            <a:r>
              <a:rPr lang="en-US" dirty="0"/>
              <a:t>질문·데이터·허용 행동이 명확한 사례 하나로 범위를 좁힙니다.</a:t>
            </a:r>
            <a:br/>
            <a:r>
              <a:rPr lang="en-US" dirty="0"/>
              <a:t/>
            </a:r>
            <a:br/>
            <a:r>
              <a:rPr lang="en-US" dirty="0"/>
              <a:t>02</a:t>
            </a:r>
            <a:br/>
            <a:r>
              <a:rPr lang="en-US" dirty="0"/>
              <a:t>필요한 증거를 정합니다</a:t>
            </a:r>
            <a:br/>
            <a:r>
              <a:rPr lang="en-US" dirty="0"/>
              <a:t/>
            </a:r>
            <a:br/>
            <a:r>
              <a:rPr lang="en-US" dirty="0"/>
              <a:t>대표 질문, 실패 조건과 출시·보류 기준을 합의합니다.</a:t>
            </a:r>
            <a:br/>
            <a:r>
              <a:rPr lang="en-US" dirty="0"/>
              <a:t/>
            </a:r>
            <a:br/>
            <a:r>
              <a:rPr lang="en-US" dirty="0"/>
              <a:t>03</a:t>
            </a:r>
            <a:br/>
            <a:r>
              <a:rPr lang="en-US" dirty="0"/>
              <a:t>검토 책임을 연결합니다</a:t>
            </a:r>
            <a:br/>
            <a:r>
              <a:rPr lang="en-US" dirty="0"/>
              <a:t/>
            </a:r>
            <a:br/>
            <a:r>
              <a:rPr lang="en-US" dirty="0"/>
              <a:t>담당자, 남은 질문과 다음 확인 시점을 기록합니다.</a:t>
            </a:r>
            <a:br/>
            <a:r>
              <a:rPr lang="en-US" dirty="0"/>
              <a:t/>
            </a:r>
            <a:br/>
            <a:r>
              <a:rPr lang="en-US" dirty="0"/>
              <a:t>남길 합의</a:t>
            </a:r>
            <a:br/>
            <a:r>
              <a:rPr lang="en-US" dirty="0"/>
              <a:t/>
            </a:r>
            <a:br/>
            <a:r>
              <a:rPr lang="en-US" dirty="0"/>
              <a:t>작게 시작하되 접근 조건과 평가 기록, 운영 책임은 처음부터 함께 설계합니다.</a:t>
            </a:r>
            <a:br/>
            <a:r>
              <a:rPr lang="en-US" dirty="0"/>
              <a:t/>
            </a:r>
            <a:br/>
            <a:r>
              <a:rPr lang="en-US" dirty="0"/>
              <a:t>남길 질문</a:t>
            </a:r>
            <a:br/>
            <a:r>
              <a:rPr lang="en-US" dirty="0"/>
              <a:t/>
            </a:r>
            <a:br/>
            <a:r>
              <a:rPr lang="en-US" dirty="0"/>
              <a:t>미확인 기능·리전·비용과 남은 실패 사례를 숨기지 않습니다. 이 자료는 실제 배포 보고서가 아닙니다.</a:t>
            </a:r>
            <a:br/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2150"/>
            <a:ext cx="5168856" cy="596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800" b="1" spc="-13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모델 실험에서 운영 판단까지</a:t>
            </a:r>
            <a:endParaRPr lang="ko-KR" sz="38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37741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/ COVER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879931" y="279400"/>
            <a:ext cx="23341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81345" y="279400"/>
            <a:ext cx="38065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15</a:t>
            </a:r>
            <a:endParaRPr lang="ko-KR" sz="1500" dirty="0"/>
          </a:p>
        </p:txBody>
      </p:sp>
      <p:sp>
        <p:nvSpPr>
          <p:cNvPr id="8" name="Shape 6"/>
          <p:cNvSpPr/>
          <p:nvPr/>
        </p:nvSpPr>
        <p:spPr>
          <a:xfrm>
            <a:off x="762000" y="2032000"/>
            <a:ext cx="0" cy="2616200"/>
          </a:xfrm>
          <a:prstGeom prst="line">
            <a:avLst/>
          </a:prstGeom>
          <a:noFill/>
          <a:ln w="63500">
            <a:solidFill>
              <a:srgbClr val="0F62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3300" y="1955800"/>
            <a:ext cx="669981" cy="875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5600" b="1" spc="-336" kern="0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ko-KR" sz="5600" dirty="0"/>
          </a:p>
        </p:txBody>
      </p:sp>
      <p:sp>
        <p:nvSpPr>
          <p:cNvPr id="10" name="Text 8"/>
          <p:cNvSpPr/>
          <p:nvPr/>
        </p:nvSpPr>
        <p:spPr>
          <a:xfrm>
            <a:off x="1003300" y="2901950"/>
            <a:ext cx="2317607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Microsoft Foundry에서 모델·</a:t>
            </a:r>
            <a:endParaRPr lang="ko-KR" sz="1600" dirty="0"/>
          </a:p>
        </p:txBody>
      </p:sp>
      <p:sp>
        <p:nvSpPr>
          <p:cNvPr id="11" name="Text 9"/>
          <p:cNvSpPr/>
          <p:nvPr/>
        </p:nvSpPr>
        <p:spPr>
          <a:xfrm>
            <a:off x="1003300" y="3166070"/>
            <a:ext cx="2253214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에이전트·도구와 평가를 함께</a:t>
            </a:r>
            <a:endParaRPr lang="ko-KR" sz="1600" dirty="0"/>
          </a:p>
        </p:txBody>
      </p:sp>
      <p:sp>
        <p:nvSpPr>
          <p:cNvPr id="12" name="Text 10"/>
          <p:cNvSpPr/>
          <p:nvPr/>
        </p:nvSpPr>
        <p:spPr>
          <a:xfrm>
            <a:off x="1003300" y="3430191"/>
            <a:ext cx="938566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이해합니다.</a:t>
            </a:r>
            <a:endParaRPr lang="ko-KR" sz="1600" dirty="0"/>
          </a:p>
        </p:txBody>
      </p:sp>
      <p:sp>
        <p:nvSpPr>
          <p:cNvPr id="13" name="Shape 11"/>
          <p:cNvSpPr/>
          <p:nvPr/>
        </p:nvSpPr>
        <p:spPr>
          <a:xfrm>
            <a:off x="3746500" y="2032000"/>
            <a:ext cx="76835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746500" y="2912467"/>
            <a:ext cx="76835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46500" y="2229941"/>
            <a:ext cx="264573" cy="291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ko-KR" sz="1800" dirty="0"/>
          </a:p>
        </p:txBody>
      </p:sp>
      <p:sp>
        <p:nvSpPr>
          <p:cNvPr id="16" name="Text 14"/>
          <p:cNvSpPr/>
          <p:nvPr/>
        </p:nvSpPr>
        <p:spPr>
          <a:xfrm>
            <a:off x="4254500" y="2217241"/>
            <a:ext cx="1445871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역할을 구분합니다</a:t>
            </a:r>
            <a:endParaRPr lang="ko-KR" sz="1600" dirty="0"/>
          </a:p>
        </p:txBody>
      </p:sp>
      <p:sp>
        <p:nvSpPr>
          <p:cNvPr id="17" name="Text 15"/>
          <p:cNvSpPr/>
          <p:nvPr/>
        </p:nvSpPr>
        <p:spPr>
          <a:xfrm>
            <a:off x="4254500" y="2514402"/>
            <a:ext cx="368583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모델, 에이전트, 도구가 각각 무엇을 담당하는지 살펴봅니다.</a:t>
            </a:r>
            <a:endParaRPr lang="ko-KR" sz="1250" dirty="0"/>
          </a:p>
        </p:txBody>
      </p:sp>
      <p:sp>
        <p:nvSpPr>
          <p:cNvPr id="18" name="Shape 16"/>
          <p:cNvSpPr/>
          <p:nvPr/>
        </p:nvSpPr>
        <p:spPr>
          <a:xfrm>
            <a:off x="3746500" y="3780334"/>
            <a:ext cx="76835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46500" y="3097808"/>
            <a:ext cx="300887" cy="291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ko-KR" sz="1800" dirty="0"/>
          </a:p>
        </p:txBody>
      </p:sp>
      <p:sp>
        <p:nvSpPr>
          <p:cNvPr id="20" name="Text 18"/>
          <p:cNvSpPr/>
          <p:nvPr/>
        </p:nvSpPr>
        <p:spPr>
          <a:xfrm>
            <a:off x="4254500" y="3085108"/>
            <a:ext cx="1664946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구현 경로를 고릅니다</a:t>
            </a:r>
            <a:endParaRPr lang="ko-KR" sz="1600" dirty="0"/>
          </a:p>
        </p:txBody>
      </p:sp>
      <p:sp>
        <p:nvSpPr>
          <p:cNvPr id="21" name="Text 19"/>
          <p:cNvSpPr/>
          <p:nvPr/>
        </p:nvSpPr>
        <p:spPr>
          <a:xfrm>
            <a:off x="4254500" y="3382268"/>
            <a:ext cx="452145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직접 호출부터 코드 기반 에이전트까지 필요한 제어 수준으로 선택합니다.</a:t>
            </a:r>
            <a:endParaRPr lang="ko-KR" sz="1250" dirty="0"/>
          </a:p>
        </p:txBody>
      </p:sp>
      <p:sp>
        <p:nvSpPr>
          <p:cNvPr id="22" name="Shape 20"/>
          <p:cNvSpPr/>
          <p:nvPr/>
        </p:nvSpPr>
        <p:spPr>
          <a:xfrm>
            <a:off x="3746500" y="4648200"/>
            <a:ext cx="76835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746500" y="3965674"/>
            <a:ext cx="299498" cy="291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8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ko-KR" sz="1800" dirty="0"/>
          </a:p>
        </p:txBody>
      </p:sp>
      <p:sp>
        <p:nvSpPr>
          <p:cNvPr id="24" name="Text 22"/>
          <p:cNvSpPr/>
          <p:nvPr/>
        </p:nvSpPr>
        <p:spPr>
          <a:xfrm>
            <a:off x="4254500" y="3952974"/>
            <a:ext cx="2006358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근거로 출시를 판단합니다</a:t>
            </a:r>
            <a:endParaRPr lang="ko-KR" sz="1600" dirty="0"/>
          </a:p>
        </p:txBody>
      </p:sp>
      <p:sp>
        <p:nvSpPr>
          <p:cNvPr id="25" name="Text 23"/>
          <p:cNvSpPr/>
          <p:nvPr/>
        </p:nvSpPr>
        <p:spPr>
          <a:xfrm>
            <a:off x="4254500" y="4250134"/>
            <a:ext cx="418718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평가 결과와 실패 사례, 운영 책임을 연결해 진행 여부를 결정합니다.</a:t>
            </a:r>
            <a:endParaRPr lang="ko-KR" sz="1250" dirty="0"/>
          </a:p>
        </p:txBody>
      </p:sp>
      <p:sp>
        <p:nvSpPr>
          <p:cNvPr id="26" name="Shape 24"/>
          <p:cNvSpPr/>
          <p:nvPr/>
        </p:nvSpPr>
        <p:spPr>
          <a:xfrm>
            <a:off x="762000" y="4724400"/>
            <a:ext cx="3420467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2000" y="4806950"/>
            <a:ext cx="44396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출발점</a:t>
            </a:r>
            <a:endParaRPr lang="ko-KR" sz="1250" dirty="0"/>
          </a:p>
        </p:txBody>
      </p:sp>
      <p:sp>
        <p:nvSpPr>
          <p:cNvPr id="28" name="Text 26"/>
          <p:cNvSpPr/>
          <p:nvPr/>
        </p:nvSpPr>
        <p:spPr>
          <a:xfrm>
            <a:off x="762000" y="5065713"/>
            <a:ext cx="279604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좋은 답변 한 번보다 반복 가능한 업무 결과가</a:t>
            </a:r>
            <a:endParaRPr lang="ko-KR" sz="1250" dirty="0"/>
          </a:p>
        </p:txBody>
      </p:sp>
      <p:sp>
        <p:nvSpPr>
          <p:cNvPr id="29" name="Text 27"/>
          <p:cNvSpPr/>
          <p:nvPr/>
        </p:nvSpPr>
        <p:spPr>
          <a:xfrm>
            <a:off x="762000" y="5272088"/>
            <a:ext cx="333360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중요합니다. 해결할 문제와 허용할 행동부터 정합니다.</a:t>
            </a:r>
            <a:endParaRPr lang="ko-KR" sz="1250" dirty="0"/>
          </a:p>
        </p:txBody>
      </p:sp>
      <p:sp>
        <p:nvSpPr>
          <p:cNvPr id="30" name="Shape 28"/>
          <p:cNvSpPr/>
          <p:nvPr/>
        </p:nvSpPr>
        <p:spPr>
          <a:xfrm>
            <a:off x="4385667" y="47244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385667" y="480695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읽는 방향</a:t>
            </a:r>
            <a:endParaRPr lang="ko-KR" sz="1250" dirty="0"/>
          </a:p>
        </p:txBody>
      </p:sp>
      <p:sp>
        <p:nvSpPr>
          <p:cNvPr id="32" name="Text 30"/>
          <p:cNvSpPr/>
          <p:nvPr/>
        </p:nvSpPr>
        <p:spPr>
          <a:xfrm>
            <a:off x="4385667" y="5065713"/>
            <a:ext cx="286777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기능을 고르기 전에 업무 범위, 통제 조건, 출시</a:t>
            </a:r>
            <a:endParaRPr lang="ko-KR" sz="1250" dirty="0"/>
          </a:p>
        </p:txBody>
      </p:sp>
      <p:sp>
        <p:nvSpPr>
          <p:cNvPr id="33" name="Text 31"/>
          <p:cNvSpPr/>
          <p:nvPr/>
        </p:nvSpPr>
        <p:spPr>
          <a:xfrm>
            <a:off x="4385667" y="5272088"/>
            <a:ext cx="12082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근거를 연결합니다.</a:t>
            </a:r>
            <a:endParaRPr lang="ko-KR" sz="1250" dirty="0"/>
          </a:p>
        </p:txBody>
      </p:sp>
      <p:sp>
        <p:nvSpPr>
          <p:cNvPr id="34" name="Shape 32"/>
          <p:cNvSpPr/>
          <p:nvPr/>
        </p:nvSpPr>
        <p:spPr>
          <a:xfrm>
            <a:off x="8009434" y="47244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009434" y="480695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범위</a:t>
            </a:r>
            <a:endParaRPr lang="ko-KR" sz="1250" dirty="0"/>
          </a:p>
        </p:txBody>
      </p:sp>
      <p:sp>
        <p:nvSpPr>
          <p:cNvPr id="36" name="Text 34"/>
          <p:cNvSpPr/>
          <p:nvPr/>
        </p:nvSpPr>
        <p:spPr>
          <a:xfrm>
            <a:off x="8009434" y="5065713"/>
            <a:ext cx="291163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Azure AI Foundry의 현재 브랜드는 Microsoft</a:t>
            </a:r>
            <a:endParaRPr lang="ko-KR" sz="1250" dirty="0"/>
          </a:p>
        </p:txBody>
      </p:sp>
      <p:sp>
        <p:nvSpPr>
          <p:cNvPr id="37" name="Text 35"/>
          <p:cNvSpPr/>
          <p:nvPr/>
        </p:nvSpPr>
        <p:spPr>
          <a:xfrm>
            <a:off x="8009434" y="5272088"/>
            <a:ext cx="316493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Foundry입니다. 모든 기능이 모든 리전에 제공되는</a:t>
            </a:r>
            <a:endParaRPr lang="ko-KR" sz="1250" dirty="0"/>
          </a:p>
        </p:txBody>
      </p:sp>
      <p:sp>
        <p:nvSpPr>
          <p:cNvPr id="38" name="Text 36"/>
          <p:cNvSpPr/>
          <p:nvPr/>
        </p:nvSpPr>
        <p:spPr>
          <a:xfrm>
            <a:off x="8009434" y="5478463"/>
            <a:ext cx="93360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것은 아닙니다.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7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5125101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좋은 시연과 운영 준비는 다릅니다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65859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/ CONTRAST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849670" y="279400"/>
            <a:ext cx="263680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81345" y="279400"/>
            <a:ext cx="38065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15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5511955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 AI 응답도 실험과 업무 운영에서는 확인해야 할 조건이 달라집니다.</a:t>
            </a:r>
            <a:endParaRPr lang="ko-KR" sz="1600" dirty="0"/>
          </a:p>
        </p:txBody>
      </p:sp>
      <p:sp>
        <p:nvSpPr>
          <p:cNvPr id="9" name="Shape 7"/>
          <p:cNvSpPr/>
          <p:nvPr/>
        </p:nvSpPr>
        <p:spPr>
          <a:xfrm>
            <a:off x="762000" y="2552700"/>
            <a:ext cx="39116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73600" y="2552700"/>
            <a:ext cx="0" cy="234950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2000" y="4902200"/>
            <a:ext cx="39116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2000" y="2552700"/>
            <a:ext cx="0" cy="234950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6150" y="2692400"/>
            <a:ext cx="316167" cy="354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22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ko-KR" sz="2200" dirty="0"/>
          </a:p>
        </p:txBody>
      </p:sp>
      <p:sp>
        <p:nvSpPr>
          <p:cNvPr id="14" name="Text 12"/>
          <p:cNvSpPr/>
          <p:nvPr/>
        </p:nvSpPr>
        <p:spPr>
          <a:xfrm>
            <a:off x="946150" y="3092450"/>
            <a:ext cx="1209433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실험 · 가능한가</a:t>
            </a:r>
            <a:endParaRPr lang="ko-KR" sz="1600" dirty="0"/>
          </a:p>
        </p:txBody>
      </p:sp>
      <p:sp>
        <p:nvSpPr>
          <p:cNvPr id="15" name="Text 13"/>
          <p:cNvSpPr/>
          <p:nvPr/>
        </p:nvSpPr>
        <p:spPr>
          <a:xfrm>
            <a:off x="946150" y="3440410"/>
            <a:ext cx="271249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짧은 입력으로 모델의 응답을 살펴보고 업무</a:t>
            </a:r>
            <a:endParaRPr lang="ko-KR" sz="1250" dirty="0"/>
          </a:p>
        </p:txBody>
      </p:sp>
      <p:sp>
        <p:nvSpPr>
          <p:cNvPr id="16" name="Text 14"/>
          <p:cNvSpPr/>
          <p:nvPr/>
        </p:nvSpPr>
        <p:spPr>
          <a:xfrm>
            <a:off x="946150" y="3646785"/>
            <a:ext cx="107092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가설을 좁힙니다.</a:t>
            </a:r>
            <a:endParaRPr lang="ko-KR" sz="1250" dirty="0"/>
          </a:p>
        </p:txBody>
      </p:sp>
      <p:sp>
        <p:nvSpPr>
          <p:cNvPr id="17" name="Shape 15"/>
          <p:cNvSpPr/>
          <p:nvPr/>
        </p:nvSpPr>
        <p:spPr>
          <a:xfrm>
            <a:off x="4826000" y="2552700"/>
            <a:ext cx="25400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76800" y="2660650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전환의 이유</a:t>
            </a:r>
            <a:endParaRPr lang="ko-KR" sz="1250" dirty="0"/>
          </a:p>
        </p:txBody>
      </p:sp>
      <p:sp>
        <p:nvSpPr>
          <p:cNvPr id="19" name="Text 17"/>
          <p:cNvSpPr/>
          <p:nvPr/>
        </p:nvSpPr>
        <p:spPr>
          <a:xfrm>
            <a:off x="7203281" y="2660650"/>
            <a:ext cx="14392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→</a:t>
            </a:r>
            <a:endParaRPr lang="ko-KR" sz="1250" dirty="0"/>
          </a:p>
        </p:txBody>
      </p:sp>
      <p:sp>
        <p:nvSpPr>
          <p:cNvPr id="20" name="Text 18"/>
          <p:cNvSpPr/>
          <p:nvPr/>
        </p:nvSpPr>
        <p:spPr>
          <a:xfrm>
            <a:off x="4876800" y="2919413"/>
            <a:ext cx="225291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실험은 가능성을 찾는 출발점입니다.</a:t>
            </a:r>
            <a:endParaRPr lang="ko-KR" sz="1250" dirty="0"/>
          </a:p>
        </p:txBody>
      </p:sp>
      <p:sp>
        <p:nvSpPr>
          <p:cNvPr id="21" name="Text 19"/>
          <p:cNvSpPr/>
          <p:nvPr/>
        </p:nvSpPr>
        <p:spPr>
          <a:xfrm>
            <a:off x="4876800" y="3125788"/>
            <a:ext cx="23005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대표 사례 하나가 전체 사용자와 예외</a:t>
            </a:r>
            <a:endParaRPr lang="ko-KR" sz="1250" dirty="0"/>
          </a:p>
        </p:txBody>
      </p:sp>
      <p:sp>
        <p:nvSpPr>
          <p:cNvPr id="22" name="Text 20"/>
          <p:cNvSpPr/>
          <p:nvPr/>
        </p:nvSpPr>
        <p:spPr>
          <a:xfrm>
            <a:off x="4876800" y="3332163"/>
            <a:ext cx="179928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상황을 대신하지는 않습니다.</a:t>
            </a:r>
            <a:endParaRPr lang="ko-KR" sz="1250" dirty="0"/>
          </a:p>
        </p:txBody>
      </p:sp>
      <p:sp>
        <p:nvSpPr>
          <p:cNvPr id="23" name="Shape 21"/>
          <p:cNvSpPr/>
          <p:nvPr/>
        </p:nvSpPr>
        <p:spPr>
          <a:xfrm>
            <a:off x="7518400" y="2552700"/>
            <a:ext cx="3911600" cy="2349500"/>
          </a:xfrm>
          <a:prstGeom prst="rect">
            <a:avLst/>
          </a:prstGeom>
          <a:solidFill>
            <a:srgbClr val="EDF5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18400" y="2552700"/>
            <a:ext cx="3911600" cy="0"/>
          </a:xfrm>
          <a:prstGeom prst="line">
            <a:avLst/>
          </a:prstGeom>
          <a:noFill/>
          <a:ln w="50800">
            <a:solidFill>
              <a:srgbClr val="0F62F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696200" y="2736850"/>
            <a:ext cx="360617" cy="354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22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ko-KR" sz="2200" dirty="0"/>
          </a:p>
        </p:txBody>
      </p:sp>
      <p:sp>
        <p:nvSpPr>
          <p:cNvPr id="26" name="Text 24"/>
          <p:cNvSpPr/>
          <p:nvPr/>
        </p:nvSpPr>
        <p:spPr>
          <a:xfrm>
            <a:off x="7696200" y="3136900"/>
            <a:ext cx="1647484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운영 · 맡길 수 있는가</a:t>
            </a:r>
            <a:endParaRPr lang="ko-KR" sz="1600" dirty="0"/>
          </a:p>
        </p:txBody>
      </p:sp>
      <p:sp>
        <p:nvSpPr>
          <p:cNvPr id="27" name="Text 25"/>
          <p:cNvSpPr/>
          <p:nvPr/>
        </p:nvSpPr>
        <p:spPr>
          <a:xfrm>
            <a:off x="7696200" y="3484860"/>
            <a:ext cx="332150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대표 질문과 실패 조건, 허용 행동, 관측과 중단 책임을</a:t>
            </a:r>
            <a:endParaRPr lang="ko-KR" sz="1250" dirty="0"/>
          </a:p>
        </p:txBody>
      </p:sp>
      <p:sp>
        <p:nvSpPr>
          <p:cNvPr id="28" name="Text 26"/>
          <p:cNvSpPr/>
          <p:nvPr/>
        </p:nvSpPr>
        <p:spPr>
          <a:xfrm>
            <a:off x="7696200" y="3691235"/>
            <a:ext cx="107092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함께 확인합니다.</a:t>
            </a:r>
            <a:endParaRPr lang="ko-KR" sz="1250" dirty="0"/>
          </a:p>
        </p:txBody>
      </p:sp>
      <p:sp>
        <p:nvSpPr>
          <p:cNvPr id="29" name="Shape 27"/>
          <p:cNvSpPr/>
          <p:nvPr/>
        </p:nvSpPr>
        <p:spPr>
          <a:xfrm>
            <a:off x="762000" y="4978400"/>
            <a:ext cx="52324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2000" y="506095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선택 기준</a:t>
            </a:r>
            <a:endParaRPr lang="ko-KR" sz="1250" dirty="0"/>
          </a:p>
        </p:txBody>
      </p:sp>
      <p:sp>
        <p:nvSpPr>
          <p:cNvPr id="31" name="Text 29"/>
          <p:cNvSpPr/>
          <p:nvPr/>
        </p:nvSpPr>
        <p:spPr>
          <a:xfrm>
            <a:off x="762000" y="5319713"/>
            <a:ext cx="454526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실험을 버리는 대신 평가 데이터, 접근 통제, 추적 기록을 더해 반복 가능한</a:t>
            </a:r>
            <a:endParaRPr lang="ko-KR" sz="1250" dirty="0"/>
          </a:p>
        </p:txBody>
      </p:sp>
      <p:sp>
        <p:nvSpPr>
          <p:cNvPr id="32" name="Text 30"/>
          <p:cNvSpPr/>
          <p:nvPr/>
        </p:nvSpPr>
        <p:spPr>
          <a:xfrm>
            <a:off x="762000" y="5526088"/>
            <a:ext cx="148288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판단으로 발전시킵니다.</a:t>
            </a:r>
            <a:endParaRPr lang="ko-KR" sz="1250" dirty="0"/>
          </a:p>
        </p:txBody>
      </p:sp>
      <p:sp>
        <p:nvSpPr>
          <p:cNvPr id="33" name="Shape 31"/>
          <p:cNvSpPr/>
          <p:nvPr/>
        </p:nvSpPr>
        <p:spPr>
          <a:xfrm>
            <a:off x="6197600" y="4978400"/>
            <a:ext cx="52324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97600" y="5060950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주의할 해석</a:t>
            </a:r>
            <a:endParaRPr lang="ko-KR" sz="1250" dirty="0"/>
          </a:p>
        </p:txBody>
      </p:sp>
      <p:sp>
        <p:nvSpPr>
          <p:cNvPr id="35" name="Text 33"/>
          <p:cNvSpPr/>
          <p:nvPr/>
        </p:nvSpPr>
        <p:spPr>
          <a:xfrm>
            <a:off x="6197600" y="5319713"/>
            <a:ext cx="525448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아래 비교는 도입 관점의 제안입니다. Foundry를 선택했다는 사실만으로 운영 준비가</a:t>
            </a:r>
            <a:endParaRPr lang="ko-KR" sz="1250" dirty="0"/>
          </a:p>
        </p:txBody>
      </p:sp>
      <p:sp>
        <p:nvSpPr>
          <p:cNvPr id="36" name="Text 34"/>
          <p:cNvSpPr/>
          <p:nvPr/>
        </p:nvSpPr>
        <p:spPr>
          <a:xfrm>
            <a:off x="6197600" y="5526088"/>
            <a:ext cx="12082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끝나지는 않습니다.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5798102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Foundry의 역할을 세 층으로 읽습니다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98075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/ ARCHITECTURE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850761" y="279400"/>
            <a:ext cx="26258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81345" y="279400"/>
            <a:ext cx="38065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15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5049496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입력과 모델·도구, 에이전트 구성, 업무 응용을 잇는 개념도입니다.</a:t>
            </a:r>
            <a:endParaRPr lang="ko-KR" sz="1600" dirty="0"/>
          </a:p>
        </p:txBody>
      </p:sp>
      <p:sp>
        <p:nvSpPr>
          <p:cNvPr id="9" name="Shape 7"/>
          <p:cNvSpPr/>
          <p:nvPr/>
        </p:nvSpPr>
        <p:spPr>
          <a:xfrm>
            <a:off x="762000" y="2552700"/>
            <a:ext cx="28575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19500" y="2552700"/>
            <a:ext cx="0" cy="227330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2000" y="4826000"/>
            <a:ext cx="28575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2000" y="2552700"/>
            <a:ext cx="0" cy="227330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9950" y="2647950"/>
            <a:ext cx="103659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입력 / 기반 경계</a:t>
            </a:r>
            <a:endParaRPr lang="ko-KR" sz="1250" dirty="0"/>
          </a:p>
        </p:txBody>
      </p:sp>
      <p:sp>
        <p:nvSpPr>
          <p:cNvPr id="14" name="Shape 12"/>
          <p:cNvSpPr/>
          <p:nvPr/>
        </p:nvSpPr>
        <p:spPr>
          <a:xfrm>
            <a:off x="869950" y="2927350"/>
            <a:ext cx="2641600" cy="17907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9950" y="2927350"/>
            <a:ext cx="26416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11550" y="2927350"/>
            <a:ext cx="0" cy="179070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9950" y="4718050"/>
            <a:ext cx="26416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69950" y="2927350"/>
            <a:ext cx="0" cy="179070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2500" y="2997200"/>
            <a:ext cx="1362627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모델 · 도구 · 지식</a:t>
            </a:r>
            <a:endParaRPr lang="ko-KR" sz="1600" dirty="0"/>
          </a:p>
        </p:txBody>
      </p:sp>
      <p:sp>
        <p:nvSpPr>
          <p:cNvPr id="20" name="Text 18"/>
          <p:cNvSpPr/>
          <p:nvPr/>
        </p:nvSpPr>
        <p:spPr>
          <a:xfrm>
            <a:off x="952500" y="3345160"/>
            <a:ext cx="247963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업무에 맞는 추론 모델과 사용할 수 있는</a:t>
            </a:r>
            <a:endParaRPr lang="ko-KR" sz="1250" dirty="0"/>
          </a:p>
        </p:txBody>
      </p:sp>
      <p:sp>
        <p:nvSpPr>
          <p:cNvPr id="21" name="Text 19"/>
          <p:cNvSpPr/>
          <p:nvPr/>
        </p:nvSpPr>
        <p:spPr>
          <a:xfrm>
            <a:off x="952500" y="3551535"/>
            <a:ext cx="139368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자료·기능을 고릅니다.</a:t>
            </a:r>
            <a:endParaRPr lang="ko-KR" sz="1250" dirty="0"/>
          </a:p>
        </p:txBody>
      </p:sp>
      <p:sp>
        <p:nvSpPr>
          <p:cNvPr id="22" name="Text 20"/>
          <p:cNvSpPr/>
          <p:nvPr/>
        </p:nvSpPr>
        <p:spPr>
          <a:xfrm>
            <a:off x="3704927" y="347345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0F62F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기반 관계</a:t>
            </a:r>
            <a:endParaRPr lang="ko-KR" sz="1250" dirty="0"/>
          </a:p>
        </p:txBody>
      </p:sp>
      <p:pic>
        <p:nvPicPr>
          <p:cNvPr id="23" name="Image 0" descr="SVG diagr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9500" y="3746500"/>
            <a:ext cx="762000" cy="152400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4381500" y="2552700"/>
            <a:ext cx="3429000" cy="2273300"/>
          </a:xfrm>
          <a:prstGeom prst="rect">
            <a:avLst/>
          </a:prstGeom>
          <a:solidFill>
            <a:srgbClr val="EDF5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381500" y="2552700"/>
            <a:ext cx="3429000" cy="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810500" y="2552700"/>
            <a:ext cx="0" cy="227330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381500" y="4826000"/>
            <a:ext cx="3429000" cy="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381500" y="2552700"/>
            <a:ext cx="0" cy="227330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95800" y="2654300"/>
            <a:ext cx="107677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중심 플랫폼 경계</a:t>
            </a:r>
            <a:endParaRPr lang="ko-KR" sz="1250" dirty="0"/>
          </a:p>
        </p:txBody>
      </p:sp>
      <p:sp>
        <p:nvSpPr>
          <p:cNvPr id="30" name="Shape 27"/>
          <p:cNvSpPr/>
          <p:nvPr/>
        </p:nvSpPr>
        <p:spPr>
          <a:xfrm>
            <a:off x="4495800" y="2933700"/>
            <a:ext cx="3200400" cy="177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495800" y="2933700"/>
            <a:ext cx="32004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696200" y="2933700"/>
            <a:ext cx="0" cy="177800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4495800" y="4711700"/>
            <a:ext cx="32004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495800" y="2933700"/>
            <a:ext cx="0" cy="177800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578350" y="3003550"/>
            <a:ext cx="1104559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에이전트 구성</a:t>
            </a:r>
            <a:endParaRPr lang="ko-KR" sz="1600" dirty="0"/>
          </a:p>
        </p:txBody>
      </p:sp>
      <p:sp>
        <p:nvSpPr>
          <p:cNvPr id="36" name="Text 33"/>
          <p:cNvSpPr/>
          <p:nvPr/>
        </p:nvSpPr>
        <p:spPr>
          <a:xfrm>
            <a:off x="4578350" y="3351510"/>
            <a:ext cx="292750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지침과 대화, 도구 사용을 구성하며 허용 행동을</a:t>
            </a:r>
            <a:endParaRPr lang="ko-KR" sz="1250" dirty="0"/>
          </a:p>
        </p:txBody>
      </p:sp>
      <p:sp>
        <p:nvSpPr>
          <p:cNvPr id="37" name="Text 34"/>
          <p:cNvSpPr/>
          <p:nvPr/>
        </p:nvSpPr>
        <p:spPr>
          <a:xfrm>
            <a:off x="4578350" y="3557885"/>
            <a:ext cx="93360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분명히 합니다.</a:t>
            </a:r>
            <a:endParaRPr lang="ko-KR" sz="1250" dirty="0"/>
          </a:p>
        </p:txBody>
      </p:sp>
      <p:sp>
        <p:nvSpPr>
          <p:cNvPr id="38" name="Text 35"/>
          <p:cNvSpPr/>
          <p:nvPr/>
        </p:nvSpPr>
        <p:spPr>
          <a:xfrm>
            <a:off x="7895927" y="347345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0F62F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의미 연결</a:t>
            </a:r>
            <a:endParaRPr lang="ko-KR" sz="1250" dirty="0"/>
          </a:p>
        </p:txBody>
      </p:sp>
      <p:pic>
        <p:nvPicPr>
          <p:cNvPr id="39" name="Image 1" descr="SVG diagra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500" y="3746500"/>
            <a:ext cx="762000" cy="152400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8572500" y="2552700"/>
            <a:ext cx="28575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11430000" y="2552700"/>
            <a:ext cx="0" cy="227330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8572500" y="4826000"/>
            <a:ext cx="28575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8572500" y="2552700"/>
            <a:ext cx="0" cy="227330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8680450" y="2647950"/>
            <a:ext cx="103659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소비 / 응용 경계</a:t>
            </a:r>
            <a:endParaRPr lang="ko-KR" sz="1250" dirty="0"/>
          </a:p>
        </p:txBody>
      </p:sp>
      <p:sp>
        <p:nvSpPr>
          <p:cNvPr id="45" name="Shape 41"/>
          <p:cNvSpPr/>
          <p:nvPr/>
        </p:nvSpPr>
        <p:spPr>
          <a:xfrm>
            <a:off x="8680450" y="2927350"/>
            <a:ext cx="2641600" cy="17907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8680450" y="2927350"/>
            <a:ext cx="2641600" cy="0"/>
          </a:xfrm>
          <a:prstGeom prst="line">
            <a:avLst/>
          </a:prstGeom>
          <a:noFill/>
          <a:ln w="31750">
            <a:solidFill>
              <a:srgbClr val="0F62FE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1322050" y="2927350"/>
            <a:ext cx="0" cy="179070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8680450" y="4718050"/>
            <a:ext cx="26416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8680450" y="2927350"/>
            <a:ext cx="0" cy="179070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8763000" y="3022600"/>
            <a:ext cx="763147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업무 응용</a:t>
            </a:r>
            <a:endParaRPr lang="ko-KR" sz="1600" dirty="0"/>
          </a:p>
        </p:txBody>
      </p:sp>
      <p:sp>
        <p:nvSpPr>
          <p:cNvPr id="51" name="Text 47"/>
          <p:cNvSpPr/>
          <p:nvPr/>
        </p:nvSpPr>
        <p:spPr>
          <a:xfrm>
            <a:off x="8763000" y="3370560"/>
            <a:ext cx="239618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응답과 근거를 사용자 작업에 연결하고</a:t>
            </a:r>
            <a:endParaRPr lang="ko-KR" sz="1250" dirty="0"/>
          </a:p>
        </p:txBody>
      </p:sp>
      <p:sp>
        <p:nvSpPr>
          <p:cNvPr id="52" name="Text 48"/>
          <p:cNvSpPr/>
          <p:nvPr/>
        </p:nvSpPr>
        <p:spPr>
          <a:xfrm>
            <a:off x="8763000" y="3576935"/>
            <a:ext cx="184096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예외 처리 경로를 제공합니다.</a:t>
            </a:r>
            <a:endParaRPr lang="ko-KR" sz="1250" dirty="0"/>
          </a:p>
        </p:txBody>
      </p:sp>
      <p:sp>
        <p:nvSpPr>
          <p:cNvPr id="53" name="Shape 49"/>
          <p:cNvSpPr/>
          <p:nvPr/>
        </p:nvSpPr>
        <p:spPr>
          <a:xfrm>
            <a:off x="762000" y="4902200"/>
            <a:ext cx="10668000" cy="0"/>
          </a:xfrm>
          <a:prstGeom prst="line">
            <a:avLst/>
          </a:prstGeom>
          <a:noFill/>
          <a:ln w="12700">
            <a:solidFill>
              <a:srgbClr val="0F62FE"/>
            </a:solidFill>
            <a:prstDash val="dash"/>
          </a:ln>
        </p:spPr>
      </p:sp>
      <p:sp>
        <p:nvSpPr>
          <p:cNvPr id="54" name="Text 50"/>
          <p:cNvSpPr/>
          <p:nvPr/>
        </p:nvSpPr>
        <p:spPr>
          <a:xfrm>
            <a:off x="762000" y="497840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설계 맥락</a:t>
            </a:r>
            <a:endParaRPr lang="ko-KR" sz="1250" dirty="0"/>
          </a:p>
        </p:txBody>
      </p:sp>
      <p:sp>
        <p:nvSpPr>
          <p:cNvPr id="55" name="Text 51"/>
          <p:cNvSpPr/>
          <p:nvPr/>
        </p:nvSpPr>
        <p:spPr>
          <a:xfrm>
            <a:off x="762000" y="5237163"/>
            <a:ext cx="322883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project는 관련 AI 자산과 구성을 조직하는</a:t>
            </a:r>
            <a:endParaRPr lang="ko-KR" sz="1250" dirty="0"/>
          </a:p>
        </p:txBody>
      </p:sp>
      <p:sp>
        <p:nvSpPr>
          <p:cNvPr id="56" name="Text 52"/>
          <p:cNvSpPr/>
          <p:nvPr/>
        </p:nvSpPr>
        <p:spPr>
          <a:xfrm>
            <a:off x="762000" y="5443538"/>
            <a:ext cx="305897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작업 단위입니다. 그림은 논리적 역할 구분입니다.</a:t>
            </a:r>
            <a:endParaRPr lang="ko-KR" sz="1250" dirty="0"/>
          </a:p>
        </p:txBody>
      </p:sp>
      <p:sp>
        <p:nvSpPr>
          <p:cNvPr id="57" name="Text 53"/>
          <p:cNvSpPr/>
          <p:nvPr/>
        </p:nvSpPr>
        <p:spPr>
          <a:xfrm>
            <a:off x="4385667" y="4978400"/>
            <a:ext cx="134566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운영 확인 · 설계 메모</a:t>
            </a:r>
            <a:endParaRPr lang="ko-KR" sz="1250" dirty="0"/>
          </a:p>
        </p:txBody>
      </p:sp>
      <p:sp>
        <p:nvSpPr>
          <p:cNvPr id="58" name="Text 54"/>
          <p:cNvSpPr/>
          <p:nvPr/>
        </p:nvSpPr>
        <p:spPr>
          <a:xfrm>
            <a:off x="4385667" y="5237163"/>
            <a:ext cx="291371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실선은 개념을 읽는 관계입니다. 실제 API 호출,</a:t>
            </a:r>
            <a:endParaRPr lang="ko-KR" sz="1250" dirty="0"/>
          </a:p>
        </p:txBody>
      </p:sp>
      <p:sp>
        <p:nvSpPr>
          <p:cNvPr id="59" name="Text 55"/>
          <p:cNvSpPr/>
          <p:nvPr/>
        </p:nvSpPr>
        <p:spPr>
          <a:xfrm>
            <a:off x="4385667" y="5443538"/>
            <a:ext cx="294784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VNet이나 데이터 이동 경로를 뜻하지 않습니다.</a:t>
            </a:r>
            <a:endParaRPr lang="ko-KR" sz="1250" dirty="0"/>
          </a:p>
        </p:txBody>
      </p:sp>
      <p:sp>
        <p:nvSpPr>
          <p:cNvPr id="60" name="Text 56"/>
          <p:cNvSpPr/>
          <p:nvPr/>
        </p:nvSpPr>
        <p:spPr>
          <a:xfrm>
            <a:off x="8009434" y="497840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검증 범위</a:t>
            </a:r>
            <a:endParaRPr lang="ko-KR" sz="1250" dirty="0"/>
          </a:p>
        </p:txBody>
      </p:sp>
      <p:sp>
        <p:nvSpPr>
          <p:cNvPr id="61" name="Text 57"/>
          <p:cNvSpPr/>
          <p:nvPr/>
        </p:nvSpPr>
        <p:spPr>
          <a:xfrm>
            <a:off x="8009434" y="5237163"/>
            <a:ext cx="3417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데이터 접근, 신원, 네트워크 조건과 기록 범위는 별도로</a:t>
            </a:r>
            <a:endParaRPr lang="ko-KR" sz="1250" dirty="0"/>
          </a:p>
        </p:txBody>
      </p:sp>
      <p:sp>
        <p:nvSpPr>
          <p:cNvPr id="62" name="Text 58"/>
          <p:cNvSpPr/>
          <p:nvPr/>
        </p:nvSpPr>
        <p:spPr>
          <a:xfrm>
            <a:off x="8009434" y="5443538"/>
            <a:ext cx="134556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설계하고 검증합니다.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7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4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9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4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9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4" dur="7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9" dur="7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4" dur="7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9" dur="7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4" dur="7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9" dur="7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4" dur="7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9" dur="7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54" dur="7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59" dur="7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6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64" dur="7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7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69" dur="7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74" dur="7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7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7" dur="7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79" dur="7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8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2" dur="7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84" dur="7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8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7" dur="7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89" dur="7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9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2" dur="7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4" dur="7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7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9" dur="7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2" dur="7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04" dur="7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7" dur="7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09" dur="7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5799689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평가 기준부터 작은 실행을 연결합니다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53516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/ PROCESS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834787" y="279400"/>
            <a:ext cx="278563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04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81345" y="279400"/>
            <a:ext cx="38065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15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5396960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범위 → 구현 → 평가 → 운영 준비로 이어지는 네 단계 도입 제안입니다.</a:t>
            </a:r>
            <a:endParaRPr lang="ko-KR" sz="1600" dirty="0"/>
          </a:p>
        </p:txBody>
      </p:sp>
      <p:sp>
        <p:nvSpPr>
          <p:cNvPr id="9" name="Shape 7"/>
          <p:cNvSpPr/>
          <p:nvPr/>
        </p:nvSpPr>
        <p:spPr>
          <a:xfrm>
            <a:off x="762000" y="2552700"/>
            <a:ext cx="2533650" cy="0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2000" y="2552700"/>
            <a:ext cx="0" cy="196850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08050" y="2641600"/>
            <a:ext cx="251575" cy="278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ko-KR" sz="1700" dirty="0"/>
          </a:p>
        </p:txBody>
      </p:sp>
      <p:sp>
        <p:nvSpPr>
          <p:cNvPr id="12" name="Text 10"/>
          <p:cNvSpPr/>
          <p:nvPr/>
        </p:nvSpPr>
        <p:spPr>
          <a:xfrm>
            <a:off x="908050" y="2921000"/>
            <a:ext cx="763147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업무 범위</a:t>
            </a:r>
            <a:endParaRPr lang="ko-KR" sz="1600" dirty="0"/>
          </a:p>
        </p:txBody>
      </p:sp>
      <p:sp>
        <p:nvSpPr>
          <p:cNvPr id="13" name="Text 11"/>
          <p:cNvSpPr/>
          <p:nvPr/>
        </p:nvSpPr>
        <p:spPr>
          <a:xfrm>
            <a:off x="908050" y="3218160"/>
            <a:ext cx="205596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사용자, 질문, 허용 행동과 제외할</a:t>
            </a:r>
            <a:endParaRPr lang="ko-KR" sz="1250" dirty="0"/>
          </a:p>
        </p:txBody>
      </p:sp>
      <p:sp>
        <p:nvSpPr>
          <p:cNvPr id="14" name="Text 12"/>
          <p:cNvSpPr/>
          <p:nvPr/>
        </p:nvSpPr>
        <p:spPr>
          <a:xfrm>
            <a:off x="908050" y="3424535"/>
            <a:ext cx="12082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상황을 합의합니다.</a:t>
            </a:r>
            <a:endParaRPr lang="ko-KR" sz="1250" dirty="0"/>
          </a:p>
        </p:txBody>
      </p:sp>
      <p:sp>
        <p:nvSpPr>
          <p:cNvPr id="15" name="Text 13"/>
          <p:cNvSpPr/>
          <p:nvPr/>
        </p:nvSpPr>
        <p:spPr>
          <a:xfrm>
            <a:off x="3332262" y="2603500"/>
            <a:ext cx="166842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↘</a:t>
            </a:r>
            <a:endParaRPr lang="ko-KR" sz="1400" dirty="0"/>
          </a:p>
        </p:txBody>
      </p:sp>
      <p:sp>
        <p:nvSpPr>
          <p:cNvPr id="16" name="Shape 14"/>
          <p:cNvSpPr/>
          <p:nvPr/>
        </p:nvSpPr>
        <p:spPr>
          <a:xfrm>
            <a:off x="3473450" y="2768600"/>
            <a:ext cx="2533650" cy="1968500"/>
          </a:xfrm>
          <a:prstGeom prst="rect">
            <a:avLst/>
          </a:prstGeom>
          <a:solidFill>
            <a:srgbClr val="EDF5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73450" y="2768600"/>
            <a:ext cx="2533650" cy="0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13150" y="2857500"/>
            <a:ext cx="285905" cy="278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ko-KR" sz="1700" dirty="0"/>
          </a:p>
        </p:txBody>
      </p:sp>
      <p:sp>
        <p:nvSpPr>
          <p:cNvPr id="19" name="Text 17"/>
          <p:cNvSpPr/>
          <p:nvPr/>
        </p:nvSpPr>
        <p:spPr>
          <a:xfrm>
            <a:off x="3613150" y="3136900"/>
            <a:ext cx="763147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작은 구현</a:t>
            </a:r>
            <a:endParaRPr lang="ko-KR" sz="1600" dirty="0"/>
          </a:p>
        </p:txBody>
      </p:sp>
      <p:sp>
        <p:nvSpPr>
          <p:cNvPr id="20" name="Text 18"/>
          <p:cNvSpPr/>
          <p:nvPr/>
        </p:nvSpPr>
        <p:spPr>
          <a:xfrm>
            <a:off x="3613150" y="3434060"/>
            <a:ext cx="198423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모델과 구현 경로를 골라 제한된</a:t>
            </a:r>
            <a:endParaRPr lang="ko-KR" sz="1250" dirty="0"/>
          </a:p>
        </p:txBody>
      </p:sp>
      <p:sp>
        <p:nvSpPr>
          <p:cNvPr id="21" name="Text 19"/>
          <p:cNvSpPr/>
          <p:nvPr/>
        </p:nvSpPr>
        <p:spPr>
          <a:xfrm>
            <a:off x="3613150" y="3640435"/>
            <a:ext cx="134556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데이터로 연결합니다.</a:t>
            </a:r>
            <a:endParaRPr lang="ko-KR" sz="1250" dirty="0"/>
          </a:p>
        </p:txBody>
      </p:sp>
      <p:sp>
        <p:nvSpPr>
          <p:cNvPr id="22" name="Text 20"/>
          <p:cNvSpPr/>
          <p:nvPr/>
        </p:nvSpPr>
        <p:spPr>
          <a:xfrm>
            <a:off x="6043910" y="2635250"/>
            <a:ext cx="166644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↗</a:t>
            </a:r>
            <a:endParaRPr lang="ko-KR" sz="1400" dirty="0"/>
          </a:p>
        </p:txBody>
      </p:sp>
      <p:sp>
        <p:nvSpPr>
          <p:cNvPr id="23" name="Shape 21"/>
          <p:cNvSpPr/>
          <p:nvPr/>
        </p:nvSpPr>
        <p:spPr>
          <a:xfrm>
            <a:off x="6184900" y="2552700"/>
            <a:ext cx="2533650" cy="0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84900" y="2552700"/>
            <a:ext cx="0" cy="196850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30950" y="2641600"/>
            <a:ext cx="284615" cy="278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ko-KR" sz="1700" dirty="0"/>
          </a:p>
        </p:txBody>
      </p:sp>
      <p:sp>
        <p:nvSpPr>
          <p:cNvPr id="26" name="Text 24"/>
          <p:cNvSpPr/>
          <p:nvPr/>
        </p:nvSpPr>
        <p:spPr>
          <a:xfrm>
            <a:off x="6330950" y="2921000"/>
            <a:ext cx="933902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평가와 수정</a:t>
            </a:r>
            <a:endParaRPr lang="ko-KR" sz="1600" dirty="0"/>
          </a:p>
        </p:txBody>
      </p:sp>
      <p:sp>
        <p:nvSpPr>
          <p:cNvPr id="27" name="Text 25"/>
          <p:cNvSpPr/>
          <p:nvPr/>
        </p:nvSpPr>
        <p:spPr>
          <a:xfrm>
            <a:off x="6330950" y="3218160"/>
            <a:ext cx="203225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대표 질문과 실패 사례에서 품질·</a:t>
            </a:r>
            <a:endParaRPr lang="ko-KR" sz="1250" dirty="0"/>
          </a:p>
        </p:txBody>
      </p:sp>
      <p:sp>
        <p:nvSpPr>
          <p:cNvPr id="28" name="Text 26"/>
          <p:cNvSpPr/>
          <p:nvPr/>
        </p:nvSpPr>
        <p:spPr>
          <a:xfrm>
            <a:off x="6330950" y="3424535"/>
            <a:ext cx="184731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안전·도구 동작을 확인합니다.</a:t>
            </a:r>
            <a:endParaRPr lang="ko-KR" sz="1250" dirty="0"/>
          </a:p>
        </p:txBody>
      </p:sp>
      <p:sp>
        <p:nvSpPr>
          <p:cNvPr id="29" name="Text 27"/>
          <p:cNvSpPr/>
          <p:nvPr/>
        </p:nvSpPr>
        <p:spPr>
          <a:xfrm>
            <a:off x="8755162" y="2603500"/>
            <a:ext cx="166842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↘</a:t>
            </a:r>
            <a:endParaRPr lang="ko-KR" sz="1400" dirty="0"/>
          </a:p>
        </p:txBody>
      </p:sp>
      <p:sp>
        <p:nvSpPr>
          <p:cNvPr id="30" name="Shape 28"/>
          <p:cNvSpPr/>
          <p:nvPr/>
        </p:nvSpPr>
        <p:spPr>
          <a:xfrm>
            <a:off x="8896350" y="2768600"/>
            <a:ext cx="2533650" cy="1968500"/>
          </a:xfrm>
          <a:prstGeom prst="rect">
            <a:avLst/>
          </a:prstGeom>
          <a:solidFill>
            <a:srgbClr val="EDF5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896350" y="2768600"/>
            <a:ext cx="2533650" cy="0"/>
          </a:xfrm>
          <a:prstGeom prst="line">
            <a:avLst/>
          </a:prstGeom>
          <a:noFill/>
          <a:ln w="25400">
            <a:solidFill>
              <a:srgbClr val="0F62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036050" y="2857500"/>
            <a:ext cx="302772" cy="2786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7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04</a:t>
            </a:r>
            <a:endParaRPr lang="ko-KR" sz="1700" dirty="0"/>
          </a:p>
        </p:txBody>
      </p:sp>
      <p:sp>
        <p:nvSpPr>
          <p:cNvPr id="33" name="Text 31"/>
          <p:cNvSpPr/>
          <p:nvPr/>
        </p:nvSpPr>
        <p:spPr>
          <a:xfrm>
            <a:off x="9036050" y="3136900"/>
            <a:ext cx="763147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운영 준비</a:t>
            </a:r>
            <a:endParaRPr lang="ko-KR" sz="1600" dirty="0"/>
          </a:p>
        </p:txBody>
      </p:sp>
      <p:sp>
        <p:nvSpPr>
          <p:cNvPr id="34" name="Text 32"/>
          <p:cNvSpPr/>
          <p:nvPr/>
        </p:nvSpPr>
        <p:spPr>
          <a:xfrm>
            <a:off x="9036050" y="3434060"/>
            <a:ext cx="209773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추적, 오류 대응, 비용 확인과 중단</a:t>
            </a:r>
            <a:endParaRPr lang="ko-KR" sz="1250" dirty="0"/>
          </a:p>
        </p:txBody>
      </p:sp>
      <p:sp>
        <p:nvSpPr>
          <p:cNvPr id="35" name="Text 33"/>
          <p:cNvSpPr/>
          <p:nvPr/>
        </p:nvSpPr>
        <p:spPr>
          <a:xfrm>
            <a:off x="9036050" y="3640435"/>
            <a:ext cx="12082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책임을 연결합니다.</a:t>
            </a:r>
            <a:endParaRPr lang="ko-KR" sz="1250" dirty="0"/>
          </a:p>
        </p:txBody>
      </p:sp>
      <p:sp>
        <p:nvSpPr>
          <p:cNvPr id="36" name="Shape 34"/>
          <p:cNvSpPr/>
          <p:nvPr/>
        </p:nvSpPr>
        <p:spPr>
          <a:xfrm>
            <a:off x="762000" y="4826000"/>
            <a:ext cx="3420467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62000" y="490855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진행 단위</a:t>
            </a:r>
            <a:endParaRPr lang="ko-KR" sz="1250" dirty="0"/>
          </a:p>
        </p:txBody>
      </p:sp>
      <p:sp>
        <p:nvSpPr>
          <p:cNvPr id="38" name="Text 36"/>
          <p:cNvSpPr/>
          <p:nvPr/>
        </p:nvSpPr>
        <p:spPr>
          <a:xfrm>
            <a:off x="762000" y="5167313"/>
            <a:ext cx="327973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대표 입력, 원하는 출력과 실패 조건을 먼저 적습니다.</a:t>
            </a:r>
            <a:endParaRPr lang="ko-KR" sz="1250" dirty="0"/>
          </a:p>
        </p:txBody>
      </p:sp>
      <p:sp>
        <p:nvSpPr>
          <p:cNvPr id="39" name="Text 37"/>
          <p:cNvSpPr/>
          <p:nvPr/>
        </p:nvSpPr>
        <p:spPr>
          <a:xfrm>
            <a:off x="762000" y="5373688"/>
            <a:ext cx="274841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 기록을 다음 단계의 입력으로 사용합니다.</a:t>
            </a:r>
            <a:endParaRPr lang="ko-KR" sz="1250" dirty="0"/>
          </a:p>
        </p:txBody>
      </p:sp>
      <p:sp>
        <p:nvSpPr>
          <p:cNvPr id="40" name="Shape 38"/>
          <p:cNvSpPr/>
          <p:nvPr/>
        </p:nvSpPr>
        <p:spPr>
          <a:xfrm>
            <a:off x="4385667" y="48260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85667" y="490855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완료 기준</a:t>
            </a:r>
            <a:endParaRPr lang="ko-KR" sz="1250" dirty="0"/>
          </a:p>
        </p:txBody>
      </p:sp>
      <p:sp>
        <p:nvSpPr>
          <p:cNvPr id="42" name="Text 40"/>
          <p:cNvSpPr/>
          <p:nvPr/>
        </p:nvSpPr>
        <p:spPr>
          <a:xfrm>
            <a:off x="4385667" y="5167313"/>
            <a:ext cx="32021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다음 단계에 넘길 산출물로 완료를 판단합니다. 구현</a:t>
            </a:r>
            <a:endParaRPr lang="ko-KR" sz="1250" dirty="0"/>
          </a:p>
        </p:txBody>
      </p:sp>
      <p:sp>
        <p:nvSpPr>
          <p:cNvPr id="43" name="Text 41"/>
          <p:cNvSpPr/>
          <p:nvPr/>
        </p:nvSpPr>
        <p:spPr>
          <a:xfrm>
            <a:off x="4385667" y="5373688"/>
            <a:ext cx="229468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여부와 출시 가능 여부를 구분합니다.</a:t>
            </a:r>
            <a:endParaRPr lang="ko-KR" sz="1250" dirty="0"/>
          </a:p>
        </p:txBody>
      </p:sp>
      <p:sp>
        <p:nvSpPr>
          <p:cNvPr id="44" name="Shape 42"/>
          <p:cNvSpPr/>
          <p:nvPr/>
        </p:nvSpPr>
        <p:spPr>
          <a:xfrm>
            <a:off x="8009434" y="48260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009434" y="4908550"/>
            <a:ext cx="89768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되돌아갈 조건</a:t>
            </a:r>
            <a:endParaRPr lang="ko-KR" sz="1250" dirty="0"/>
          </a:p>
        </p:txBody>
      </p:sp>
      <p:sp>
        <p:nvSpPr>
          <p:cNvPr id="46" name="Text 44"/>
          <p:cNvSpPr/>
          <p:nvPr/>
        </p:nvSpPr>
        <p:spPr>
          <a:xfrm>
            <a:off x="8009434" y="5167313"/>
            <a:ext cx="27669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품질·권한·기록 조건이 부족하면 이전 단계로</a:t>
            </a:r>
            <a:endParaRPr lang="ko-KR" sz="1250" dirty="0"/>
          </a:p>
        </p:txBody>
      </p:sp>
      <p:sp>
        <p:nvSpPr>
          <p:cNvPr id="47" name="Text 45"/>
          <p:cNvSpPr/>
          <p:nvPr/>
        </p:nvSpPr>
        <p:spPr>
          <a:xfrm>
            <a:off x="8009434" y="5373688"/>
            <a:ext cx="292165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돌아갑니다. 실패 사례도 평가 자료에 남깁니다.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7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4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9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4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9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4" dur="7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9" dur="7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4" dur="7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9" dur="7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4" dur="7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5799689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필요한 제어 수준으로 구현을 고릅니다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43852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/ MATRIX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850563" y="279400"/>
            <a:ext cx="26278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05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81345" y="279400"/>
            <a:ext cx="38065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15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5617424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직접 모델 호출, prompt agent, hosted agent는 서로 다른 시작점입니다.</a:t>
            </a:r>
            <a:endParaRPr lang="ko-KR" sz="1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2555875"/>
          <a:ext cx="7239000" cy="2419350"/>
        </p:xfrm>
        <a:graphic>
          <a:graphicData uri="http://schemas.openxmlformats.org/drawingml/2006/table">
            <a:tbl>
              <a:tblPr/>
              <a:tblGrid>
                <a:gridCol w="2410817"/>
                <a:gridCol w="2410817"/>
                <a:gridCol w="2411016"/>
              </a:tblGrid>
              <a:tr h="3937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시작 경로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직접 관리하는 것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선택 기준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885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모델 직접 호출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애플리케이션 코드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도구 없이 추론이 필요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F"/>
                    </a:solidFill>
                  </a:tcPr>
                </a:tc>
              </a:tr>
              <a:tr h="67329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Prompt agent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지침 · 모델 · 도구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선언형 구성으로 시작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F"/>
                    </a:solidFill>
                  </a:tcPr>
                </a:tc>
              </a:tr>
              <a:tr h="67349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Hosted agent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자체 코드와 의존성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고유한 실행 로직 제어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27000" marR="127000" marT="88900" marB="8890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5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191500" y="2552700"/>
            <a:ext cx="3238500" cy="24257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382000" y="2667000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판단의 중심</a:t>
            </a:r>
            <a:endParaRPr lang="ko-KR" sz="1250" dirty="0"/>
          </a:p>
        </p:txBody>
      </p:sp>
      <p:sp>
        <p:nvSpPr>
          <p:cNvPr id="12" name="Text 9"/>
          <p:cNvSpPr/>
          <p:nvPr/>
        </p:nvSpPr>
        <p:spPr>
          <a:xfrm>
            <a:off x="8382000" y="2944813"/>
            <a:ext cx="372622" cy="494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1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→</a:t>
            </a:r>
            <a:endParaRPr lang="ko-KR" sz="3100" dirty="0"/>
          </a:p>
        </p:txBody>
      </p:sp>
      <p:sp>
        <p:nvSpPr>
          <p:cNvPr id="13" name="Text 10"/>
          <p:cNvSpPr/>
          <p:nvPr/>
        </p:nvSpPr>
        <p:spPr>
          <a:xfrm>
            <a:off x="8382000" y="3452813"/>
            <a:ext cx="2679855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도구가 필요하지 않다면 직접 호출부터</a:t>
            </a:r>
            <a:endParaRPr lang="ko-KR" sz="1400" dirty="0"/>
          </a:p>
        </p:txBody>
      </p:sp>
      <p:sp>
        <p:nvSpPr>
          <p:cNvPr id="14" name="Text 11"/>
          <p:cNvSpPr/>
          <p:nvPr/>
        </p:nvSpPr>
        <p:spPr>
          <a:xfrm>
            <a:off x="8382000" y="3683893"/>
            <a:ext cx="2365629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검토합니다. 고유한 코드가 필요한</a:t>
            </a:r>
            <a:endParaRPr lang="ko-KR" sz="1400" dirty="0"/>
          </a:p>
        </p:txBody>
      </p:sp>
      <p:sp>
        <p:nvSpPr>
          <p:cNvPr id="15" name="Text 12"/>
          <p:cNvSpPr/>
          <p:nvPr/>
        </p:nvSpPr>
        <p:spPr>
          <a:xfrm>
            <a:off x="8382000" y="3914973"/>
            <a:ext cx="2011319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경우에만 복잡도를 늘립니다.</a:t>
            </a:r>
            <a:endParaRPr lang="ko-KR" sz="1400" dirty="0"/>
          </a:p>
        </p:txBody>
      </p:sp>
      <p:sp>
        <p:nvSpPr>
          <p:cNvPr id="16" name="Shape 13"/>
          <p:cNvSpPr/>
          <p:nvPr/>
        </p:nvSpPr>
        <p:spPr>
          <a:xfrm>
            <a:off x="762000" y="5054600"/>
            <a:ext cx="52324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62000" y="5137150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비교의 전제</a:t>
            </a:r>
            <a:endParaRPr lang="ko-KR" sz="1250" dirty="0"/>
          </a:p>
        </p:txBody>
      </p:sp>
      <p:sp>
        <p:nvSpPr>
          <p:cNvPr id="18" name="Text 15"/>
          <p:cNvSpPr/>
          <p:nvPr/>
        </p:nvSpPr>
        <p:spPr>
          <a:xfrm>
            <a:off x="762000" y="5395913"/>
            <a:ext cx="433492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비교는 텍스트 중심 업무 범위입니다. 음성 기반 prompt agent는 이번</a:t>
            </a:r>
            <a:endParaRPr lang="ko-KR" sz="1250" dirty="0"/>
          </a:p>
        </p:txBody>
      </p:sp>
      <p:sp>
        <p:nvSpPr>
          <p:cNvPr id="19" name="Text 16"/>
          <p:cNvSpPr/>
          <p:nvPr/>
        </p:nvSpPr>
        <p:spPr>
          <a:xfrm>
            <a:off x="762000" y="5602288"/>
            <a:ext cx="12082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표에서 제외합니다.</a:t>
            </a:r>
            <a:endParaRPr lang="ko-KR" sz="1250" dirty="0"/>
          </a:p>
        </p:txBody>
      </p:sp>
      <p:sp>
        <p:nvSpPr>
          <p:cNvPr id="20" name="Shape 17"/>
          <p:cNvSpPr/>
          <p:nvPr/>
        </p:nvSpPr>
        <p:spPr>
          <a:xfrm>
            <a:off x="6197600" y="5054600"/>
            <a:ext cx="52324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197600" y="5137150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해석의 한계</a:t>
            </a:r>
            <a:endParaRPr lang="ko-KR" sz="1250" dirty="0"/>
          </a:p>
        </p:txBody>
      </p:sp>
      <p:sp>
        <p:nvSpPr>
          <p:cNvPr id="22" name="Text 19"/>
          <p:cNvSpPr/>
          <p:nvPr/>
        </p:nvSpPr>
        <p:spPr>
          <a:xfrm>
            <a:off x="6197600" y="5395913"/>
            <a:ext cx="493410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직접 호출은 에이전트 유형이 아닙니다. 실제 지원 모델·도구·리전과 출시 상태를</a:t>
            </a:r>
            <a:endParaRPr lang="ko-KR" sz="1250" dirty="0"/>
          </a:p>
        </p:txBody>
      </p:sp>
      <p:sp>
        <p:nvSpPr>
          <p:cNvPr id="23" name="Text 20"/>
          <p:cNvSpPr/>
          <p:nvPr/>
        </p:nvSpPr>
        <p:spPr>
          <a:xfrm>
            <a:off x="6197600" y="5602288"/>
            <a:ext cx="12082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별도로 확인합니다.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5880156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사내 문서 Q&amp;A는 근거부터 확인합니다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61384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/ SCENARIO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837664" y="279400"/>
            <a:ext cx="275685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06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81345" y="279400"/>
            <a:ext cx="38065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15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5138694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질문, 접근 확인, 근거 검토, 답변을 잇는 가상 업무 시나리오입니다.</a:t>
            </a:r>
            <a:endParaRPr lang="ko-KR" sz="1600" dirty="0"/>
          </a:p>
        </p:txBody>
      </p:sp>
      <p:sp>
        <p:nvSpPr>
          <p:cNvPr id="9" name="Shape 7"/>
          <p:cNvSpPr/>
          <p:nvPr/>
        </p:nvSpPr>
        <p:spPr>
          <a:xfrm>
            <a:off x="762000" y="2552700"/>
            <a:ext cx="52070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969000" y="2552700"/>
            <a:ext cx="0" cy="107950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2000" y="3632200"/>
            <a:ext cx="52070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2000" y="2552700"/>
            <a:ext cx="0" cy="107950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8050" y="2679700"/>
            <a:ext cx="18400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37" kern="0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ko-KR" sz="1250" dirty="0"/>
          </a:p>
        </p:txBody>
      </p:sp>
      <p:sp>
        <p:nvSpPr>
          <p:cNvPr id="14" name="Text 12"/>
          <p:cNvSpPr/>
          <p:nvPr/>
        </p:nvSpPr>
        <p:spPr>
          <a:xfrm>
            <a:off x="1161653" y="2654300"/>
            <a:ext cx="975773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-37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사용자 · 질문</a:t>
            </a:r>
            <a:endParaRPr lang="ko-KR" sz="1500" dirty="0"/>
          </a:p>
        </p:txBody>
      </p:sp>
      <p:sp>
        <p:nvSpPr>
          <p:cNvPr id="15" name="Text 13"/>
          <p:cNvSpPr/>
          <p:nvPr/>
        </p:nvSpPr>
        <p:spPr>
          <a:xfrm>
            <a:off x="908050" y="2943225"/>
            <a:ext cx="406782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업무 맥락과 필요한 답변을 제공하며 민감한 입력을 최소화합니다.</a:t>
            </a:r>
            <a:endParaRPr lang="ko-KR" sz="1250" dirty="0"/>
          </a:p>
        </p:txBody>
      </p:sp>
      <p:sp>
        <p:nvSpPr>
          <p:cNvPr id="16" name="Text 14"/>
          <p:cNvSpPr/>
          <p:nvPr/>
        </p:nvSpPr>
        <p:spPr>
          <a:xfrm>
            <a:off x="6040438" y="2990850"/>
            <a:ext cx="157417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rgbClr val="0F62F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ko-KR" sz="1400" dirty="0"/>
          </a:p>
        </p:txBody>
      </p:sp>
      <p:sp>
        <p:nvSpPr>
          <p:cNvPr id="17" name="Shape 15"/>
          <p:cNvSpPr/>
          <p:nvPr/>
        </p:nvSpPr>
        <p:spPr>
          <a:xfrm>
            <a:off x="6223000" y="2552700"/>
            <a:ext cx="5207000" cy="1079500"/>
          </a:xfrm>
          <a:prstGeom prst="rect">
            <a:avLst/>
          </a:prstGeom>
          <a:solidFill>
            <a:srgbClr val="EDF5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23000" y="2552700"/>
            <a:ext cx="5207000" cy="0"/>
          </a:xfrm>
          <a:prstGeom prst="line">
            <a:avLst/>
          </a:prstGeom>
          <a:noFill/>
          <a:ln w="6350">
            <a:solidFill>
              <a:srgbClr val="EDF5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430000" y="2552700"/>
            <a:ext cx="0" cy="1079500"/>
          </a:xfrm>
          <a:prstGeom prst="line">
            <a:avLst/>
          </a:prstGeom>
          <a:noFill/>
          <a:ln w="6350">
            <a:solidFill>
              <a:srgbClr val="EDF5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23000" y="3632200"/>
            <a:ext cx="5207000" cy="0"/>
          </a:xfrm>
          <a:prstGeom prst="line">
            <a:avLst/>
          </a:prstGeom>
          <a:noFill/>
          <a:ln w="6350">
            <a:solidFill>
              <a:srgbClr val="EDF5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23000" y="2552700"/>
            <a:ext cx="0" cy="1079500"/>
          </a:xfrm>
          <a:prstGeom prst="line">
            <a:avLst/>
          </a:prstGeom>
          <a:noFill/>
          <a:ln w="6350">
            <a:solidFill>
              <a:srgbClr val="EDF5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69050" y="2679700"/>
            <a:ext cx="20920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37" kern="0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ko-KR" sz="1250" dirty="0"/>
          </a:p>
        </p:txBody>
      </p:sp>
      <p:sp>
        <p:nvSpPr>
          <p:cNvPr id="23" name="Text 21"/>
          <p:cNvSpPr/>
          <p:nvPr/>
        </p:nvSpPr>
        <p:spPr>
          <a:xfrm>
            <a:off x="6647855" y="2654300"/>
            <a:ext cx="118115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-37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응용 · 접근 확인</a:t>
            </a:r>
            <a:endParaRPr lang="ko-KR" sz="1500" dirty="0"/>
          </a:p>
        </p:txBody>
      </p:sp>
      <p:sp>
        <p:nvSpPr>
          <p:cNvPr id="24" name="Text 22"/>
          <p:cNvSpPr/>
          <p:nvPr/>
        </p:nvSpPr>
        <p:spPr>
          <a:xfrm>
            <a:off x="6369050" y="2943225"/>
            <a:ext cx="36975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신원과 허용 자료 범위를 확인한 뒤 검색 요청을 구성합니다.</a:t>
            </a:r>
            <a:endParaRPr lang="ko-KR" sz="1250" dirty="0"/>
          </a:p>
        </p:txBody>
      </p:sp>
      <p:sp>
        <p:nvSpPr>
          <p:cNvPr id="25" name="Text 23"/>
          <p:cNvSpPr/>
          <p:nvPr/>
        </p:nvSpPr>
        <p:spPr>
          <a:xfrm>
            <a:off x="11135023" y="3587750"/>
            <a:ext cx="130032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rgbClr val="0F62F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↓</a:t>
            </a:r>
            <a:endParaRPr lang="ko-KR" sz="1400" dirty="0"/>
          </a:p>
        </p:txBody>
      </p:sp>
      <p:sp>
        <p:nvSpPr>
          <p:cNvPr id="26" name="Shape 24"/>
          <p:cNvSpPr/>
          <p:nvPr/>
        </p:nvSpPr>
        <p:spPr>
          <a:xfrm>
            <a:off x="6223000" y="3746500"/>
            <a:ext cx="5207000" cy="1079500"/>
          </a:xfrm>
          <a:prstGeom prst="rect">
            <a:avLst/>
          </a:prstGeom>
          <a:solidFill>
            <a:srgbClr val="EDF5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23000" y="3746500"/>
            <a:ext cx="5207000" cy="0"/>
          </a:xfrm>
          <a:prstGeom prst="line">
            <a:avLst/>
          </a:prstGeom>
          <a:noFill/>
          <a:ln w="6350">
            <a:solidFill>
              <a:srgbClr val="EDF5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1430000" y="3746500"/>
            <a:ext cx="0" cy="1079500"/>
          </a:xfrm>
          <a:prstGeom prst="line">
            <a:avLst/>
          </a:prstGeom>
          <a:noFill/>
          <a:ln w="6350">
            <a:solidFill>
              <a:srgbClr val="EDF5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223000" y="4826000"/>
            <a:ext cx="5207000" cy="0"/>
          </a:xfrm>
          <a:prstGeom prst="line">
            <a:avLst/>
          </a:prstGeom>
          <a:noFill/>
          <a:ln w="6350">
            <a:solidFill>
              <a:srgbClr val="EDF5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23000" y="3746500"/>
            <a:ext cx="0" cy="1079500"/>
          </a:xfrm>
          <a:prstGeom prst="line">
            <a:avLst/>
          </a:prstGeom>
          <a:noFill/>
          <a:ln w="6350">
            <a:solidFill>
              <a:srgbClr val="EDF5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69050" y="3873500"/>
            <a:ext cx="20821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37" kern="0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ko-KR" sz="1250" dirty="0"/>
          </a:p>
        </p:txBody>
      </p:sp>
      <p:sp>
        <p:nvSpPr>
          <p:cNvPr id="32" name="Text 30"/>
          <p:cNvSpPr/>
          <p:nvPr/>
        </p:nvSpPr>
        <p:spPr>
          <a:xfrm>
            <a:off x="6646863" y="3848100"/>
            <a:ext cx="1501235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-37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에이전트 · 근거 검토</a:t>
            </a:r>
            <a:endParaRPr lang="ko-KR" sz="1500" dirty="0"/>
          </a:p>
        </p:txBody>
      </p:sp>
      <p:sp>
        <p:nvSpPr>
          <p:cNvPr id="33" name="Text 31"/>
          <p:cNvSpPr/>
          <p:nvPr/>
        </p:nvSpPr>
        <p:spPr>
          <a:xfrm>
            <a:off x="6369050" y="4137025"/>
            <a:ext cx="375141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검색된 자료가 질문에 답하는지 확인하고 출처를 연결합니다.</a:t>
            </a:r>
            <a:endParaRPr lang="ko-KR" sz="1250" dirty="0"/>
          </a:p>
        </p:txBody>
      </p:sp>
      <p:sp>
        <p:nvSpPr>
          <p:cNvPr id="34" name="Text 32"/>
          <p:cNvSpPr/>
          <p:nvPr/>
        </p:nvSpPr>
        <p:spPr>
          <a:xfrm>
            <a:off x="6026150" y="4184650"/>
            <a:ext cx="157417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dirty="0">
                <a:solidFill>
                  <a:srgbClr val="0F62F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←</a:t>
            </a:r>
            <a:endParaRPr lang="ko-KR" sz="1400" dirty="0"/>
          </a:p>
        </p:txBody>
      </p:sp>
      <p:sp>
        <p:nvSpPr>
          <p:cNvPr id="35" name="Shape 33"/>
          <p:cNvSpPr/>
          <p:nvPr/>
        </p:nvSpPr>
        <p:spPr>
          <a:xfrm>
            <a:off x="762000" y="3746500"/>
            <a:ext cx="52070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69000" y="3746500"/>
            <a:ext cx="0" cy="107950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62000" y="4826000"/>
            <a:ext cx="52070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62000" y="3746500"/>
            <a:ext cx="0" cy="107950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08050" y="3873500"/>
            <a:ext cx="22161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spc="-37" kern="0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04</a:t>
            </a:r>
            <a:endParaRPr lang="ko-KR" sz="1250" dirty="0"/>
          </a:p>
        </p:txBody>
      </p:sp>
      <p:sp>
        <p:nvSpPr>
          <p:cNvPr id="40" name="Text 38"/>
          <p:cNvSpPr/>
          <p:nvPr/>
        </p:nvSpPr>
        <p:spPr>
          <a:xfrm>
            <a:off x="1199257" y="3848100"/>
            <a:ext cx="1341195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-37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사용자 · 답변 확인</a:t>
            </a:r>
            <a:endParaRPr lang="ko-KR" sz="1500" dirty="0"/>
          </a:p>
        </p:txBody>
      </p:sp>
      <p:sp>
        <p:nvSpPr>
          <p:cNvPr id="41" name="Text 39"/>
          <p:cNvSpPr/>
          <p:nvPr/>
        </p:nvSpPr>
        <p:spPr>
          <a:xfrm>
            <a:off x="908050" y="4137025"/>
            <a:ext cx="388873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답변과 근거를 검토하고 불확실한 내용은 담당자에게 넘깁니다.</a:t>
            </a:r>
            <a:endParaRPr lang="ko-KR" sz="1250" dirty="0"/>
          </a:p>
        </p:txBody>
      </p:sp>
      <p:sp>
        <p:nvSpPr>
          <p:cNvPr id="42" name="Shape 40"/>
          <p:cNvSpPr/>
          <p:nvPr/>
        </p:nvSpPr>
        <p:spPr>
          <a:xfrm>
            <a:off x="762000" y="4902200"/>
            <a:ext cx="3420467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62000" y="4984750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장면의 연결</a:t>
            </a:r>
            <a:endParaRPr lang="ko-KR" sz="1250" dirty="0"/>
          </a:p>
        </p:txBody>
      </p:sp>
      <p:sp>
        <p:nvSpPr>
          <p:cNvPr id="44" name="Text 42"/>
          <p:cNvSpPr/>
          <p:nvPr/>
        </p:nvSpPr>
        <p:spPr>
          <a:xfrm>
            <a:off x="762000" y="5243513"/>
            <a:ext cx="333946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직원이 허용된 사내 문서를 질문합니다. 확인할 근거가</a:t>
            </a:r>
            <a:endParaRPr lang="ko-KR" sz="1250" dirty="0"/>
          </a:p>
        </p:txBody>
      </p:sp>
      <p:sp>
        <p:nvSpPr>
          <p:cNvPr id="45" name="Text 43"/>
          <p:cNvSpPr/>
          <p:nvPr/>
        </p:nvSpPr>
        <p:spPr>
          <a:xfrm>
            <a:off x="762000" y="5449888"/>
            <a:ext cx="32021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없으면 답을 꾸며내지 않고 추가 확인을 요청합니다.</a:t>
            </a:r>
            <a:endParaRPr lang="ko-KR" sz="1250" dirty="0"/>
          </a:p>
        </p:txBody>
      </p:sp>
      <p:sp>
        <p:nvSpPr>
          <p:cNvPr id="46" name="Shape 44"/>
          <p:cNvSpPr/>
          <p:nvPr/>
        </p:nvSpPr>
        <p:spPr>
          <a:xfrm>
            <a:off x="4385667" y="49022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85667" y="4984750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인계의 품질</a:t>
            </a:r>
            <a:endParaRPr lang="ko-KR" sz="1250" dirty="0"/>
          </a:p>
        </p:txBody>
      </p:sp>
      <p:sp>
        <p:nvSpPr>
          <p:cNvPr id="48" name="Text 46"/>
          <p:cNvSpPr/>
          <p:nvPr/>
        </p:nvSpPr>
        <p:spPr>
          <a:xfrm>
            <a:off x="4385667" y="5243513"/>
            <a:ext cx="334531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단계 사이에는 질문만 아니라 접근 범위와 근거가 함께</a:t>
            </a:r>
            <a:endParaRPr lang="ko-KR" sz="1250" dirty="0"/>
          </a:p>
        </p:txBody>
      </p:sp>
      <p:sp>
        <p:nvSpPr>
          <p:cNvPr id="49" name="Text 47"/>
          <p:cNvSpPr/>
          <p:nvPr/>
        </p:nvSpPr>
        <p:spPr>
          <a:xfrm>
            <a:off x="4385667" y="5449888"/>
            <a:ext cx="12082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전달되어야 합니다.</a:t>
            </a:r>
            <a:endParaRPr lang="ko-KR" sz="1250" dirty="0"/>
          </a:p>
        </p:txBody>
      </p:sp>
      <p:sp>
        <p:nvSpPr>
          <p:cNvPr id="50" name="Shape 48"/>
          <p:cNvSpPr/>
          <p:nvPr/>
        </p:nvSpPr>
        <p:spPr>
          <a:xfrm>
            <a:off x="8009434" y="49022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8009434" y="4984750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예외의 처리</a:t>
            </a:r>
            <a:endParaRPr lang="ko-KR" sz="1250" dirty="0"/>
          </a:p>
        </p:txBody>
      </p:sp>
      <p:sp>
        <p:nvSpPr>
          <p:cNvPr id="52" name="Text 50"/>
          <p:cNvSpPr/>
          <p:nvPr/>
        </p:nvSpPr>
        <p:spPr>
          <a:xfrm>
            <a:off x="8009434" y="5243513"/>
            <a:ext cx="339393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검색·권한·거부 처리는 설계 요구사항입니다. 이 그림이</a:t>
            </a:r>
            <a:endParaRPr lang="ko-KR" sz="1250" dirty="0"/>
          </a:p>
        </p:txBody>
      </p:sp>
      <p:sp>
        <p:nvSpPr>
          <p:cNvPr id="53" name="Text 51"/>
          <p:cNvSpPr/>
          <p:nvPr/>
        </p:nvSpPr>
        <p:spPr>
          <a:xfrm>
            <a:off x="8009434" y="5449888"/>
            <a:ext cx="243200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제품의 자동 차단을 보장하지 않습니다.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7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4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9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4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9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4" dur="7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9" dur="7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4" dur="7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9" dur="7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4" dur="7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9" dur="7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4" dur="7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9" dur="7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54" dur="7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59" dur="7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6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64" dur="7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5217672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출시 전 네 가지 근거를 확인합니다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66276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/ CHECKLIST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854432" y="279400"/>
            <a:ext cx="25891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07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81345" y="279400"/>
            <a:ext cx="38065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15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4951071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체크 기호는 검토 대상이지 실제 승인이나 충족 상태가 아닙니다.</a:t>
            </a:r>
            <a:endParaRPr lang="ko-KR" sz="1600" dirty="0"/>
          </a:p>
        </p:txBody>
      </p:sp>
      <p:sp>
        <p:nvSpPr>
          <p:cNvPr id="9" name="Shape 7"/>
          <p:cNvSpPr/>
          <p:nvPr/>
        </p:nvSpPr>
        <p:spPr>
          <a:xfrm>
            <a:off x="762000" y="2552700"/>
            <a:ext cx="64135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2000" y="3479800"/>
            <a:ext cx="64135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2000" y="2924175"/>
            <a:ext cx="190500" cy="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" y="2924175"/>
            <a:ext cx="0" cy="19050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2000" y="3114675"/>
            <a:ext cx="190500" cy="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2000" y="2924175"/>
            <a:ext cx="0" cy="19050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30300" y="2889845"/>
            <a:ext cx="933902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업무 적합성</a:t>
            </a:r>
            <a:endParaRPr lang="ko-KR" sz="1600" dirty="0"/>
          </a:p>
        </p:txBody>
      </p:sp>
      <p:sp>
        <p:nvSpPr>
          <p:cNvPr id="16" name="Text 14"/>
          <p:cNvSpPr/>
          <p:nvPr/>
        </p:nvSpPr>
        <p:spPr>
          <a:xfrm>
            <a:off x="2895600" y="2916238"/>
            <a:ext cx="387057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대표 질문과 실패 사례에서 원하는 결과를 설명할 수 있습니까?</a:t>
            </a:r>
            <a:endParaRPr lang="ko-KR" sz="1250" dirty="0"/>
          </a:p>
        </p:txBody>
      </p:sp>
      <p:sp>
        <p:nvSpPr>
          <p:cNvPr id="17" name="Shape 15"/>
          <p:cNvSpPr/>
          <p:nvPr/>
        </p:nvSpPr>
        <p:spPr>
          <a:xfrm>
            <a:off x="762000" y="4394200"/>
            <a:ext cx="64135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62000" y="3838575"/>
            <a:ext cx="190500" cy="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52500" y="3838575"/>
            <a:ext cx="0" cy="19050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62000" y="4029075"/>
            <a:ext cx="190500" cy="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2000" y="3838575"/>
            <a:ext cx="0" cy="19050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30300" y="3804245"/>
            <a:ext cx="1323634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접근과 허용 행동</a:t>
            </a:r>
            <a:endParaRPr lang="ko-KR" sz="1600" dirty="0"/>
          </a:p>
        </p:txBody>
      </p:sp>
      <p:sp>
        <p:nvSpPr>
          <p:cNvPr id="23" name="Text 21"/>
          <p:cNvSpPr/>
          <p:nvPr/>
        </p:nvSpPr>
        <p:spPr>
          <a:xfrm>
            <a:off x="2895600" y="3830637"/>
            <a:ext cx="355427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누가 어떤 자료와 도구를 사용할 수 있는지 검증했습니까?</a:t>
            </a:r>
            <a:endParaRPr lang="ko-KR" sz="1250" dirty="0"/>
          </a:p>
        </p:txBody>
      </p:sp>
      <p:sp>
        <p:nvSpPr>
          <p:cNvPr id="24" name="Shape 22"/>
          <p:cNvSpPr/>
          <p:nvPr/>
        </p:nvSpPr>
        <p:spPr>
          <a:xfrm>
            <a:off x="762000" y="5308600"/>
            <a:ext cx="64135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2000" y="4752975"/>
            <a:ext cx="190500" cy="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52500" y="4752975"/>
            <a:ext cx="0" cy="19050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62000" y="4943475"/>
            <a:ext cx="190500" cy="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2000" y="4752975"/>
            <a:ext cx="0" cy="19050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30300" y="4718645"/>
            <a:ext cx="1323634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기능별 준비 상태</a:t>
            </a:r>
            <a:endParaRPr lang="ko-KR" sz="1600" dirty="0"/>
          </a:p>
        </p:txBody>
      </p:sp>
      <p:sp>
        <p:nvSpPr>
          <p:cNvPr id="30" name="Text 28"/>
          <p:cNvSpPr/>
          <p:nvPr/>
        </p:nvSpPr>
        <p:spPr>
          <a:xfrm>
            <a:off x="2895600" y="4745038"/>
            <a:ext cx="363741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GA/Preview, 대상 리전과 모델·도구 조건을 확인했습니까?</a:t>
            </a:r>
            <a:endParaRPr lang="ko-KR" sz="1250" dirty="0"/>
          </a:p>
        </p:txBody>
      </p:sp>
      <p:sp>
        <p:nvSpPr>
          <p:cNvPr id="31" name="Shape 29"/>
          <p:cNvSpPr/>
          <p:nvPr/>
        </p:nvSpPr>
        <p:spPr>
          <a:xfrm>
            <a:off x="762000" y="6223000"/>
            <a:ext cx="64135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2000" y="5667375"/>
            <a:ext cx="190500" cy="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2500" y="5667375"/>
            <a:ext cx="0" cy="19050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62000" y="5857875"/>
            <a:ext cx="190500" cy="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2000" y="5667375"/>
            <a:ext cx="0" cy="19050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30300" y="5633045"/>
            <a:ext cx="1323634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운영과 중단 책임</a:t>
            </a:r>
            <a:endParaRPr lang="ko-KR" sz="1600" dirty="0"/>
          </a:p>
        </p:txBody>
      </p:sp>
      <p:sp>
        <p:nvSpPr>
          <p:cNvPr id="37" name="Text 35"/>
          <p:cNvSpPr/>
          <p:nvPr/>
        </p:nvSpPr>
        <p:spPr>
          <a:xfrm>
            <a:off x="2895600" y="5659438"/>
            <a:ext cx="397892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오류·비용·기록을 확인하고 필요하면 중단할 담당자가 있습니까?</a:t>
            </a:r>
            <a:endParaRPr lang="ko-KR" sz="1250" dirty="0"/>
          </a:p>
        </p:txBody>
      </p:sp>
      <p:sp>
        <p:nvSpPr>
          <p:cNvPr id="38" name="Shape 36"/>
          <p:cNvSpPr/>
          <p:nvPr/>
        </p:nvSpPr>
        <p:spPr>
          <a:xfrm>
            <a:off x="7378700" y="2552700"/>
            <a:ext cx="40513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480300" y="260985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검토 방식</a:t>
            </a:r>
            <a:endParaRPr lang="ko-KR" sz="1250" dirty="0"/>
          </a:p>
        </p:txBody>
      </p:sp>
      <p:sp>
        <p:nvSpPr>
          <p:cNvPr id="40" name="Text 38"/>
          <p:cNvSpPr/>
          <p:nvPr/>
        </p:nvSpPr>
        <p:spPr>
          <a:xfrm>
            <a:off x="7480300" y="2855913"/>
            <a:ext cx="353710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기능·모델·도구 또는 데이터 범위가 바뀌면 같은 질문으로</a:t>
            </a:r>
            <a:endParaRPr lang="ko-KR" sz="1250" dirty="0"/>
          </a:p>
        </p:txBody>
      </p:sp>
      <p:sp>
        <p:nvSpPr>
          <p:cNvPr id="41" name="Text 39"/>
          <p:cNvSpPr/>
          <p:nvPr/>
        </p:nvSpPr>
        <p:spPr>
          <a:xfrm>
            <a:off x="7480300" y="3059113"/>
            <a:ext cx="107092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검토합니다.</a:t>
            </a:r>
            <a:endParaRPr lang="ko-KR" sz="1250" dirty="0"/>
          </a:p>
        </p:txBody>
      </p:sp>
      <p:sp>
        <p:nvSpPr>
          <p:cNvPr id="42" name="Shape 40"/>
          <p:cNvSpPr/>
          <p:nvPr/>
        </p:nvSpPr>
        <p:spPr>
          <a:xfrm>
            <a:off x="7378700" y="3797300"/>
            <a:ext cx="4051300" cy="1181100"/>
          </a:xfrm>
          <a:prstGeom prst="rect">
            <a:avLst/>
          </a:prstGeom>
          <a:solidFill>
            <a:srgbClr val="EDF5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378700" y="3797300"/>
            <a:ext cx="40513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80300" y="3854450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통과의 의미</a:t>
            </a:r>
            <a:endParaRPr lang="ko-KR" sz="1250" dirty="0"/>
          </a:p>
        </p:txBody>
      </p:sp>
      <p:sp>
        <p:nvSpPr>
          <p:cNvPr id="45" name="Text 43"/>
          <p:cNvSpPr/>
          <p:nvPr/>
        </p:nvSpPr>
        <p:spPr>
          <a:xfrm>
            <a:off x="7480300" y="4100513"/>
            <a:ext cx="27542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필수 조건을 뒷받침할 기록이 있을 때 제한된</a:t>
            </a:r>
            <a:endParaRPr lang="ko-KR" sz="1250" dirty="0"/>
          </a:p>
        </p:txBody>
      </p:sp>
      <p:sp>
        <p:nvSpPr>
          <p:cNvPr id="46" name="Text 44"/>
          <p:cNvSpPr/>
          <p:nvPr/>
        </p:nvSpPr>
        <p:spPr>
          <a:xfrm>
            <a:off x="7480300" y="4303713"/>
            <a:ext cx="12082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적용을 검토합니다.</a:t>
            </a:r>
            <a:endParaRPr lang="ko-KR" sz="1250" dirty="0"/>
          </a:p>
        </p:txBody>
      </p:sp>
      <p:sp>
        <p:nvSpPr>
          <p:cNvPr id="47" name="Shape 45"/>
          <p:cNvSpPr/>
          <p:nvPr/>
        </p:nvSpPr>
        <p:spPr>
          <a:xfrm>
            <a:off x="7378700" y="5041900"/>
            <a:ext cx="40513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80300" y="5099050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보류의 가치</a:t>
            </a:r>
            <a:endParaRPr lang="ko-KR" sz="1250" dirty="0"/>
          </a:p>
        </p:txBody>
      </p:sp>
      <p:sp>
        <p:nvSpPr>
          <p:cNvPr id="49" name="Text 47"/>
          <p:cNvSpPr/>
          <p:nvPr/>
        </p:nvSpPr>
        <p:spPr>
          <a:xfrm>
            <a:off x="7480300" y="5345113"/>
            <a:ext cx="379318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미확인 조건은 완료로 표시하지 않습니다. 책임자와 다음 확인</a:t>
            </a:r>
            <a:endParaRPr lang="ko-KR" sz="1250" dirty="0"/>
          </a:p>
        </p:txBody>
      </p:sp>
      <p:sp>
        <p:nvSpPr>
          <p:cNvPr id="50" name="Text 48"/>
          <p:cNvSpPr/>
          <p:nvPr/>
        </p:nvSpPr>
        <p:spPr>
          <a:xfrm>
            <a:off x="7480300" y="5548313"/>
            <a:ext cx="107092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시점을 남깁니다.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7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4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9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4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9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4" dur="7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9" dur="7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4" dur="7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9" dur="7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4" dur="7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9" dur="7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4" dur="7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9" dur="7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5462345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공식 상태와 도입 판단을 분리합니다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60928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/ EVIDENCE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834787" y="279400"/>
            <a:ext cx="278563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08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81345" y="279400"/>
            <a:ext cx="38065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15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4179745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포털의 GA와 개별 기능의 GA는 같은 범위가 아닙니다.</a:t>
            </a:r>
            <a:endParaRPr lang="ko-KR" sz="1600" dirty="0"/>
          </a:p>
        </p:txBody>
      </p:sp>
      <p:sp>
        <p:nvSpPr>
          <p:cNvPr id="9" name="Shape 7"/>
          <p:cNvSpPr/>
          <p:nvPr/>
        </p:nvSpPr>
        <p:spPr>
          <a:xfrm>
            <a:off x="762000" y="2552700"/>
            <a:ext cx="0" cy="3670300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" y="2628900"/>
            <a:ext cx="328668" cy="4310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27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↳</a:t>
            </a:r>
            <a:endParaRPr lang="ko-KR" sz="2700" dirty="0"/>
          </a:p>
        </p:txBody>
      </p:sp>
      <p:sp>
        <p:nvSpPr>
          <p:cNvPr id="11" name="Text 9"/>
          <p:cNvSpPr/>
          <p:nvPr/>
        </p:nvSpPr>
        <p:spPr>
          <a:xfrm>
            <a:off x="952500" y="3136900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근거의 범위</a:t>
            </a:r>
            <a:endParaRPr lang="ko-KR" sz="1250" dirty="0"/>
          </a:p>
        </p:txBody>
      </p:sp>
      <p:sp>
        <p:nvSpPr>
          <p:cNvPr id="12" name="Text 10"/>
          <p:cNvSpPr/>
          <p:nvPr/>
        </p:nvSpPr>
        <p:spPr>
          <a:xfrm>
            <a:off x="952500" y="3395663"/>
            <a:ext cx="14612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공식 GA 개요를 2026-</a:t>
            </a:r>
            <a:endParaRPr lang="ko-KR" sz="1250" dirty="0"/>
          </a:p>
        </p:txBody>
      </p:sp>
      <p:sp>
        <p:nvSpPr>
          <p:cNvPr id="13" name="Text 11"/>
          <p:cNvSpPr/>
          <p:nvPr/>
        </p:nvSpPr>
        <p:spPr>
          <a:xfrm>
            <a:off x="952500" y="3602038"/>
            <a:ext cx="150599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09-30에 확인했습니다.</a:t>
            </a:r>
            <a:endParaRPr lang="ko-KR" sz="1250" dirty="0"/>
          </a:p>
        </p:txBody>
      </p:sp>
      <p:sp>
        <p:nvSpPr>
          <p:cNvPr id="14" name="Text 12"/>
          <p:cNvSpPr/>
          <p:nvPr/>
        </p:nvSpPr>
        <p:spPr>
          <a:xfrm>
            <a:off x="952500" y="3808413"/>
            <a:ext cx="125586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상태는 이후 바뀔 수</a:t>
            </a:r>
            <a:endParaRPr lang="ko-KR" sz="1250" dirty="0"/>
          </a:p>
        </p:txBody>
      </p:sp>
      <p:sp>
        <p:nvSpPr>
          <p:cNvPr id="15" name="Text 13"/>
          <p:cNvSpPr/>
          <p:nvPr/>
        </p:nvSpPr>
        <p:spPr>
          <a:xfrm>
            <a:off x="952500" y="4014788"/>
            <a:ext cx="61719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있습니다.</a:t>
            </a:r>
            <a:endParaRPr lang="ko-KR" sz="1250" dirty="0"/>
          </a:p>
        </p:txBody>
      </p:sp>
      <p:sp>
        <p:nvSpPr>
          <p:cNvPr id="16" name="Shape 14"/>
          <p:cNvSpPr/>
          <p:nvPr/>
        </p:nvSpPr>
        <p:spPr>
          <a:xfrm>
            <a:off x="2946400" y="2552700"/>
            <a:ext cx="2726234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46400" y="4800600"/>
            <a:ext cx="2726234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73400" y="2673350"/>
            <a:ext cx="212880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ko-KR" sz="1400" dirty="0"/>
          </a:p>
        </p:txBody>
      </p:sp>
      <p:sp>
        <p:nvSpPr>
          <p:cNvPr id="19" name="Text 17"/>
          <p:cNvSpPr/>
          <p:nvPr/>
        </p:nvSpPr>
        <p:spPr>
          <a:xfrm>
            <a:off x="3073400" y="2997200"/>
            <a:ext cx="1784406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Agents 핵심 기능 · GA</a:t>
            </a:r>
            <a:endParaRPr lang="ko-KR" sz="1600" dirty="0"/>
          </a:p>
        </p:txBody>
      </p:sp>
      <p:sp>
        <p:nvSpPr>
          <p:cNvPr id="20" name="Text 18"/>
          <p:cNvSpPr/>
          <p:nvPr/>
        </p:nvSpPr>
        <p:spPr>
          <a:xfrm>
            <a:off x="3073400" y="3345160"/>
            <a:ext cx="2157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에이전트의 세부 유형, 연결 도구와</a:t>
            </a:r>
            <a:endParaRPr lang="ko-KR" sz="1250" dirty="0"/>
          </a:p>
        </p:txBody>
      </p:sp>
      <p:sp>
        <p:nvSpPr>
          <p:cNvPr id="21" name="Text 19"/>
          <p:cNvSpPr/>
          <p:nvPr/>
        </p:nvSpPr>
        <p:spPr>
          <a:xfrm>
            <a:off x="3073400" y="3551535"/>
            <a:ext cx="207978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모델 조건까지 한꺼번에 보장하는</a:t>
            </a:r>
            <a:endParaRPr lang="ko-KR" sz="1250" dirty="0"/>
          </a:p>
        </p:txBody>
      </p:sp>
      <p:sp>
        <p:nvSpPr>
          <p:cNvPr id="22" name="Text 20"/>
          <p:cNvSpPr/>
          <p:nvPr/>
        </p:nvSpPr>
        <p:spPr>
          <a:xfrm>
            <a:off x="3073400" y="3757910"/>
            <a:ext cx="107092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표기는 아닙니다.</a:t>
            </a:r>
            <a:endParaRPr lang="ko-KR" sz="1250" dirty="0"/>
          </a:p>
        </p:txBody>
      </p:sp>
      <p:sp>
        <p:nvSpPr>
          <p:cNvPr id="23" name="Shape 21"/>
          <p:cNvSpPr/>
          <p:nvPr/>
        </p:nvSpPr>
        <p:spPr>
          <a:xfrm>
            <a:off x="5825034" y="2552700"/>
            <a:ext cx="2726234" cy="2247900"/>
          </a:xfrm>
          <a:prstGeom prst="rect">
            <a:avLst/>
          </a:prstGeom>
          <a:solidFill>
            <a:srgbClr val="EDF5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825034" y="2552700"/>
            <a:ext cx="2726234" cy="0"/>
          </a:xfrm>
          <a:prstGeom prst="line">
            <a:avLst/>
          </a:prstGeom>
          <a:noFill/>
          <a:ln w="12700">
            <a:solidFill>
              <a:srgbClr val="0F62F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825034" y="4800600"/>
            <a:ext cx="2726234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52034" y="2673350"/>
            <a:ext cx="241157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ko-KR" sz="1400" dirty="0"/>
          </a:p>
        </p:txBody>
      </p:sp>
      <p:sp>
        <p:nvSpPr>
          <p:cNvPr id="27" name="Text 25"/>
          <p:cNvSpPr/>
          <p:nvPr/>
        </p:nvSpPr>
        <p:spPr>
          <a:xfrm>
            <a:off x="5952034" y="2997200"/>
            <a:ext cx="1476827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Evaluations · GA /</a:t>
            </a:r>
            <a:endParaRPr lang="ko-KR" sz="1600" dirty="0"/>
          </a:p>
        </p:txBody>
      </p:sp>
      <p:sp>
        <p:nvSpPr>
          <p:cNvPr id="28" name="Text 26"/>
          <p:cNvSpPr/>
          <p:nvPr/>
        </p:nvSpPr>
        <p:spPr>
          <a:xfrm>
            <a:off x="5952034" y="3230860"/>
            <a:ext cx="1082036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일부 Preview</a:t>
            </a:r>
            <a:endParaRPr lang="ko-KR" sz="1600" dirty="0"/>
          </a:p>
        </p:txBody>
      </p:sp>
      <p:sp>
        <p:nvSpPr>
          <p:cNvPr id="29" name="Text 27"/>
          <p:cNvSpPr/>
          <p:nvPr/>
        </p:nvSpPr>
        <p:spPr>
          <a:xfrm>
            <a:off x="5952034" y="3578820"/>
            <a:ext cx="212155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평가 기능 안에서도 평가자와 세부</a:t>
            </a:r>
            <a:endParaRPr lang="ko-KR" sz="1250" dirty="0"/>
          </a:p>
        </p:txBody>
      </p:sp>
      <p:sp>
        <p:nvSpPr>
          <p:cNvPr id="30" name="Text 28"/>
          <p:cNvSpPr/>
          <p:nvPr/>
        </p:nvSpPr>
        <p:spPr>
          <a:xfrm>
            <a:off x="5952034" y="3785195"/>
            <a:ext cx="229468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기능의 출시 상태를 나눠 확인합니다.</a:t>
            </a:r>
            <a:endParaRPr lang="ko-KR" sz="1250" dirty="0"/>
          </a:p>
        </p:txBody>
      </p:sp>
      <p:sp>
        <p:nvSpPr>
          <p:cNvPr id="31" name="Shape 29"/>
          <p:cNvSpPr/>
          <p:nvPr/>
        </p:nvSpPr>
        <p:spPr>
          <a:xfrm>
            <a:off x="8703667" y="2552700"/>
            <a:ext cx="2726333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703667" y="4800600"/>
            <a:ext cx="2726333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30667" y="2673350"/>
            <a:ext cx="240066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ko-KR" sz="1400" dirty="0"/>
          </a:p>
        </p:txBody>
      </p:sp>
      <p:sp>
        <p:nvSpPr>
          <p:cNvPr id="34" name="Text 32"/>
          <p:cNvSpPr/>
          <p:nvPr/>
        </p:nvSpPr>
        <p:spPr>
          <a:xfrm>
            <a:off x="8830667" y="2997200"/>
            <a:ext cx="1778155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Monitoring · Memory</a:t>
            </a:r>
            <a:endParaRPr lang="ko-KR" sz="1600" dirty="0"/>
          </a:p>
        </p:txBody>
      </p:sp>
      <p:sp>
        <p:nvSpPr>
          <p:cNvPr id="35" name="Text 33"/>
          <p:cNvSpPr/>
          <p:nvPr/>
        </p:nvSpPr>
        <p:spPr>
          <a:xfrm>
            <a:off x="8830667" y="3230860"/>
            <a:ext cx="797080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· Preview</a:t>
            </a:r>
            <a:endParaRPr lang="ko-KR" sz="1600" dirty="0"/>
          </a:p>
        </p:txBody>
      </p:sp>
      <p:sp>
        <p:nvSpPr>
          <p:cNvPr id="36" name="Text 34"/>
          <p:cNvSpPr/>
          <p:nvPr/>
        </p:nvSpPr>
        <p:spPr>
          <a:xfrm>
            <a:off x="8830667" y="3578820"/>
            <a:ext cx="216957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운영 적용 정책과 데이터 보관·사용</a:t>
            </a:r>
            <a:endParaRPr lang="ko-KR" sz="1250" dirty="0"/>
          </a:p>
        </p:txBody>
      </p:sp>
      <p:sp>
        <p:nvSpPr>
          <p:cNvPr id="37" name="Text 35"/>
          <p:cNvSpPr/>
          <p:nvPr/>
        </p:nvSpPr>
        <p:spPr>
          <a:xfrm>
            <a:off x="8830667" y="3785195"/>
            <a:ext cx="179928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조건을 기능별로 검토합니다.</a:t>
            </a:r>
            <a:endParaRPr lang="ko-KR" sz="1250" dirty="0"/>
          </a:p>
        </p:txBody>
      </p:sp>
      <p:sp>
        <p:nvSpPr>
          <p:cNvPr id="38" name="Shape 36"/>
          <p:cNvSpPr/>
          <p:nvPr/>
        </p:nvSpPr>
        <p:spPr>
          <a:xfrm>
            <a:off x="2946400" y="4902200"/>
            <a:ext cx="41402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946400" y="498475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해석</a:t>
            </a:r>
            <a:endParaRPr lang="ko-KR" sz="1250" dirty="0"/>
          </a:p>
        </p:txBody>
      </p:sp>
      <p:sp>
        <p:nvSpPr>
          <p:cNvPr id="40" name="Text 38"/>
          <p:cNvSpPr/>
          <p:nvPr/>
        </p:nvSpPr>
        <p:spPr>
          <a:xfrm>
            <a:off x="2946400" y="5243513"/>
            <a:ext cx="387663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기능별 상태를 기록한 다음 업무 검증, 대상 리전과 운영 조건을</a:t>
            </a:r>
            <a:endParaRPr lang="ko-KR" sz="1250" dirty="0"/>
          </a:p>
        </p:txBody>
      </p:sp>
      <p:sp>
        <p:nvSpPr>
          <p:cNvPr id="41" name="Text 39"/>
          <p:cNvSpPr/>
          <p:nvPr/>
        </p:nvSpPr>
        <p:spPr>
          <a:xfrm>
            <a:off x="2946400" y="5449888"/>
            <a:ext cx="12082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별도로 판단합니다.</a:t>
            </a:r>
            <a:endParaRPr lang="ko-KR" sz="1250" dirty="0"/>
          </a:p>
        </p:txBody>
      </p:sp>
      <p:sp>
        <p:nvSpPr>
          <p:cNvPr id="42" name="Shape 40"/>
          <p:cNvSpPr/>
          <p:nvPr/>
        </p:nvSpPr>
        <p:spPr>
          <a:xfrm>
            <a:off x="7289800" y="4902200"/>
            <a:ext cx="41402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89800" y="498475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한계</a:t>
            </a:r>
            <a:endParaRPr lang="ko-KR" sz="1250" dirty="0"/>
          </a:p>
        </p:txBody>
      </p:sp>
      <p:sp>
        <p:nvSpPr>
          <p:cNvPr id="44" name="Text 42"/>
          <p:cNvSpPr/>
          <p:nvPr/>
        </p:nvSpPr>
        <p:spPr>
          <a:xfrm>
            <a:off x="7289800" y="5243513"/>
            <a:ext cx="399033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GA는 모든 하위 기능·모델·리전의 보장이 아닙니다. 실제 채택 시</a:t>
            </a:r>
            <a:endParaRPr lang="ko-KR" sz="1250" dirty="0"/>
          </a:p>
        </p:txBody>
      </p:sp>
      <p:sp>
        <p:nvSpPr>
          <p:cNvPr id="45" name="Text 43"/>
          <p:cNvSpPr/>
          <p:nvPr/>
        </p:nvSpPr>
        <p:spPr>
          <a:xfrm>
            <a:off x="7289800" y="5449888"/>
            <a:ext cx="1703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최신 표를 다시 확인합니다.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7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4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9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4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9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4" dur="7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9" dur="7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4" dur="7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5799689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일정보다 단계별 통과 조건을 정합니다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62972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/ ROADMAP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838557" y="279400"/>
            <a:ext cx="27479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09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81345" y="279400"/>
            <a:ext cx="38065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15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5609090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탐색, 제한 검증, 운영 준비의 산출물을 연결하는 도입 로드맵 제안입니다.</a:t>
            </a:r>
            <a:endParaRPr lang="ko-KR" sz="1600" dirty="0"/>
          </a:p>
        </p:txBody>
      </p:sp>
      <p:sp>
        <p:nvSpPr>
          <p:cNvPr id="9" name="Shape 7"/>
          <p:cNvSpPr/>
          <p:nvPr/>
        </p:nvSpPr>
        <p:spPr>
          <a:xfrm>
            <a:off x="762000" y="28067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2000" y="255270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 묶음</a:t>
            </a:r>
            <a:endParaRPr lang="ko-KR" sz="1250" dirty="0"/>
          </a:p>
        </p:txBody>
      </p:sp>
      <p:sp>
        <p:nvSpPr>
          <p:cNvPr id="11" name="Shape 9"/>
          <p:cNvSpPr/>
          <p:nvPr/>
        </p:nvSpPr>
        <p:spPr>
          <a:xfrm>
            <a:off x="2857500" y="2552700"/>
            <a:ext cx="0" cy="24130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03550" y="255270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준비</a:t>
            </a:r>
            <a:endParaRPr lang="ko-KR" sz="1250" dirty="0"/>
          </a:p>
        </p:txBody>
      </p:sp>
      <p:sp>
        <p:nvSpPr>
          <p:cNvPr id="13" name="Shape 11"/>
          <p:cNvSpPr/>
          <p:nvPr/>
        </p:nvSpPr>
        <p:spPr>
          <a:xfrm>
            <a:off x="5715000" y="2552700"/>
            <a:ext cx="0" cy="24130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861050" y="255270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실행</a:t>
            </a:r>
            <a:endParaRPr lang="ko-KR" sz="1250" dirty="0"/>
          </a:p>
        </p:txBody>
      </p:sp>
      <p:sp>
        <p:nvSpPr>
          <p:cNvPr id="15" name="Shape 13"/>
          <p:cNvSpPr/>
          <p:nvPr/>
        </p:nvSpPr>
        <p:spPr>
          <a:xfrm>
            <a:off x="8572500" y="2552700"/>
            <a:ext cx="0" cy="24130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18550" y="255270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검토</a:t>
            </a:r>
            <a:endParaRPr lang="ko-KR" sz="1250" dirty="0"/>
          </a:p>
        </p:txBody>
      </p:sp>
      <p:sp>
        <p:nvSpPr>
          <p:cNvPr id="17" name="Shape 15"/>
          <p:cNvSpPr/>
          <p:nvPr/>
        </p:nvSpPr>
        <p:spPr>
          <a:xfrm>
            <a:off x="762000" y="3479800"/>
            <a:ext cx="106680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pic>
        <p:nvPicPr>
          <p:cNvPr id="18" name="Image 0" descr="CSS deco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57500" y="2806700"/>
            <a:ext cx="8572500" cy="66675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762000" y="3024188"/>
            <a:ext cx="118115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-37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탐색 · 업무 가설</a:t>
            </a:r>
            <a:endParaRPr lang="ko-KR" sz="1500" dirty="0"/>
          </a:p>
        </p:txBody>
      </p:sp>
      <p:sp>
        <p:nvSpPr>
          <p:cNvPr id="20" name="Shape 17"/>
          <p:cNvSpPr/>
          <p:nvPr/>
        </p:nvSpPr>
        <p:spPr>
          <a:xfrm>
            <a:off x="2857500" y="2998788"/>
            <a:ext cx="5715000" cy="282575"/>
          </a:xfrm>
          <a:prstGeom prst="rect">
            <a:avLst/>
          </a:prstGeom>
          <a:solidFill>
            <a:srgbClr val="EDF5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857500" y="2998788"/>
            <a:ext cx="0" cy="282575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035300" y="3036888"/>
            <a:ext cx="394836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문제 정의, 대표 질문, 제외 조건과 기대 결과를 문서로 남깁니다.</a:t>
            </a:r>
            <a:endParaRPr lang="ko-KR" sz="1250" dirty="0"/>
          </a:p>
        </p:txBody>
      </p:sp>
      <p:sp>
        <p:nvSpPr>
          <p:cNvPr id="23" name="Shape 20"/>
          <p:cNvSpPr/>
          <p:nvPr/>
        </p:nvSpPr>
        <p:spPr>
          <a:xfrm>
            <a:off x="762000" y="4152900"/>
            <a:ext cx="106680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pic>
        <p:nvPicPr>
          <p:cNvPr id="24" name="Image 1" descr="CSS decor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0" y="3479800"/>
            <a:ext cx="8572500" cy="66675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762000" y="3697288"/>
            <a:ext cx="118115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-37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검증 · 실패 근거</a:t>
            </a:r>
            <a:endParaRPr lang="ko-KR" sz="1500" dirty="0"/>
          </a:p>
        </p:txBody>
      </p:sp>
      <p:sp>
        <p:nvSpPr>
          <p:cNvPr id="26" name="Shape 22"/>
          <p:cNvSpPr/>
          <p:nvPr/>
        </p:nvSpPr>
        <p:spPr>
          <a:xfrm>
            <a:off x="5715000" y="3671888"/>
            <a:ext cx="5715000" cy="282575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715000" y="3671888"/>
            <a:ext cx="0" cy="282575"/>
          </a:xfrm>
          <a:prstGeom prst="line">
            <a:avLst/>
          </a:prstGeom>
          <a:noFill/>
          <a:ln w="38100">
            <a:solidFill>
              <a:srgbClr val="0F62FE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892800" y="3709988"/>
            <a:ext cx="430128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제한된 데이터로 구현하고 평가 기록·권한 시험·수정 이력을 남깁니다.</a:t>
            </a:r>
            <a:endParaRPr lang="ko-KR" sz="1250" dirty="0"/>
          </a:p>
        </p:txBody>
      </p:sp>
      <p:sp>
        <p:nvSpPr>
          <p:cNvPr id="29" name="Shape 25"/>
          <p:cNvSpPr/>
          <p:nvPr/>
        </p:nvSpPr>
        <p:spPr>
          <a:xfrm>
            <a:off x="762000" y="4826000"/>
            <a:ext cx="106680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pic>
        <p:nvPicPr>
          <p:cNvPr id="30" name="Image 2" descr="CSS decor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0" y="4152900"/>
            <a:ext cx="8572500" cy="66675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62000" y="4370388"/>
            <a:ext cx="118115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-37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준비 · 운영 책임</a:t>
            </a:r>
            <a:endParaRPr lang="ko-KR" sz="1500" dirty="0"/>
          </a:p>
        </p:txBody>
      </p:sp>
      <p:sp>
        <p:nvSpPr>
          <p:cNvPr id="32" name="Shape 27"/>
          <p:cNvSpPr/>
          <p:nvPr/>
        </p:nvSpPr>
        <p:spPr>
          <a:xfrm>
            <a:off x="2857500" y="4338638"/>
            <a:ext cx="8572500" cy="295275"/>
          </a:xfrm>
          <a:prstGeom prst="rect">
            <a:avLst/>
          </a:prstGeom>
          <a:solidFill>
            <a:srgbClr val="FFFFFF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2857500" y="4338638"/>
            <a:ext cx="85725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11430000" y="4338638"/>
            <a:ext cx="0" cy="295275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2857500" y="4633913"/>
            <a:ext cx="85725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2857500" y="4338638"/>
            <a:ext cx="0" cy="295275"/>
          </a:xfrm>
          <a:prstGeom prst="line">
            <a:avLst/>
          </a:prstGeom>
          <a:noFill/>
          <a:ln w="38100">
            <a:solidFill>
              <a:srgbClr val="0E0E0E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3035300" y="4383088"/>
            <a:ext cx="331564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관측, 오류 대응, 비용 확인과 중단 계획을 합의합니다.</a:t>
            </a:r>
            <a:endParaRPr lang="ko-KR" sz="1250" dirty="0"/>
          </a:p>
        </p:txBody>
      </p:sp>
      <p:sp>
        <p:nvSpPr>
          <p:cNvPr id="38" name="Shape 33"/>
          <p:cNvSpPr/>
          <p:nvPr/>
        </p:nvSpPr>
        <p:spPr>
          <a:xfrm>
            <a:off x="762000" y="4902200"/>
            <a:ext cx="3420467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762000" y="4984750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단계의 의미</a:t>
            </a:r>
            <a:endParaRPr lang="ko-KR" sz="1250" dirty="0"/>
          </a:p>
        </p:txBody>
      </p:sp>
      <p:sp>
        <p:nvSpPr>
          <p:cNvPr id="40" name="Text 35"/>
          <p:cNvSpPr/>
          <p:nvPr/>
        </p:nvSpPr>
        <p:spPr>
          <a:xfrm>
            <a:off x="762000" y="5243513"/>
            <a:ext cx="32021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날짜와 소요 기간을 보장하지 않습니다. 업무 난도와</a:t>
            </a:r>
            <a:endParaRPr lang="ko-KR" sz="1250" dirty="0"/>
          </a:p>
        </p:txBody>
      </p:sp>
      <p:sp>
        <p:nvSpPr>
          <p:cNvPr id="41" name="Text 36"/>
          <p:cNvSpPr/>
          <p:nvPr/>
        </p:nvSpPr>
        <p:spPr>
          <a:xfrm>
            <a:off x="762000" y="5449888"/>
            <a:ext cx="261744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데이터·권한 준비 상태에 따라 달라집니다.</a:t>
            </a:r>
            <a:endParaRPr lang="ko-KR" sz="1250" dirty="0"/>
          </a:p>
        </p:txBody>
      </p:sp>
      <p:sp>
        <p:nvSpPr>
          <p:cNvPr id="42" name="Shape 37"/>
          <p:cNvSpPr/>
          <p:nvPr/>
        </p:nvSpPr>
        <p:spPr>
          <a:xfrm>
            <a:off x="4385667" y="49022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4385667" y="4984750"/>
            <a:ext cx="89768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이어지는 책임</a:t>
            </a:r>
            <a:endParaRPr lang="ko-KR" sz="1250" dirty="0"/>
          </a:p>
        </p:txBody>
      </p:sp>
      <p:sp>
        <p:nvSpPr>
          <p:cNvPr id="44" name="Text 39"/>
          <p:cNvSpPr/>
          <p:nvPr/>
        </p:nvSpPr>
        <p:spPr>
          <a:xfrm>
            <a:off x="4385667" y="5243513"/>
            <a:ext cx="338708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다음 단계로 넘어갈 때 이전 단계의 실패 사례와 가정을</a:t>
            </a:r>
            <a:endParaRPr lang="ko-KR" sz="1250" dirty="0"/>
          </a:p>
        </p:txBody>
      </p:sp>
      <p:sp>
        <p:nvSpPr>
          <p:cNvPr id="45" name="Text 40"/>
          <p:cNvSpPr/>
          <p:nvPr/>
        </p:nvSpPr>
        <p:spPr>
          <a:xfrm>
            <a:off x="4385667" y="5449888"/>
            <a:ext cx="93360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함께 넘깁니다.</a:t>
            </a:r>
            <a:endParaRPr lang="ko-KR" sz="1250" dirty="0"/>
          </a:p>
        </p:txBody>
      </p:sp>
      <p:sp>
        <p:nvSpPr>
          <p:cNvPr id="46" name="Shape 41"/>
          <p:cNvSpPr/>
          <p:nvPr/>
        </p:nvSpPr>
        <p:spPr>
          <a:xfrm>
            <a:off x="8009434" y="49022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8009434" y="4984750"/>
            <a:ext cx="760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계획의 한계</a:t>
            </a:r>
            <a:endParaRPr lang="ko-KR" sz="1250" dirty="0"/>
          </a:p>
        </p:txBody>
      </p:sp>
      <p:sp>
        <p:nvSpPr>
          <p:cNvPr id="48" name="Text 43"/>
          <p:cNvSpPr/>
          <p:nvPr/>
        </p:nvSpPr>
        <p:spPr>
          <a:xfrm>
            <a:off x="8009434" y="5243513"/>
            <a:ext cx="334581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질문·데이터 범위가 달라지면 검증을 다시 설계합니다.</a:t>
            </a:r>
            <a:endParaRPr lang="ko-KR" sz="1250" dirty="0"/>
          </a:p>
        </p:txBody>
      </p:sp>
      <p:sp>
        <p:nvSpPr>
          <p:cNvPr id="49" name="Text 44"/>
          <p:cNvSpPr/>
          <p:nvPr/>
        </p:nvSpPr>
        <p:spPr>
          <a:xfrm>
            <a:off x="8009434" y="5449888"/>
            <a:ext cx="256932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작은 시연만으로 확대 적용하지 않습니다.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7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4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9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4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9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4" dur="7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9" dur="7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4" dur="7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9" dur="7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4" dur="7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9" dur="7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4" dur="7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5462345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허용 문서를 검색 근거로 연결합니다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57406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DATAFLOW · 가상 흐름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878046" y="279400"/>
            <a:ext cx="235303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10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81345" y="279400"/>
            <a:ext cx="38065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15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5747699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문서 → 정제 → 검색 자료 → 답변·검토로 분기하는 가상 데이터 흐름입니다.</a:t>
            </a:r>
            <a:endParaRPr lang="ko-KR" sz="1600" dirty="0"/>
          </a:p>
        </p:txBody>
      </p:sp>
      <p:pic>
        <p:nvPicPr>
          <p:cNvPr id="9" name="Image 0" descr="01 / 원천 허용 문서 본문 · 문서 ID 접근 범위 02 / 처리 문서 정제 본문 분할 · 형식 정리 문서 ID 보존 03 / 저장 검색 자료 04 / 소비 답변 검토 기록 원문 문서 조각 근거 참조 실선 = 데이터 전달 가상 설계 · 배포 아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2501900"/>
            <a:ext cx="10668000" cy="2692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62000" y="5270500"/>
            <a:ext cx="3420467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62000" y="535305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변환</a:t>
            </a:r>
            <a:endParaRPr lang="ko-KR" sz="1250" dirty="0"/>
          </a:p>
        </p:txBody>
      </p:sp>
      <p:sp>
        <p:nvSpPr>
          <p:cNvPr id="12" name="Text 9"/>
          <p:cNvSpPr/>
          <p:nvPr/>
        </p:nvSpPr>
        <p:spPr>
          <a:xfrm>
            <a:off x="762000" y="5611813"/>
            <a:ext cx="271249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문서 식별자와 접근 범위를 유지하며 조각을</a:t>
            </a:r>
            <a:endParaRPr lang="ko-KR" sz="1250" dirty="0"/>
          </a:p>
        </p:txBody>
      </p:sp>
      <p:sp>
        <p:nvSpPr>
          <p:cNvPr id="13" name="Text 10"/>
          <p:cNvSpPr/>
          <p:nvPr/>
        </p:nvSpPr>
        <p:spPr>
          <a:xfrm>
            <a:off x="762000" y="5818188"/>
            <a:ext cx="337527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준비합니다. 형식 오류와 권한 검사는 별도 설계합니다.</a:t>
            </a:r>
            <a:endParaRPr lang="ko-KR" sz="1250" dirty="0"/>
          </a:p>
        </p:txBody>
      </p:sp>
      <p:sp>
        <p:nvSpPr>
          <p:cNvPr id="14" name="Shape 11"/>
          <p:cNvSpPr/>
          <p:nvPr/>
        </p:nvSpPr>
        <p:spPr>
          <a:xfrm>
            <a:off x="4385667" y="52705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85667" y="535305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분기</a:t>
            </a:r>
            <a:endParaRPr lang="ko-KR" sz="1250" dirty="0"/>
          </a:p>
        </p:txBody>
      </p:sp>
      <p:sp>
        <p:nvSpPr>
          <p:cNvPr id="16" name="Text 13"/>
          <p:cNvSpPr/>
          <p:nvPr/>
        </p:nvSpPr>
        <p:spPr>
          <a:xfrm>
            <a:off x="4385667" y="5611813"/>
            <a:ext cx="229468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답변에는 관련 근거를, 평가에는 검토</a:t>
            </a:r>
            <a:endParaRPr lang="ko-KR" sz="1250" dirty="0"/>
          </a:p>
        </p:txBody>
      </p:sp>
      <p:sp>
        <p:nvSpPr>
          <p:cNvPr id="17" name="Text 14"/>
          <p:cNvSpPr/>
          <p:nvPr/>
        </p:nvSpPr>
        <p:spPr>
          <a:xfrm>
            <a:off x="4385667" y="5818188"/>
            <a:ext cx="270664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기록을 연결합니다. 저장했다고 답변 품질이</a:t>
            </a:r>
            <a:endParaRPr lang="ko-KR" sz="1250" dirty="0"/>
          </a:p>
        </p:txBody>
      </p:sp>
      <p:sp>
        <p:nvSpPr>
          <p:cNvPr id="18" name="Text 15"/>
          <p:cNvSpPr/>
          <p:nvPr/>
        </p:nvSpPr>
        <p:spPr>
          <a:xfrm>
            <a:off x="4385667" y="6024563"/>
            <a:ext cx="134556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보장되지는 않습니다.</a:t>
            </a:r>
            <a:endParaRPr lang="ko-KR" sz="1250" dirty="0"/>
          </a:p>
        </p:txBody>
      </p:sp>
      <p:sp>
        <p:nvSpPr>
          <p:cNvPr id="19" name="Shape 16"/>
          <p:cNvSpPr/>
          <p:nvPr/>
        </p:nvSpPr>
        <p:spPr>
          <a:xfrm>
            <a:off x="8009434" y="52705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09434" y="535305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가정</a:t>
            </a:r>
            <a:endParaRPr lang="ko-KR" sz="1250" dirty="0"/>
          </a:p>
        </p:txBody>
      </p:sp>
      <p:sp>
        <p:nvSpPr>
          <p:cNvPr id="21" name="Text 18"/>
          <p:cNvSpPr/>
          <p:nvPr/>
        </p:nvSpPr>
        <p:spPr>
          <a:xfrm>
            <a:off x="8009434" y="5611813"/>
            <a:ext cx="334402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실선은 제안한 데이터 전달입니다. 실제 Foundry 내부</a:t>
            </a:r>
            <a:endParaRPr lang="ko-KR" sz="1250" dirty="0"/>
          </a:p>
        </p:txBody>
      </p:sp>
      <p:sp>
        <p:nvSpPr>
          <p:cNvPr id="22" name="Text 19"/>
          <p:cNvSpPr/>
          <p:nvPr/>
        </p:nvSpPr>
        <p:spPr>
          <a:xfrm>
            <a:off x="8009434" y="5818188"/>
            <a:ext cx="275476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구조나 자동 수집·동기화를 뜻하지 않습니다.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5462345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검색 요청과 근거 반환을 구분합니다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83044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SEQUENCE · 가상 상호작용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931723" y="279400"/>
            <a:ext cx="181626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11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81345" y="279400"/>
            <a:ext cx="38065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15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5674078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응용 → 에이전트 → 검색 도구의 정상 경로를 단순화한 가상 시퀀스입니다.</a:t>
            </a:r>
            <a:endParaRPr lang="ko-KR" sz="1600" dirty="0"/>
          </a:p>
        </p:txBody>
      </p:sp>
      <p:pic>
        <p:nvPicPr>
          <p:cNvPr id="9" name="Image 0" descr="응용 에이전트 검색 도구 1 · 질문 요청 / 업무 질문 2 · 근거 검색 / 허용 범위 3 · 검색 응답 / 관련 근거 4 · 답변 반환 / 근거 참조 실선 = 요청 점선 = 응답 세로 가는 선 = 생명선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2501900"/>
            <a:ext cx="10668000" cy="2692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62000" y="5270500"/>
            <a:ext cx="3420467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62000" y="535305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순서</a:t>
            </a:r>
            <a:endParaRPr lang="ko-KR" sz="1250" dirty="0"/>
          </a:p>
        </p:txBody>
      </p:sp>
      <p:sp>
        <p:nvSpPr>
          <p:cNvPr id="12" name="Text 9"/>
          <p:cNvSpPr/>
          <p:nvPr/>
        </p:nvSpPr>
        <p:spPr>
          <a:xfrm>
            <a:off x="762000" y="5611813"/>
            <a:ext cx="298713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응용은 질문을 보내고 에이전트는 도구로 근거를</a:t>
            </a:r>
            <a:endParaRPr lang="ko-KR" sz="1250" dirty="0"/>
          </a:p>
        </p:txBody>
      </p:sp>
      <p:sp>
        <p:nvSpPr>
          <p:cNvPr id="13" name="Text 10"/>
          <p:cNvSpPr/>
          <p:nvPr/>
        </p:nvSpPr>
        <p:spPr>
          <a:xfrm>
            <a:off x="762000" y="5818188"/>
            <a:ext cx="319628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요청합니다. 도구는 허용된 검색 결과를 반환합니다.</a:t>
            </a:r>
            <a:endParaRPr lang="ko-KR" sz="1250" dirty="0"/>
          </a:p>
        </p:txBody>
      </p:sp>
      <p:sp>
        <p:nvSpPr>
          <p:cNvPr id="14" name="Shape 11"/>
          <p:cNvSpPr/>
          <p:nvPr/>
        </p:nvSpPr>
        <p:spPr>
          <a:xfrm>
            <a:off x="4385667" y="52705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85667" y="535305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책임</a:t>
            </a:r>
            <a:endParaRPr lang="ko-KR" sz="1250" dirty="0"/>
          </a:p>
        </p:txBody>
      </p:sp>
      <p:sp>
        <p:nvSpPr>
          <p:cNvPr id="16" name="Text 13"/>
          <p:cNvSpPr/>
          <p:nvPr/>
        </p:nvSpPr>
        <p:spPr>
          <a:xfrm>
            <a:off x="4385667" y="5611813"/>
            <a:ext cx="324391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검색 근거를 받은 뒤 답변을 구성합니다. 세로 간격과</a:t>
            </a:r>
            <a:endParaRPr lang="ko-KR" sz="1250" dirty="0"/>
          </a:p>
        </p:txBody>
      </p:sp>
      <p:sp>
        <p:nvSpPr>
          <p:cNvPr id="17" name="Text 14"/>
          <p:cNvSpPr/>
          <p:nvPr/>
        </p:nvSpPr>
        <p:spPr>
          <a:xfrm>
            <a:off x="4385667" y="5818188"/>
            <a:ext cx="274841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화살표 길이는 지연 시간을 뜻하지 않습니다.</a:t>
            </a:r>
            <a:endParaRPr lang="ko-KR" sz="1250" dirty="0"/>
          </a:p>
        </p:txBody>
      </p:sp>
      <p:sp>
        <p:nvSpPr>
          <p:cNvPr id="18" name="Shape 15"/>
          <p:cNvSpPr/>
          <p:nvPr/>
        </p:nvSpPr>
        <p:spPr>
          <a:xfrm>
            <a:off x="8009434" y="52705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09434" y="535305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범위</a:t>
            </a:r>
            <a:endParaRPr lang="ko-KR" sz="1250" dirty="0"/>
          </a:p>
        </p:txBody>
      </p:sp>
      <p:sp>
        <p:nvSpPr>
          <p:cNvPr id="20" name="Text 17"/>
          <p:cNvSpPr/>
          <p:nvPr/>
        </p:nvSpPr>
        <p:spPr>
          <a:xfrm>
            <a:off x="8009434" y="5611813"/>
            <a:ext cx="227216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실제 모델 호출·추가 도구·승인·오류·</a:t>
            </a:r>
            <a:endParaRPr lang="ko-KR" sz="1250" dirty="0"/>
          </a:p>
        </p:txBody>
      </p:sp>
      <p:sp>
        <p:nvSpPr>
          <p:cNvPr id="21" name="Text 18"/>
          <p:cNvSpPr/>
          <p:nvPr/>
        </p:nvSpPr>
        <p:spPr>
          <a:xfrm>
            <a:off x="8009434" y="5818188"/>
            <a:ext cx="288702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재시도는 생략했습니다. 특정 SDK 호출 순서를</a:t>
            </a:r>
            <a:endParaRPr lang="ko-KR" sz="1250" dirty="0"/>
          </a:p>
        </p:txBody>
      </p:sp>
      <p:sp>
        <p:nvSpPr>
          <p:cNvPr id="22" name="Text 19"/>
          <p:cNvSpPr/>
          <p:nvPr/>
        </p:nvSpPr>
        <p:spPr>
          <a:xfrm>
            <a:off x="8009434" y="6024563"/>
            <a:ext cx="12082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보장하지 않습니다.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5462345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접근 경로와 작업 권한은 별개입니다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83580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NETWORK · 가상 논리 구역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900172" y="279400"/>
            <a:ext cx="21317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12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81345" y="279400"/>
            <a:ext cx="38065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15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6508012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Q&amp;A 응용의 가상 접근 경계입니다. 실제 Azure 배포도나 사설 연결 보장이 아닙니다.</a:t>
            </a:r>
            <a:endParaRPr lang="ko-KR" sz="1600" dirty="0"/>
          </a:p>
        </p:txBody>
      </p:sp>
      <p:pic>
        <p:nvPicPr>
          <p:cNvPr id="9" name="Image 0" descr="직원 서비스 논리 구역 · 가상 게이트웨이 진입점 응용 구역 Q&amp;A 응용 진입 경로 제한 데이터 구역 허용 문서 조회 경로 제한 요청 전달 조회 직접 접근 차단 실선 = 허용 경로 점선 × = 차단 경로 ID / 작업 정책 · 별도 검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2501900"/>
            <a:ext cx="10668000" cy="2692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62000" y="5270500"/>
            <a:ext cx="3420467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62000" y="535305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경계</a:t>
            </a:r>
            <a:endParaRPr lang="ko-KR" sz="1250" dirty="0"/>
          </a:p>
        </p:txBody>
      </p:sp>
      <p:sp>
        <p:nvSpPr>
          <p:cNvPr id="12" name="Text 9"/>
          <p:cNvSpPr/>
          <p:nvPr/>
        </p:nvSpPr>
        <p:spPr>
          <a:xfrm>
            <a:off x="762000" y="5611813"/>
            <a:ext cx="296332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사용자, 진입점, 업무 응용과 문서 자료를 논리적</a:t>
            </a:r>
            <a:endParaRPr lang="ko-KR" sz="1250" dirty="0"/>
          </a:p>
        </p:txBody>
      </p:sp>
      <p:sp>
        <p:nvSpPr>
          <p:cNvPr id="13" name="Text 10"/>
          <p:cNvSpPr/>
          <p:nvPr/>
        </p:nvSpPr>
        <p:spPr>
          <a:xfrm>
            <a:off x="762000" y="5818188"/>
            <a:ext cx="134556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구역으로 나눴습니다.</a:t>
            </a:r>
            <a:endParaRPr lang="ko-KR" sz="1250" dirty="0"/>
          </a:p>
        </p:txBody>
      </p:sp>
      <p:sp>
        <p:nvSpPr>
          <p:cNvPr id="14" name="Shape 11"/>
          <p:cNvSpPr/>
          <p:nvPr/>
        </p:nvSpPr>
        <p:spPr>
          <a:xfrm>
            <a:off x="4385667" y="52705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385667" y="5353050"/>
            <a:ext cx="63366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ID와 정책</a:t>
            </a:r>
            <a:endParaRPr lang="ko-KR" sz="1250" dirty="0"/>
          </a:p>
        </p:txBody>
      </p:sp>
      <p:sp>
        <p:nvSpPr>
          <p:cNvPr id="16" name="Text 13"/>
          <p:cNvSpPr/>
          <p:nvPr/>
        </p:nvSpPr>
        <p:spPr>
          <a:xfrm>
            <a:off x="4385667" y="5611813"/>
            <a:ext cx="27542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경로가 열려 있어도 신원과 작업 권한은 따로</a:t>
            </a:r>
            <a:endParaRPr lang="ko-KR" sz="1250" dirty="0"/>
          </a:p>
        </p:txBody>
      </p:sp>
      <p:sp>
        <p:nvSpPr>
          <p:cNvPr id="17" name="Text 14"/>
          <p:cNvSpPr/>
          <p:nvPr/>
        </p:nvSpPr>
        <p:spPr>
          <a:xfrm>
            <a:off x="4385667" y="5818188"/>
            <a:ext cx="319628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확인합니다. 관리 경로와 정책 전파는 생략했습니다.</a:t>
            </a:r>
            <a:endParaRPr lang="ko-KR" sz="1250" dirty="0"/>
          </a:p>
        </p:txBody>
      </p:sp>
      <p:sp>
        <p:nvSpPr>
          <p:cNvPr id="18" name="Shape 15"/>
          <p:cNvSpPr/>
          <p:nvPr/>
        </p:nvSpPr>
        <p:spPr>
          <a:xfrm>
            <a:off x="8009434" y="52705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09434" y="5353050"/>
            <a:ext cx="80214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검증 전 설계</a:t>
            </a:r>
            <a:endParaRPr lang="ko-KR" sz="1250" dirty="0"/>
          </a:p>
        </p:txBody>
      </p:sp>
      <p:sp>
        <p:nvSpPr>
          <p:cNvPr id="20" name="Text 17"/>
          <p:cNvSpPr/>
          <p:nvPr/>
        </p:nvSpPr>
        <p:spPr>
          <a:xfrm>
            <a:off x="8009434" y="5611813"/>
            <a:ext cx="330820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차단 표시는 의도입니다. 실제 네트워크·RBAC·데이터</a:t>
            </a:r>
            <a:endParaRPr lang="ko-KR" sz="1250" dirty="0"/>
          </a:p>
        </p:txBody>
      </p:sp>
      <p:sp>
        <p:nvSpPr>
          <p:cNvPr id="21" name="Text 18"/>
          <p:cNvSpPr/>
          <p:nvPr/>
        </p:nvSpPr>
        <p:spPr>
          <a:xfrm>
            <a:off x="8009434" y="5818188"/>
            <a:ext cx="243200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접근 설정과 시험으로 검증해야 합니다.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5799689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평가 차트는 단위와 표본부터 읽습니다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39755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METRICS · 가상 수치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900172" y="279400"/>
            <a:ext cx="213177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13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81345" y="279400"/>
            <a:ext cx="38065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15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6198350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가상 검토 건수 40·65·85건을 0~100건 축에 표시합니다. 실측 성능이 아닙니다.</a:t>
            </a:r>
            <a:endParaRPr lang="ko-KR" sz="1600" dirty="0"/>
          </a:p>
        </p:txBody>
      </p:sp>
      <p:sp>
        <p:nvSpPr>
          <p:cNvPr id="9" name="Text 7"/>
          <p:cNvSpPr/>
          <p:nvPr/>
        </p:nvSpPr>
        <p:spPr>
          <a:xfrm>
            <a:off x="762000" y="2489200"/>
            <a:ext cx="134566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가상 예시 · 실측 아님</a:t>
            </a:r>
            <a:endParaRPr lang="ko-KR" sz="1250" dirty="0"/>
          </a:p>
        </p:txBody>
      </p:sp>
      <p:pic>
        <p:nvPicPr>
          <p:cNvPr id="10" name="Image 0" descr="건 100 50 0 40건 세트 A 65건 세트 B 85건 세트 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" y="2819400"/>
            <a:ext cx="6985000" cy="2260600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2000" y="5365750"/>
          <a:ext cx="6985000" cy="854075"/>
        </p:xfrm>
        <a:graphic>
          <a:graphicData uri="http://schemas.openxmlformats.org/drawingml/2006/table">
            <a:tbl>
              <a:tblPr/>
              <a:tblGrid>
                <a:gridCol w="3492500"/>
                <a:gridCol w="3492500"/>
              </a:tblGrid>
              <a:tr h="2000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질문 세트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14300" marR="114300" marT="19050" marB="1905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검토 건수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14300" marR="114300" marT="19050" marB="1905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9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세트 A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14300" marR="114300" marT="19050" marB="1905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40건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14300" marR="114300" marT="19050" marB="1905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9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세트 B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14300" marR="114300" marT="19050" marB="1905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65건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14300" marR="114300" marT="19050" marB="1905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808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세트 C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14300" marR="114300" marT="19050" marB="1905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0E0E0E"/>
                          </a:solidFill>
                          <a:latin typeface="IBM Plex Sans KR" pitchFamily="34" charset="0"/>
                          <a:ea typeface="IBM Plex Sans KR" pitchFamily="34" charset="-122"/>
                          <a:cs typeface="IBM Plex Sans KR" pitchFamily="34" charset="-120"/>
                        </a:rPr>
                        <a:t>85건</a:t>
                      </a:r>
                      <a:endParaRPr lang="en-US" sz="1250" dirty="0">
                        <a:latin typeface="IBM Plex Sans KR" charset="0"/>
                        <a:ea typeface="IBM Plex Sans KR" charset="0"/>
                        <a:cs typeface="IBM Plex Sans KR" charset="0"/>
                      </a:endParaRPr>
                    </a:p>
                  </a:txBody>
                  <a:tcPr marL="114300" marR="114300" marT="19050" marB="19050" anchor="ctr">
                    <a:lnL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D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762000" y="5137150"/>
            <a:ext cx="156791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차트와 같은 값 · 단위: 건</a:t>
            </a:r>
            <a:endParaRPr lang="ko-KR" sz="1250" dirty="0"/>
          </a:p>
        </p:txBody>
      </p:sp>
      <p:sp>
        <p:nvSpPr>
          <p:cNvPr id="13" name="Shape 9"/>
          <p:cNvSpPr/>
          <p:nvPr/>
        </p:nvSpPr>
        <p:spPr>
          <a:xfrm>
            <a:off x="8001000" y="2501900"/>
            <a:ext cx="3429000" cy="0"/>
          </a:xfrm>
          <a:prstGeom prst="line">
            <a:avLst/>
          </a:prstGeom>
          <a:noFill/>
          <a:ln w="31750">
            <a:solidFill>
              <a:srgbClr val="0F62F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001000" y="2609850"/>
            <a:ext cx="103659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정의 / 검토 건수</a:t>
            </a:r>
            <a:endParaRPr lang="ko-KR" sz="1250" dirty="0"/>
          </a:p>
        </p:txBody>
      </p:sp>
      <p:sp>
        <p:nvSpPr>
          <p:cNvPr id="15" name="Text 11"/>
          <p:cNvSpPr/>
          <p:nvPr/>
        </p:nvSpPr>
        <p:spPr>
          <a:xfrm>
            <a:off x="8001000" y="2868613"/>
            <a:ext cx="3417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차트 정의는 검토한 질문 수입니다. 정답률, 처리 속도나</a:t>
            </a:r>
            <a:endParaRPr lang="ko-KR" sz="1250" dirty="0"/>
          </a:p>
        </p:txBody>
      </p:sp>
      <p:sp>
        <p:nvSpPr>
          <p:cNvPr id="16" name="Text 12"/>
          <p:cNvSpPr/>
          <p:nvPr/>
        </p:nvSpPr>
        <p:spPr>
          <a:xfrm>
            <a:off x="8001000" y="3074988"/>
            <a:ext cx="152465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비용 절감률이 아닙니다.</a:t>
            </a:r>
            <a:endParaRPr lang="ko-KR" sz="1250" dirty="0"/>
          </a:p>
        </p:txBody>
      </p:sp>
      <p:sp>
        <p:nvSpPr>
          <p:cNvPr id="17" name="Shape 13"/>
          <p:cNvSpPr/>
          <p:nvPr/>
        </p:nvSpPr>
        <p:spPr>
          <a:xfrm>
            <a:off x="8001000" y="3776067"/>
            <a:ext cx="34290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001000" y="3858617"/>
            <a:ext cx="103659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해석 / 규모 차이</a:t>
            </a:r>
            <a:endParaRPr lang="ko-KR" sz="1250" dirty="0"/>
          </a:p>
        </p:txBody>
      </p:sp>
      <p:sp>
        <p:nvSpPr>
          <p:cNvPr id="19" name="Text 15"/>
          <p:cNvSpPr/>
          <p:nvPr/>
        </p:nvSpPr>
        <p:spPr>
          <a:xfrm>
            <a:off x="8001000" y="4117380"/>
            <a:ext cx="3376073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표본 C의 수가 더 많아도 품질 우위를 뜻하지 않습니다.</a:t>
            </a:r>
            <a:endParaRPr lang="ko-KR" sz="1250" dirty="0"/>
          </a:p>
        </p:txBody>
      </p:sp>
      <p:sp>
        <p:nvSpPr>
          <p:cNvPr id="20" name="Text 16"/>
          <p:cNvSpPr/>
          <p:nvPr/>
        </p:nvSpPr>
        <p:spPr>
          <a:xfrm>
            <a:off x="8001000" y="4323755"/>
            <a:ext cx="234915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기간·입력량·질문 구성을 함께 봅니다.</a:t>
            </a:r>
            <a:endParaRPr lang="ko-KR" sz="1250" dirty="0"/>
          </a:p>
        </p:txBody>
      </p:sp>
      <p:sp>
        <p:nvSpPr>
          <p:cNvPr id="21" name="Shape 17"/>
          <p:cNvSpPr/>
          <p:nvPr/>
        </p:nvSpPr>
        <p:spPr>
          <a:xfrm>
            <a:off x="8001000" y="5050334"/>
            <a:ext cx="34290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001000" y="5132884"/>
            <a:ext cx="103659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표본 / 실측 아님</a:t>
            </a:r>
            <a:endParaRPr lang="ko-KR" sz="1250" dirty="0"/>
          </a:p>
        </p:txBody>
      </p:sp>
      <p:sp>
        <p:nvSpPr>
          <p:cNvPr id="23" name="Text 19"/>
          <p:cNvSpPr/>
          <p:nvPr/>
        </p:nvSpPr>
        <p:spPr>
          <a:xfrm>
            <a:off x="8001000" y="5391646"/>
            <a:ext cx="320849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레이아웃 설명용 가상 데이터입니다. 실제 평가·고객</a:t>
            </a:r>
            <a:endParaRPr lang="ko-KR" sz="1250" dirty="0"/>
          </a:p>
        </p:txBody>
      </p:sp>
      <p:sp>
        <p:nvSpPr>
          <p:cNvPr id="24" name="Text 20"/>
          <p:cNvSpPr/>
          <p:nvPr/>
        </p:nvSpPr>
        <p:spPr>
          <a:xfrm>
            <a:off x="8001000" y="5598021"/>
            <a:ext cx="257567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성과·모델 벤치마크로 인용하지 않습니다.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5462345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근거 확인 지점을 코드로 설명합니다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224617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WALKTHROUGH · 예시 의사 코드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887571" y="279400"/>
            <a:ext cx="225778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14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81345" y="279400"/>
            <a:ext cx="38065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15</a:t>
            </a:r>
            <a:endParaRPr lang="ko-KR" sz="1500" dirty="0"/>
          </a:p>
        </p:txBody>
      </p:sp>
      <p:sp>
        <p:nvSpPr>
          <p:cNvPr id="8" name="Text 6"/>
          <p:cNvSpPr/>
          <p:nvPr/>
        </p:nvSpPr>
        <p:spPr>
          <a:xfrm>
            <a:off x="762000" y="2038350"/>
            <a:ext cx="6880876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spc="-29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권한, 검색, 근거 부족 시 행동을 읽는 의사 코드입니다. 실행 가능한 SDK 예제가 아닙니다.</a:t>
            </a:r>
            <a:endParaRPr lang="ko-KR" sz="1600" dirty="0"/>
          </a:p>
        </p:txBody>
      </p:sp>
      <p:sp>
        <p:nvSpPr>
          <p:cNvPr id="9" name="Shape 7"/>
          <p:cNvSpPr/>
          <p:nvPr/>
        </p:nvSpPr>
        <p:spPr>
          <a:xfrm>
            <a:off x="762000" y="2501900"/>
            <a:ext cx="66040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66000" y="2501900"/>
            <a:ext cx="0" cy="269240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62000" y="5194300"/>
            <a:ext cx="66040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62000" y="2501900"/>
            <a:ext cx="0" cy="269240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8350" y="2889250"/>
            <a:ext cx="65913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0750" y="2597150"/>
            <a:ext cx="270843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F62F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예시 의사 코드 · 실행 불가 / 제품 화면 아님</a:t>
            </a:r>
            <a:endParaRPr lang="ko-KR" sz="1250" dirty="0"/>
          </a:p>
        </p:txBody>
      </p:sp>
      <p:sp>
        <p:nvSpPr>
          <p:cNvPr id="15" name="Text 13"/>
          <p:cNvSpPr/>
          <p:nvPr/>
        </p:nvSpPr>
        <p:spPr>
          <a:xfrm>
            <a:off x="920750" y="3009900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ko-KR" sz="1350" dirty="0"/>
          </a:p>
        </p:txBody>
      </p:sp>
      <p:sp>
        <p:nvSpPr>
          <p:cNvPr id="16" name="Text 14"/>
          <p:cNvSpPr/>
          <p:nvPr/>
        </p:nvSpPr>
        <p:spPr>
          <a:xfrm>
            <a:off x="1270000" y="3009900"/>
            <a:ext cx="219229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0E0E0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INPUT question, user</a:t>
            </a:r>
            <a:endParaRPr lang="ko-KR" sz="1350" dirty="0"/>
          </a:p>
        </p:txBody>
      </p:sp>
      <p:sp>
        <p:nvSpPr>
          <p:cNvPr id="17" name="Text 15"/>
          <p:cNvSpPr/>
          <p:nvPr/>
        </p:nvSpPr>
        <p:spPr>
          <a:xfrm>
            <a:off x="920750" y="3289300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ko-KR" sz="1350" dirty="0"/>
          </a:p>
        </p:txBody>
      </p:sp>
      <p:sp>
        <p:nvSpPr>
          <p:cNvPr id="18" name="Text 16"/>
          <p:cNvSpPr/>
          <p:nvPr/>
        </p:nvSpPr>
        <p:spPr>
          <a:xfrm>
            <a:off x="1270000" y="3289300"/>
            <a:ext cx="2500963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0E0E0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scope = authorize(user)</a:t>
            </a:r>
            <a:endParaRPr lang="ko-KR" sz="1350" dirty="0"/>
          </a:p>
        </p:txBody>
      </p:sp>
      <p:sp>
        <p:nvSpPr>
          <p:cNvPr id="19" name="Text 17"/>
          <p:cNvSpPr/>
          <p:nvPr/>
        </p:nvSpPr>
        <p:spPr>
          <a:xfrm>
            <a:off x="920750" y="3568700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ko-KR" sz="1350" dirty="0"/>
          </a:p>
        </p:txBody>
      </p:sp>
      <p:sp>
        <p:nvSpPr>
          <p:cNvPr id="20" name="Text 18"/>
          <p:cNvSpPr/>
          <p:nvPr/>
        </p:nvSpPr>
        <p:spPr>
          <a:xfrm>
            <a:off x="1270000" y="3568700"/>
            <a:ext cx="363245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0E0E0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evidence = search(question, scope)</a:t>
            </a:r>
            <a:endParaRPr lang="ko-KR" sz="1350" dirty="0"/>
          </a:p>
        </p:txBody>
      </p:sp>
      <p:sp>
        <p:nvSpPr>
          <p:cNvPr id="21" name="Text 19"/>
          <p:cNvSpPr/>
          <p:nvPr/>
        </p:nvSpPr>
        <p:spPr>
          <a:xfrm>
            <a:off x="920750" y="3848100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ko-KR" sz="1350" dirty="0"/>
          </a:p>
        </p:txBody>
      </p:sp>
      <p:sp>
        <p:nvSpPr>
          <p:cNvPr id="22" name="Text 20"/>
          <p:cNvSpPr/>
          <p:nvPr/>
        </p:nvSpPr>
        <p:spPr>
          <a:xfrm>
            <a:off x="1270000" y="3848100"/>
            <a:ext cx="311810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0E0E0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IF empty(evidence): ASK HUMAN</a:t>
            </a:r>
            <a:endParaRPr lang="ko-KR" sz="1350" dirty="0"/>
          </a:p>
        </p:txBody>
      </p:sp>
      <p:sp>
        <p:nvSpPr>
          <p:cNvPr id="23" name="Text 21"/>
          <p:cNvSpPr/>
          <p:nvPr/>
        </p:nvSpPr>
        <p:spPr>
          <a:xfrm>
            <a:off x="920750" y="4127500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ko-KR" sz="1350" dirty="0"/>
          </a:p>
        </p:txBody>
      </p:sp>
      <p:sp>
        <p:nvSpPr>
          <p:cNvPr id="24" name="Text 22"/>
          <p:cNvSpPr/>
          <p:nvPr/>
        </p:nvSpPr>
        <p:spPr>
          <a:xfrm>
            <a:off x="1270000" y="4127500"/>
            <a:ext cx="383823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0E0E0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answer = compose(question, evidence)</a:t>
            </a:r>
            <a:endParaRPr lang="ko-KR" sz="1350" dirty="0"/>
          </a:p>
        </p:txBody>
      </p:sp>
      <p:sp>
        <p:nvSpPr>
          <p:cNvPr id="25" name="Text 23"/>
          <p:cNvSpPr/>
          <p:nvPr/>
        </p:nvSpPr>
        <p:spPr>
          <a:xfrm>
            <a:off x="920750" y="4406900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ko-KR" sz="1350" dirty="0"/>
          </a:p>
        </p:txBody>
      </p:sp>
      <p:sp>
        <p:nvSpPr>
          <p:cNvPr id="26" name="Text 24"/>
          <p:cNvSpPr/>
          <p:nvPr/>
        </p:nvSpPr>
        <p:spPr>
          <a:xfrm>
            <a:off x="1270000" y="4406900"/>
            <a:ext cx="311810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0E0E0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record_refs(answer, evidence)</a:t>
            </a:r>
            <a:endParaRPr lang="ko-KR" sz="1350" dirty="0"/>
          </a:p>
        </p:txBody>
      </p:sp>
      <p:sp>
        <p:nvSpPr>
          <p:cNvPr id="27" name="Text 25"/>
          <p:cNvSpPr/>
          <p:nvPr/>
        </p:nvSpPr>
        <p:spPr>
          <a:xfrm>
            <a:off x="920750" y="4686300"/>
            <a:ext cx="237784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6B6B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ko-KR" sz="1350" dirty="0"/>
          </a:p>
        </p:txBody>
      </p:sp>
      <p:sp>
        <p:nvSpPr>
          <p:cNvPr id="28" name="Text 26"/>
          <p:cNvSpPr/>
          <p:nvPr/>
        </p:nvSpPr>
        <p:spPr>
          <a:xfrm>
            <a:off x="1270000" y="4686300"/>
            <a:ext cx="1472263" cy="2405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50" dirty="0">
                <a:solidFill>
                  <a:srgbClr val="0E0E0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RETURN answer</a:t>
            </a:r>
            <a:endParaRPr lang="ko-KR" sz="1350" dirty="0"/>
          </a:p>
        </p:txBody>
      </p:sp>
      <p:sp>
        <p:nvSpPr>
          <p:cNvPr id="29" name="Shape 27"/>
          <p:cNvSpPr/>
          <p:nvPr/>
        </p:nvSpPr>
        <p:spPr>
          <a:xfrm>
            <a:off x="7620000" y="2501900"/>
            <a:ext cx="38100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20000" y="2571750"/>
            <a:ext cx="140946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2</a:t>
            </a:r>
            <a:endParaRPr lang="ko-KR" sz="1600" dirty="0"/>
          </a:p>
        </p:txBody>
      </p:sp>
      <p:sp>
        <p:nvSpPr>
          <p:cNvPr id="31" name="Text 29"/>
          <p:cNvSpPr/>
          <p:nvPr/>
        </p:nvSpPr>
        <p:spPr>
          <a:xfrm>
            <a:off x="7988300" y="2597150"/>
            <a:ext cx="1201099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02행 · 권한 확인</a:t>
            </a:r>
            <a:endParaRPr lang="ko-KR" sz="1400" dirty="0"/>
          </a:p>
        </p:txBody>
      </p:sp>
      <p:sp>
        <p:nvSpPr>
          <p:cNvPr id="32" name="Text 30"/>
          <p:cNvSpPr/>
          <p:nvPr/>
        </p:nvSpPr>
        <p:spPr>
          <a:xfrm>
            <a:off x="7988300" y="2870200"/>
            <a:ext cx="346576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2행은 허용 자료 범위를 확인하는 설계 지점입니다. 모델</a:t>
            </a:r>
            <a:endParaRPr lang="ko-KR" sz="1250" dirty="0"/>
          </a:p>
        </p:txBody>
      </p:sp>
      <p:sp>
        <p:nvSpPr>
          <p:cNvPr id="33" name="Text 31"/>
          <p:cNvSpPr/>
          <p:nvPr/>
        </p:nvSpPr>
        <p:spPr>
          <a:xfrm>
            <a:off x="7988300" y="3076575"/>
            <a:ext cx="239023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지침만으로 권한을 통제하지 않습니다.</a:t>
            </a:r>
            <a:endParaRPr lang="ko-KR" sz="1250" dirty="0"/>
          </a:p>
        </p:txBody>
      </p:sp>
      <p:sp>
        <p:nvSpPr>
          <p:cNvPr id="34" name="Shape 32"/>
          <p:cNvSpPr/>
          <p:nvPr/>
        </p:nvSpPr>
        <p:spPr>
          <a:xfrm>
            <a:off x="7620000" y="3399334"/>
            <a:ext cx="38100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620000" y="3469184"/>
            <a:ext cx="154341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4</a:t>
            </a:r>
            <a:endParaRPr lang="ko-KR" sz="1600" dirty="0"/>
          </a:p>
        </p:txBody>
      </p:sp>
      <p:sp>
        <p:nvSpPr>
          <p:cNvPr id="36" name="Text 34"/>
          <p:cNvSpPr/>
          <p:nvPr/>
        </p:nvSpPr>
        <p:spPr>
          <a:xfrm>
            <a:off x="7988300" y="3494584"/>
            <a:ext cx="1210723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04행 · 근거 부족</a:t>
            </a:r>
            <a:endParaRPr lang="ko-KR" sz="1400" dirty="0"/>
          </a:p>
        </p:txBody>
      </p:sp>
      <p:sp>
        <p:nvSpPr>
          <p:cNvPr id="37" name="Text 35"/>
          <p:cNvSpPr/>
          <p:nvPr/>
        </p:nvSpPr>
        <p:spPr>
          <a:xfrm>
            <a:off x="7988300" y="3767634"/>
            <a:ext cx="346933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4행은 근거가 없을 때 추가 확인을 요청하는 분기입니다.</a:t>
            </a:r>
            <a:endParaRPr lang="ko-KR" sz="1250" dirty="0"/>
          </a:p>
        </p:txBody>
      </p:sp>
      <p:sp>
        <p:nvSpPr>
          <p:cNvPr id="38" name="Text 36"/>
          <p:cNvSpPr/>
          <p:nvPr/>
        </p:nvSpPr>
        <p:spPr>
          <a:xfrm>
            <a:off x="7988300" y="3974009"/>
            <a:ext cx="229468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빈 결과를 성공으로 숨기지 않습니다.</a:t>
            </a:r>
            <a:endParaRPr lang="ko-KR" sz="1250" dirty="0"/>
          </a:p>
        </p:txBody>
      </p:sp>
      <p:sp>
        <p:nvSpPr>
          <p:cNvPr id="39" name="Shape 37"/>
          <p:cNvSpPr/>
          <p:nvPr/>
        </p:nvSpPr>
        <p:spPr>
          <a:xfrm>
            <a:off x="7620000" y="4296767"/>
            <a:ext cx="38100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20000" y="4366617"/>
            <a:ext cx="151364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6</a:t>
            </a:r>
            <a:endParaRPr lang="ko-KR" sz="1600" dirty="0"/>
          </a:p>
        </p:txBody>
      </p:sp>
      <p:sp>
        <p:nvSpPr>
          <p:cNvPr id="41" name="Text 39"/>
          <p:cNvSpPr/>
          <p:nvPr/>
        </p:nvSpPr>
        <p:spPr>
          <a:xfrm>
            <a:off x="7988300" y="4392017"/>
            <a:ext cx="1209631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06행 · 참조 기록</a:t>
            </a:r>
            <a:endParaRPr lang="ko-KR" sz="1400" dirty="0"/>
          </a:p>
        </p:txBody>
      </p:sp>
      <p:sp>
        <p:nvSpPr>
          <p:cNvPr id="42" name="Text 40"/>
          <p:cNvSpPr/>
          <p:nvPr/>
        </p:nvSpPr>
        <p:spPr>
          <a:xfrm>
            <a:off x="7988300" y="4665067"/>
            <a:ext cx="3427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6행은 근거와 응답 기록을 연결하는 지점입니다. 민감한</a:t>
            </a:r>
            <a:endParaRPr lang="ko-KR" sz="1250" dirty="0"/>
          </a:p>
        </p:txBody>
      </p:sp>
      <p:sp>
        <p:nvSpPr>
          <p:cNvPr id="43" name="Text 41"/>
          <p:cNvSpPr/>
          <p:nvPr/>
        </p:nvSpPr>
        <p:spPr>
          <a:xfrm>
            <a:off x="7988300" y="4871442"/>
            <a:ext cx="211559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원문은 무조건 기록하지 않습니다.</a:t>
            </a:r>
            <a:endParaRPr lang="ko-KR" sz="1250" dirty="0"/>
          </a:p>
        </p:txBody>
      </p:sp>
      <p:sp>
        <p:nvSpPr>
          <p:cNvPr id="44" name="Shape 42"/>
          <p:cNvSpPr/>
          <p:nvPr/>
        </p:nvSpPr>
        <p:spPr>
          <a:xfrm>
            <a:off x="762000" y="5270500"/>
            <a:ext cx="3420467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62000" y="535305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범위</a:t>
            </a:r>
            <a:endParaRPr lang="ko-KR" sz="1250" dirty="0"/>
          </a:p>
        </p:txBody>
      </p:sp>
      <p:sp>
        <p:nvSpPr>
          <p:cNvPr id="46" name="Text 44"/>
          <p:cNvSpPr/>
          <p:nvPr/>
        </p:nvSpPr>
        <p:spPr>
          <a:xfrm>
            <a:off x="762000" y="5611813"/>
            <a:ext cx="314945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2행은 허용 자료 범위를 확인하는 설계 지점입니다.</a:t>
            </a:r>
            <a:endParaRPr lang="ko-KR" sz="1250" dirty="0"/>
          </a:p>
        </p:txBody>
      </p:sp>
      <p:sp>
        <p:nvSpPr>
          <p:cNvPr id="47" name="Text 45"/>
          <p:cNvSpPr/>
          <p:nvPr/>
        </p:nvSpPr>
        <p:spPr>
          <a:xfrm>
            <a:off x="762000" y="5818188"/>
            <a:ext cx="2706644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모델 지침만으로 권한을 통제하지 않습니다.</a:t>
            </a:r>
            <a:endParaRPr lang="ko-KR" sz="1250" dirty="0"/>
          </a:p>
        </p:txBody>
      </p:sp>
      <p:sp>
        <p:nvSpPr>
          <p:cNvPr id="48" name="Shape 46"/>
          <p:cNvSpPr/>
          <p:nvPr/>
        </p:nvSpPr>
        <p:spPr>
          <a:xfrm>
            <a:off x="4385667" y="52705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385667" y="5353050"/>
            <a:ext cx="306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판단</a:t>
            </a:r>
            <a:endParaRPr lang="ko-KR" sz="1250" dirty="0"/>
          </a:p>
        </p:txBody>
      </p:sp>
      <p:sp>
        <p:nvSpPr>
          <p:cNvPr id="50" name="Text 48"/>
          <p:cNvSpPr/>
          <p:nvPr/>
        </p:nvSpPr>
        <p:spPr>
          <a:xfrm>
            <a:off x="4385667" y="5611813"/>
            <a:ext cx="2705056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4행은 근거가 없을 때 추가 확인을 요청하는</a:t>
            </a:r>
            <a:endParaRPr lang="ko-KR" sz="1250" dirty="0"/>
          </a:p>
        </p:txBody>
      </p:sp>
      <p:sp>
        <p:nvSpPr>
          <p:cNvPr id="51" name="Text 49"/>
          <p:cNvSpPr/>
          <p:nvPr/>
        </p:nvSpPr>
        <p:spPr>
          <a:xfrm>
            <a:off x="4385667" y="5818188"/>
            <a:ext cx="305897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분기입니다. 빈 결과를 성공으로 숨기지 않습니다.</a:t>
            </a:r>
            <a:endParaRPr lang="ko-KR" sz="1250" dirty="0"/>
          </a:p>
        </p:txBody>
      </p:sp>
      <p:sp>
        <p:nvSpPr>
          <p:cNvPr id="52" name="Shape 50"/>
          <p:cNvSpPr/>
          <p:nvPr/>
        </p:nvSpPr>
        <p:spPr>
          <a:xfrm>
            <a:off x="8009434" y="5270500"/>
            <a:ext cx="3420566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009434" y="535305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원본 교체</a:t>
            </a:r>
            <a:endParaRPr lang="ko-KR" sz="1250" dirty="0"/>
          </a:p>
        </p:txBody>
      </p:sp>
      <p:sp>
        <p:nvSpPr>
          <p:cNvPr id="54" name="Text 52"/>
          <p:cNvSpPr/>
          <p:nvPr/>
        </p:nvSpPr>
        <p:spPr>
          <a:xfrm>
            <a:off x="8009434" y="5611813"/>
            <a:ext cx="3427369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6행은 근거와 응답 기록을 연결하는 지점입니다. 민감한</a:t>
            </a:r>
            <a:endParaRPr lang="ko-KR" sz="1250" dirty="0"/>
          </a:p>
        </p:txBody>
      </p:sp>
      <p:sp>
        <p:nvSpPr>
          <p:cNvPr id="55" name="Text 53"/>
          <p:cNvSpPr/>
          <p:nvPr/>
        </p:nvSpPr>
        <p:spPr>
          <a:xfrm>
            <a:off x="8009434" y="5818188"/>
            <a:ext cx="2115598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원문은 무조건 기록하지 않습니다.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7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2" dur="7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4" dur="7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7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9" dur="7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7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4" dur="7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7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09" dur="7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7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4" dur="7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7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19" dur="7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2" dur="7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4" dur="7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2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7" dur="7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29" dur="7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7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4" dur="7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7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39" dur="7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2" dur="7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4" dur="7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4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7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9" dur="7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2" dur="7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54" dur="7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7" dur="7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59" dur="7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6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2" dur="7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64" dur="7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7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69" dur="7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7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2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2" dur="7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74" dur="7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2000" y="698500"/>
            <a:ext cx="6229703" cy="5072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3200" b="1" spc="-11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작은 업무와 명확한 출시 근거를 남깁니다</a:t>
            </a:r>
            <a:endParaRPr lang="ko-KR" sz="3200" dirty="0"/>
          </a:p>
        </p:txBody>
      </p:sp>
      <p:sp>
        <p:nvSpPr>
          <p:cNvPr id="3" name="Shape 1"/>
          <p:cNvSpPr/>
          <p:nvPr/>
        </p:nvSpPr>
        <p:spPr>
          <a:xfrm>
            <a:off x="762000" y="622300"/>
            <a:ext cx="106680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2000" y="330200"/>
            <a:ext cx="127000" cy="127000"/>
          </a:xfrm>
          <a:prstGeom prst="rect">
            <a:avLst/>
          </a:prstGeom>
          <a:solidFill>
            <a:srgbClr val="0F62FE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90600" y="295275"/>
            <a:ext cx="15131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300" b="1" spc="-13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/ CLOSING</a:t>
            </a:r>
            <a:endParaRPr lang="ko-KR" sz="1300" dirty="0"/>
          </a:p>
        </p:txBody>
      </p:sp>
      <p:sp>
        <p:nvSpPr>
          <p:cNvPr id="6" name="Text 4"/>
          <p:cNvSpPr/>
          <p:nvPr/>
        </p:nvSpPr>
        <p:spPr>
          <a:xfrm>
            <a:off x="10903347" y="279400"/>
            <a:ext cx="210002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b="1" spc="30" kern="0" dirty="0">
                <a:solidFill>
                  <a:srgbClr val="0E0E0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15</a:t>
            </a:r>
            <a:endParaRPr lang="ko-KR" sz="1500" dirty="0"/>
          </a:p>
        </p:txBody>
      </p:sp>
      <p:sp>
        <p:nvSpPr>
          <p:cNvPr id="7" name="Text 5"/>
          <p:cNvSpPr/>
          <p:nvPr/>
        </p:nvSpPr>
        <p:spPr>
          <a:xfrm>
            <a:off x="11081345" y="279400"/>
            <a:ext cx="380659" cy="2468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500" spc="30" kern="0" dirty="0">
                <a:solidFill>
                  <a:srgbClr val="AFAFA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/ 15</a:t>
            </a:r>
            <a:endParaRPr lang="ko-KR" sz="1500" dirty="0"/>
          </a:p>
        </p:txBody>
      </p:sp>
      <p:sp>
        <p:nvSpPr>
          <p:cNvPr id="8" name="Shape 6"/>
          <p:cNvSpPr/>
          <p:nvPr/>
        </p:nvSpPr>
        <p:spPr>
          <a:xfrm>
            <a:off x="762000" y="2032000"/>
            <a:ext cx="3365500" cy="0"/>
          </a:xfrm>
          <a:prstGeom prst="line">
            <a:avLst/>
          </a:prstGeom>
          <a:noFill/>
          <a:ln w="50800">
            <a:solidFill>
              <a:srgbClr val="0F62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2000" y="2152650"/>
            <a:ext cx="482457" cy="646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41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→</a:t>
            </a:r>
            <a:endParaRPr lang="ko-KR" sz="4100" dirty="0"/>
          </a:p>
        </p:txBody>
      </p:sp>
      <p:sp>
        <p:nvSpPr>
          <p:cNvPr id="10" name="Text 8"/>
          <p:cNvSpPr/>
          <p:nvPr/>
        </p:nvSpPr>
        <p:spPr>
          <a:xfrm>
            <a:off x="762000" y="2889250"/>
            <a:ext cx="3208195" cy="291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800" spc="-3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Foundry 도입은 기능 목록보다 업무·</a:t>
            </a:r>
            <a:endParaRPr lang="ko-KR" sz="1800" dirty="0"/>
          </a:p>
        </p:txBody>
      </p:sp>
      <p:sp>
        <p:nvSpPr>
          <p:cNvPr id="11" name="Text 9"/>
          <p:cNvSpPr/>
          <p:nvPr/>
        </p:nvSpPr>
        <p:spPr>
          <a:xfrm>
            <a:off x="762000" y="3186410"/>
            <a:ext cx="2776196" cy="291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800" spc="-32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통제·검증을 연결하는 일입니다.</a:t>
            </a:r>
            <a:endParaRPr lang="ko-KR" sz="1800" dirty="0"/>
          </a:p>
        </p:txBody>
      </p:sp>
      <p:sp>
        <p:nvSpPr>
          <p:cNvPr id="12" name="Shape 10"/>
          <p:cNvSpPr/>
          <p:nvPr/>
        </p:nvSpPr>
        <p:spPr>
          <a:xfrm>
            <a:off x="762000" y="5468838"/>
            <a:ext cx="336550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2000" y="5551388"/>
            <a:ext cx="80214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이제 정할 것</a:t>
            </a:r>
            <a:endParaRPr lang="ko-KR" sz="1250" dirty="0"/>
          </a:p>
        </p:txBody>
      </p:sp>
      <p:sp>
        <p:nvSpPr>
          <p:cNvPr id="14" name="Text 12"/>
          <p:cNvSpPr/>
          <p:nvPr/>
        </p:nvSpPr>
        <p:spPr>
          <a:xfrm>
            <a:off x="762000" y="5810151"/>
            <a:ext cx="338123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모델과 도구, 에이전트의 역할을 구분한 뒤 필요한 구현</a:t>
            </a:r>
            <a:endParaRPr lang="ko-KR" sz="1250" dirty="0"/>
          </a:p>
        </p:txBody>
      </p:sp>
      <p:sp>
        <p:nvSpPr>
          <p:cNvPr id="15" name="Text 13"/>
          <p:cNvSpPr/>
          <p:nvPr/>
        </p:nvSpPr>
        <p:spPr>
          <a:xfrm>
            <a:off x="762000" y="6016526"/>
            <a:ext cx="12082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범위를 선택합니다.</a:t>
            </a:r>
            <a:endParaRPr lang="ko-KR" sz="1250" dirty="0"/>
          </a:p>
        </p:txBody>
      </p:sp>
      <p:sp>
        <p:nvSpPr>
          <p:cNvPr id="16" name="Shape 14"/>
          <p:cNvSpPr/>
          <p:nvPr/>
        </p:nvSpPr>
        <p:spPr>
          <a:xfrm>
            <a:off x="4381500" y="2032000"/>
            <a:ext cx="7048500" cy="0"/>
          </a:xfrm>
          <a:prstGeom prst="line">
            <a:avLst/>
          </a:prstGeom>
          <a:noFill/>
          <a:ln w="12700">
            <a:solidFill>
              <a:srgbClr val="0E0E0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81500" y="2878634"/>
            <a:ext cx="70485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1500" y="2350492"/>
            <a:ext cx="212880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01</a:t>
            </a:r>
            <a:endParaRPr lang="ko-KR" sz="1400" dirty="0"/>
          </a:p>
        </p:txBody>
      </p:sp>
      <p:sp>
        <p:nvSpPr>
          <p:cNvPr id="19" name="Text 17"/>
          <p:cNvSpPr/>
          <p:nvPr/>
        </p:nvSpPr>
        <p:spPr>
          <a:xfrm>
            <a:off x="4775200" y="2328962"/>
            <a:ext cx="1494290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첫 업무를 고릅니다</a:t>
            </a:r>
            <a:endParaRPr lang="ko-KR" sz="1600" dirty="0"/>
          </a:p>
        </p:txBody>
      </p:sp>
      <p:sp>
        <p:nvSpPr>
          <p:cNvPr id="20" name="Text 18"/>
          <p:cNvSpPr/>
          <p:nvPr/>
        </p:nvSpPr>
        <p:spPr>
          <a:xfrm>
            <a:off x="6667500" y="2355255"/>
            <a:ext cx="384756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질문·데이터·허용 행동이 명확한 사례 하나로 범위를 좁힙니다.</a:t>
            </a:r>
            <a:endParaRPr lang="ko-KR" sz="1250" dirty="0"/>
          </a:p>
        </p:txBody>
      </p:sp>
      <p:sp>
        <p:nvSpPr>
          <p:cNvPr id="21" name="Shape 19"/>
          <p:cNvSpPr/>
          <p:nvPr/>
        </p:nvSpPr>
        <p:spPr>
          <a:xfrm>
            <a:off x="4381500" y="3712567"/>
            <a:ext cx="70485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1500" y="3184426"/>
            <a:ext cx="241157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02</a:t>
            </a:r>
            <a:endParaRPr lang="ko-KR" sz="1400" dirty="0"/>
          </a:p>
        </p:txBody>
      </p:sp>
      <p:sp>
        <p:nvSpPr>
          <p:cNvPr id="23" name="Text 21"/>
          <p:cNvSpPr/>
          <p:nvPr/>
        </p:nvSpPr>
        <p:spPr>
          <a:xfrm>
            <a:off x="4775200" y="3046016"/>
            <a:ext cx="1104559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필요한 증거를</a:t>
            </a:r>
            <a:endParaRPr lang="ko-KR" sz="1600" dirty="0"/>
          </a:p>
        </p:txBody>
      </p:sp>
      <p:sp>
        <p:nvSpPr>
          <p:cNvPr id="24" name="Text 22"/>
          <p:cNvSpPr/>
          <p:nvPr/>
        </p:nvSpPr>
        <p:spPr>
          <a:xfrm>
            <a:off x="4775200" y="3279676"/>
            <a:ext cx="714827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정합니다</a:t>
            </a:r>
            <a:endParaRPr lang="ko-KR" sz="1600" dirty="0"/>
          </a:p>
        </p:txBody>
      </p:sp>
      <p:sp>
        <p:nvSpPr>
          <p:cNvPr id="25" name="Text 23"/>
          <p:cNvSpPr/>
          <p:nvPr/>
        </p:nvSpPr>
        <p:spPr>
          <a:xfrm>
            <a:off x="6667500" y="3189188"/>
            <a:ext cx="3286081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대표 질문, 실패 조건과 출시·보류 기준을 합의합니다.</a:t>
            </a:r>
            <a:endParaRPr lang="ko-KR" sz="1250" dirty="0"/>
          </a:p>
        </p:txBody>
      </p:sp>
      <p:sp>
        <p:nvSpPr>
          <p:cNvPr id="26" name="Shape 24"/>
          <p:cNvSpPr/>
          <p:nvPr/>
        </p:nvSpPr>
        <p:spPr>
          <a:xfrm>
            <a:off x="4381500" y="4546501"/>
            <a:ext cx="7048500" cy="0"/>
          </a:xfrm>
          <a:prstGeom prst="line">
            <a:avLst/>
          </a:prstGeom>
          <a:noFill/>
          <a:ln w="6350">
            <a:solidFill>
              <a:srgbClr val="E7E7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81500" y="4018359"/>
            <a:ext cx="240066" cy="2278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400" b="1" dirty="0">
                <a:solidFill>
                  <a:srgbClr val="0F62F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03</a:t>
            </a:r>
            <a:endParaRPr lang="ko-KR" sz="1400" dirty="0"/>
          </a:p>
        </p:txBody>
      </p:sp>
      <p:sp>
        <p:nvSpPr>
          <p:cNvPr id="28" name="Text 26"/>
          <p:cNvSpPr/>
          <p:nvPr/>
        </p:nvSpPr>
        <p:spPr>
          <a:xfrm>
            <a:off x="4775200" y="3879949"/>
            <a:ext cx="933902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검토 책임을</a:t>
            </a:r>
            <a:endParaRPr lang="ko-KR" sz="1600" dirty="0"/>
          </a:p>
        </p:txBody>
      </p:sp>
      <p:sp>
        <p:nvSpPr>
          <p:cNvPr id="29" name="Text 27"/>
          <p:cNvSpPr/>
          <p:nvPr/>
        </p:nvSpPr>
        <p:spPr>
          <a:xfrm>
            <a:off x="4775200" y="4113609"/>
            <a:ext cx="885484" cy="265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600" b="1" spc="-40" kern="0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연결합니다</a:t>
            </a:r>
            <a:endParaRPr lang="ko-KR" sz="1600" dirty="0"/>
          </a:p>
        </p:txBody>
      </p:sp>
      <p:sp>
        <p:nvSpPr>
          <p:cNvPr id="30" name="Text 28"/>
          <p:cNvSpPr/>
          <p:nvPr/>
        </p:nvSpPr>
        <p:spPr>
          <a:xfrm>
            <a:off x="6667500" y="4023122"/>
            <a:ext cx="3100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담당자, 남은 질문과 다음 확인 시점을 기록합니다.</a:t>
            </a:r>
            <a:endParaRPr lang="ko-KR" sz="1250" dirty="0"/>
          </a:p>
        </p:txBody>
      </p:sp>
      <p:sp>
        <p:nvSpPr>
          <p:cNvPr id="31" name="Shape 29"/>
          <p:cNvSpPr/>
          <p:nvPr/>
        </p:nvSpPr>
        <p:spPr>
          <a:xfrm>
            <a:off x="4381500" y="4648200"/>
            <a:ext cx="342265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81500" y="473075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남길 합의</a:t>
            </a:r>
            <a:endParaRPr lang="ko-KR" sz="1250" dirty="0"/>
          </a:p>
        </p:txBody>
      </p:sp>
      <p:sp>
        <p:nvSpPr>
          <p:cNvPr id="33" name="Text 31"/>
          <p:cNvSpPr/>
          <p:nvPr/>
        </p:nvSpPr>
        <p:spPr>
          <a:xfrm>
            <a:off x="4381500" y="4989513"/>
            <a:ext cx="3106595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작게 시작하되 접근 조건과 평가 기록, 운영 책임은</a:t>
            </a:r>
            <a:endParaRPr lang="ko-KR" sz="1250" dirty="0"/>
          </a:p>
        </p:txBody>
      </p:sp>
      <p:sp>
        <p:nvSpPr>
          <p:cNvPr id="34" name="Text 32"/>
          <p:cNvSpPr/>
          <p:nvPr/>
        </p:nvSpPr>
        <p:spPr>
          <a:xfrm>
            <a:off x="4381500" y="5195888"/>
            <a:ext cx="166197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처음부터 함께 설계합니다.</a:t>
            </a:r>
            <a:endParaRPr lang="ko-KR" sz="1250" dirty="0"/>
          </a:p>
        </p:txBody>
      </p:sp>
      <p:sp>
        <p:nvSpPr>
          <p:cNvPr id="35" name="Shape 33"/>
          <p:cNvSpPr/>
          <p:nvPr/>
        </p:nvSpPr>
        <p:spPr>
          <a:xfrm>
            <a:off x="8007350" y="4648200"/>
            <a:ext cx="3422650" cy="0"/>
          </a:xfrm>
          <a:prstGeom prst="line">
            <a:avLst/>
          </a:prstGeom>
          <a:noFill/>
          <a:ln w="6350">
            <a:solidFill>
              <a:srgbClr val="0E0E0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07350" y="4730750"/>
            <a:ext cx="623050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b="1" dirty="0">
                <a:solidFill>
                  <a:srgbClr val="0E0E0E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남길 질문</a:t>
            </a:r>
            <a:endParaRPr lang="ko-KR" sz="1250" dirty="0"/>
          </a:p>
        </p:txBody>
      </p:sp>
      <p:sp>
        <p:nvSpPr>
          <p:cNvPr id="37" name="Text 35"/>
          <p:cNvSpPr/>
          <p:nvPr/>
        </p:nvSpPr>
        <p:spPr>
          <a:xfrm>
            <a:off x="8007350" y="4989513"/>
            <a:ext cx="3083377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미확인 기능·리전·비용과 남은 실패 사례를 숨기지</a:t>
            </a:r>
            <a:endParaRPr lang="ko-KR" sz="1250" dirty="0"/>
          </a:p>
        </p:txBody>
      </p:sp>
      <p:sp>
        <p:nvSpPr>
          <p:cNvPr id="38" name="Text 36"/>
          <p:cNvSpPr/>
          <p:nvPr/>
        </p:nvSpPr>
        <p:spPr>
          <a:xfrm>
            <a:off x="8007350" y="5195888"/>
            <a:ext cx="3100642" cy="21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ko-KR" altLang="en-US" sz="1250" dirty="0">
                <a:solidFill>
                  <a:srgbClr val="6B6B6B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않습니다. 이 자료는 실제 배포 보고서가 아닙니다.</a:t>
            </a:r>
            <a:endParaRPr lang="ko-KR" sz="12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" dur="7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9" dur="7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4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decel="100000" fill="hold" nodeType="withEffect">
                                  <p:stCondLst>
                                    <p:cond delay="8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29" dur="7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4" dur="7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39" dur="7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7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4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49" dur="7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7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4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7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59" dur="7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7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4" dur="7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7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69" dur="7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7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42" presetClass="path" presetSubtype="0" decel="100000" fill="hold" nodeType="withEffect">
                                  <p:stCondLst>
                                    <p:cond delay="32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4" dur="7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79" dur="7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7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4" dur="7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7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89" dur="7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7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4" dur="7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7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99" dur="7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7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4" dur="7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7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09" dur="7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7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4" dur="7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19" dur="7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7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4" dur="7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29" dur="7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7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4" dur="7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7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39" dur="7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7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4" dur="7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7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42" presetClass="path" presetSubtype="0" decel="10000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49" dur="7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7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4" dur="7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7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59" dur="7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7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4" dur="7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7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69" dur="7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7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4" dur="7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7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79" dur="7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7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3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4" dur="7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7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42" presetClass="path" presetSubtype="0" decel="100000" fill="hold" nodeType="withEffect">
                                  <p:stCondLst>
                                    <p:cond delay="560"/>
                                  </p:stCondLst>
                                  <p:childTnLst>
                                    <p:animMotion origin="layout" path="M 0.00000 0.02778 L 0 0 " pathEditMode="relative" rAng="0" ptsTypes="AA">
                                      <p:cBhvr>
                                        <p:cTn id="189" dur="7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138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Foundry on Azure · All 15 templates</dc:title>
  <dc:subject>PptxGenJS Presentation</dc:subject>
  <dc:creator>PptxGenJS</dc:creator>
  <cp:lastModifiedBy>PptxGenJS</cp:lastModifiedBy>
  <cp:revision>1</cp:revision>
  <dcterms:created xsi:type="dcterms:W3CDTF">2026-09-30T06:20:26Z</dcterms:created>
  <dcterms:modified xsi:type="dcterms:W3CDTF">2026-09-30T06:20:26Z</dcterms:modified>
</cp:coreProperties>
</file>