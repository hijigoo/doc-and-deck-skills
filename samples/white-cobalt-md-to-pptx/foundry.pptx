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Foundry는 모델, 에이전트, 도구와 관리 기능을 연결하는 플랫폼입니다.</a:t>
            </a:r>
            <a:br/>
            <a:r>
              <a:rPr lang="en-US" dirty="0"/>
              <a:t>이 자료는 기능 관계와 도입 판단을 설명하며 실제 Azure 배포를 수행하지 않았습니다.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오늘은 제품 메뉴보다 업무의 질문을 먼저 보겠습니다.</a:t>
            </a:r>
            <a:br/>
            <a:r>
              <a:rPr lang="en-US" dirty="0"/>
              <a:t>무엇을 만들지, 어떤 권한을 줄지, 어떤 근거로 출시할지를 연결하겠습니다.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COVER</a:t>
            </a:r>
            <a:br/>
            <a:r>
              <a:rPr lang="en-US" dirty="0"/>
              <a:t>01 / 20</a:t>
            </a:r>
            <a:br/>
            <a:r>
              <a:rPr lang="en-US" dirty="0"/>
              <a:t>모델 실험에서 운영 판단까지</a:t>
            </a:r>
            <a:br/>
            <a:r>
              <a:rPr lang="en-US" dirty="0"/>
              <a:t>01</a:t>
            </a:r>
            <a:br/>
            <a:r>
              <a:rPr lang="en-US" dirty="0"/>
              <a:t/>
            </a:r>
            <a:br/>
            <a:r>
              <a:rPr lang="en-US" dirty="0"/>
              <a:t>Microsoft Foundry에서 모델·에이전트·도구와 평가를 함께 이해합니다.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역할을 구분합니다</a:t>
            </a:r>
            <a:br/>
            <a:r>
              <a:rPr lang="en-US" dirty="0"/>
              <a:t/>
            </a:r>
            <a:br/>
            <a:r>
              <a:rPr lang="en-US" dirty="0"/>
              <a:t>모델, 에이전트, 도구가 각각 무엇을 담당하는지 살펴봅니다.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구현 경로를 고릅니다</a:t>
            </a:r>
            <a:br/>
            <a:r>
              <a:rPr lang="en-US" dirty="0"/>
              <a:t/>
            </a:r>
            <a:br/>
            <a:r>
              <a:rPr lang="en-US" dirty="0"/>
              <a:t>직접 호출부터 코드 기반 에이전트까지 필요한 제어 수준으로 선택합니다.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근거로 출시를 판단합니다</a:t>
            </a:r>
            <a:br/>
            <a:r>
              <a:rPr lang="en-US" dirty="0"/>
              <a:t/>
            </a:r>
            <a:br/>
            <a:r>
              <a:rPr lang="en-US" dirty="0"/>
              <a:t>평가 결과와 실패 사례, 운영 책임을 연결해 진행 여부를 결정합니다.</a:t>
            </a:r>
            <a:br/>
            <a:r>
              <a:rPr lang="en-US" dirty="0"/>
              <a:t/>
            </a:r>
            <a:br/>
            <a:r>
              <a:rPr lang="en-US" dirty="0"/>
              <a:t>출발점</a:t>
            </a:r>
            <a:br/>
            <a:r>
              <a:rPr lang="en-US" dirty="0"/>
              <a:t/>
            </a:r>
            <a:br/>
            <a:r>
              <a:rPr lang="en-US" dirty="0"/>
              <a:t>좋은 답변 한 번보다 반복 가능한 업무 결과가 중요합니다. 해결할 문제와 허용할 행동부터 정합니다.</a:t>
            </a:r>
            <a:br/>
            <a:r>
              <a:rPr lang="en-US" dirty="0"/>
              <a:t/>
            </a:r>
            <a:br/>
            <a:r>
              <a:rPr lang="en-US" dirty="0"/>
              <a:t>읽는 방향</a:t>
            </a:r>
            <a:br/>
            <a:r>
              <a:rPr lang="en-US" dirty="0"/>
              <a:t/>
            </a:r>
            <a:br/>
            <a:r>
              <a:rPr lang="en-US" dirty="0"/>
              <a:t>기능을 고르기 전에 업무 범위, 통제 조건, 출시 근거를 연결합니다.</a:t>
            </a:r>
            <a:br/>
            <a:r>
              <a:rPr lang="en-US" dirty="0"/>
              <a:t/>
            </a:r>
            <a:br/>
            <a:r>
              <a:rPr lang="en-US" dirty="0"/>
              <a:t>범위</a:t>
            </a:r>
            <a:br/>
            <a:r>
              <a:rPr lang="en-US" dirty="0"/>
              <a:t/>
            </a:r>
            <a:br/>
            <a:r>
              <a:rPr lang="en-US" dirty="0"/>
              <a:t>Azure AI Foundry의 현재 브랜드는 Microsoft Foundry입니다. 모든 기능이 모든 리전에 제공되는 것은 아닙니다.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평가와 관측은 개발 중 실험과 운영 중 확인에 서로 다른 근거를 제공합니다.</a:t>
            </a:r>
            <a:br/>
            <a:r>
              <a:rPr lang="en-US" dirty="0"/>
              <a:t>실험 응답을 실제 서비스의 품질·안전·비용 보장으로 확대 해석하지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시연은 가능성을 보여줍니다. 운영 판단은 실패 상황에서도 무엇을 할지 묻습니다.</a:t>
            </a:r>
            <a:br/>
            <a:r>
              <a:rPr lang="en-US" dirty="0"/>
              <a:t>이 차이를 먼저 합의하면 평가와 관측을 뒤늦게 붙이지 않을 수 있습니다.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CONTRAST</a:t>
            </a:r>
            <a:br/>
            <a:r>
              <a:rPr lang="en-US" dirty="0"/>
              <a:t>02 / 20</a:t>
            </a:r>
            <a:br/>
            <a:r>
              <a:rPr lang="en-US" dirty="0"/>
              <a:t>좋은 시연과 운영 준비는 다릅니다</a:t>
            </a:r>
            <a:br/>
            <a:r>
              <a:rPr lang="en-US" dirty="0"/>
              <a:t/>
            </a:r>
            <a:br/>
            <a:r>
              <a:rPr lang="en-US" dirty="0"/>
              <a:t>같은 AI 응답도 실험과 업무 운영에서는 확인해야 할 조건이 달라집니다.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실험 · 가능한가</a:t>
            </a:r>
            <a:br/>
            <a:r>
              <a:rPr lang="en-US" dirty="0"/>
              <a:t/>
            </a:r>
            <a:br/>
            <a:r>
              <a:rPr lang="en-US" dirty="0"/>
              <a:t>짧은 입력으로 모델의 응답을 살펴보고 업무 가설을 좁힙니다.</a:t>
            </a:r>
            <a:br/>
            <a:r>
              <a:rPr lang="en-US" dirty="0"/>
              <a:t/>
            </a:r>
            <a:br/>
            <a:r>
              <a:rPr lang="en-US" dirty="0"/>
              <a:t>전환의 이유</a:t>
            </a:r>
            <a:br/>
            <a:r>
              <a:rPr lang="en-US" dirty="0"/>
              <a:t>→</a:t>
            </a:r>
            <a:br/>
            <a:r>
              <a:rPr lang="en-US" dirty="0"/>
              <a:t/>
            </a:r>
            <a:br/>
            <a:r>
              <a:rPr lang="en-US" dirty="0"/>
              <a:t>실험은 가능성을 찾는 출발점입니다. 대표 사례 하나가 전체 사용자와 예외 상황을 대신하지는 않습니다.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운영 · 맡길 수 있는가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조건, 허용 행동, 관측과 중단 책임을 함께 확인합니다.</a:t>
            </a:r>
            <a:br/>
            <a:r>
              <a:rPr lang="en-US" dirty="0"/>
              <a:t/>
            </a:r>
            <a:br/>
            <a:r>
              <a:rPr lang="en-US" dirty="0"/>
              <a:t>선택 기준</a:t>
            </a:r>
            <a:br/>
            <a:r>
              <a:rPr lang="en-US" dirty="0"/>
              <a:t/>
            </a:r>
            <a:br/>
            <a:r>
              <a:rPr lang="en-US" dirty="0"/>
              <a:t>실험을 버리는 대신 평가 데이터, 접근 통제, 추적 기록을 더해 반복 가능한 판단으로 발전시킵니다.</a:t>
            </a:r>
            <a:br/>
            <a:r>
              <a:rPr lang="en-US" dirty="0"/>
              <a:t/>
            </a:r>
            <a:br/>
            <a:r>
              <a:rPr lang="en-US" dirty="0"/>
              <a:t>주의할 해석</a:t>
            </a:r>
            <a:br/>
            <a:r>
              <a:rPr lang="en-US" dirty="0"/>
              <a:t/>
            </a:r>
            <a:br/>
            <a:r>
              <a:rPr lang="en-US" dirty="0"/>
              <a:t>아래 비교는 도입 관점의 제안입니다. Foundry를 선택했다는 사실만으로 운영 준비가 끝나지는 않습니다.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에이전트가 도구를 호출할 수 있다는 사실과 데이터 접근 권한은 별개입니다.</a:t>
            </a:r>
            <a:br/>
            <a:r>
              <a:rPr lang="en-US" dirty="0"/>
              <a:t>Foundry의 구성 개념을 조직의 보안 경계나 실제 배포 구조와 혼동하지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왼쪽은 사용할 재료와 기능, 가운데는 실행을 구성하는 역할, 오른쪽은 업무 경험입니다.</a:t>
            </a:r>
            <a:br/>
            <a:r>
              <a:rPr lang="en-US" dirty="0"/>
              <a:t>이 그림은 역할 설명이며 검증된 네트워크 배포도가 아닙니다.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ARCHITECTURE</a:t>
            </a:r>
            <a:br/>
            <a:r>
              <a:rPr lang="en-US" dirty="0"/>
              <a:t>03 / 20</a:t>
            </a:r>
            <a:br/>
            <a:r>
              <a:rPr lang="en-US" dirty="0"/>
              <a:t>Foundry의 역할을 세 층으로 읽습니다</a:t>
            </a:r>
            <a:br/>
            <a:r>
              <a:rPr lang="en-US" dirty="0"/>
              <a:t/>
            </a:r>
            <a:br/>
            <a:r>
              <a:rPr lang="en-US" dirty="0"/>
              <a:t>입력과 모델·도구, 에이전트 구성, 업무 응용을 잇는 개념도입니다.</a:t>
            </a:r>
            <a:br/>
            <a:r>
              <a:rPr lang="en-US" dirty="0"/>
              <a:t/>
            </a:r>
            <a:br/>
            <a:r>
              <a:rPr lang="en-US" dirty="0"/>
              <a:t>입력 / 기반 경계</a:t>
            </a:r>
            <a:br/>
            <a:r>
              <a:rPr lang="en-US" dirty="0"/>
              <a:t>모델 · 도구 · 지식</a:t>
            </a:r>
            <a:br/>
            <a:r>
              <a:rPr lang="en-US" dirty="0"/>
              <a:t/>
            </a:r>
            <a:br/>
            <a:r>
              <a:rPr lang="en-US" dirty="0"/>
              <a:t>업무에 맞는 추론 모델과 사용할 수 있는 자료·기능을 고릅니다.</a:t>
            </a:r>
            <a:br/>
            <a:r>
              <a:rPr lang="en-US" dirty="0"/>
              <a:t/>
            </a:r>
            <a:br/>
            <a:r>
              <a:rPr lang="en-US" dirty="0"/>
              <a:t>기반 관계</a:t>
            </a:r>
            <a:br/>
            <a:r>
              <a:rPr lang="en-US" dirty="0"/>
              <a:t>중심 플랫폼 경계</a:t>
            </a:r>
            <a:br/>
            <a:r>
              <a:rPr lang="en-US" dirty="0"/>
              <a:t>에이전트 구성</a:t>
            </a:r>
            <a:br/>
            <a:r>
              <a:rPr lang="en-US" dirty="0"/>
              <a:t/>
            </a:r>
            <a:br/>
            <a:r>
              <a:rPr lang="en-US" dirty="0"/>
              <a:t>지침과 대화, 도구 사용을 구성하며 허용 행동을 분명히 합니다.</a:t>
            </a:r>
            <a:br/>
            <a:r>
              <a:rPr lang="en-US" dirty="0"/>
              <a:t/>
            </a:r>
            <a:br/>
            <a:r>
              <a:rPr lang="en-US" dirty="0"/>
              <a:t>의미 연결</a:t>
            </a:r>
            <a:br/>
            <a:r>
              <a:rPr lang="en-US" dirty="0"/>
              <a:t>소비 / 응용 경계</a:t>
            </a:r>
            <a:br/>
            <a:r>
              <a:rPr lang="en-US" dirty="0"/>
              <a:t>업무 응용</a:t>
            </a:r>
            <a:br/>
            <a:r>
              <a:rPr lang="en-US" dirty="0"/>
              <a:t/>
            </a:r>
            <a:br/>
            <a:r>
              <a:rPr lang="en-US" dirty="0"/>
              <a:t>응답과 근거를 사용자 작업에 연결하고 예외 처리 경로를 제공합니다.</a:t>
            </a:r>
            <a:br/>
            <a:r>
              <a:rPr lang="en-US" dirty="0"/>
              <a:t/>
            </a:r>
            <a:br/>
            <a:r>
              <a:rPr lang="en-US" dirty="0"/>
              <a:t>설계 맥락</a:t>
            </a:r>
            <a:br/>
            <a:r>
              <a:rPr lang="en-US" dirty="0"/>
              <a:t/>
            </a:r>
            <a:br/>
            <a:r>
              <a:rPr lang="en-US" dirty="0"/>
              <a:t>Foundry project는 관련 AI 자산과 구성을 조직하는 작업 단위입니다. 그림은 논리적 역할 구분입니다.</a:t>
            </a:r>
            <a:br/>
            <a:r>
              <a:rPr lang="en-US" dirty="0"/>
              <a:t/>
            </a:r>
            <a:br/>
            <a:r>
              <a:rPr lang="en-US" dirty="0"/>
              <a:t>운영 확인 · 설계 메모</a:t>
            </a:r>
            <a:br/>
            <a:r>
              <a:rPr lang="en-US" dirty="0"/>
              <a:t/>
            </a:r>
            <a:br/>
            <a:r>
              <a:rPr lang="en-US" dirty="0"/>
              <a:t>실선은 개념을 읽는 관계입니다. 실제 API 호출, VNet이나 데이터 이동 경로를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검증 범위</a:t>
            </a:r>
            <a:br/>
            <a:r>
              <a:rPr lang="en-US" dirty="0"/>
              <a:t/>
            </a:r>
            <a:br/>
            <a:r>
              <a:rPr lang="en-US" dirty="0"/>
              <a:t>데이터 접근, 신원, 네트워크 조건과 기록 범위는 별도로 설계하고 검증합니다.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이는 공식 기능을 바탕으로 구성한 도입 제안이며 제품의 자동 승인 절차가 아닙니다.</a:t>
            </a:r>
            <a:br/>
            <a:r>
              <a:rPr lang="en-US" dirty="0"/>
              <a:t>단계의 순서와 산출물은 업무의 위험도와 조직의 검토 절차에 맞게 조정합니다.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먼저 완료 기준을 정한 뒤 작게 만듭니다.</a:t>
            </a:r>
            <a:br/>
            <a:r>
              <a:rPr lang="en-US" dirty="0"/>
              <a:t>평가에서 발견한 실패를 수정하고, 운영 책임이 준비되었는지 확인합니다.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PROCESS</a:t>
            </a:r>
            <a:br/>
            <a:r>
              <a:rPr lang="en-US" dirty="0"/>
              <a:t>04 / 20</a:t>
            </a:r>
            <a:br/>
            <a:r>
              <a:rPr lang="en-US" dirty="0"/>
              <a:t>평가 기준부터 작은 실행을 연결합니다</a:t>
            </a:r>
            <a:br/>
            <a:r>
              <a:rPr lang="en-US" dirty="0"/>
              <a:t/>
            </a:r>
            <a:br/>
            <a:r>
              <a:rPr lang="en-US" dirty="0"/>
              <a:t>범위 → 구현 → 평가 → 운영 준비로 이어지는 네 단계 도입 제안입니다.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업무 범위</a:t>
            </a:r>
            <a:br/>
            <a:r>
              <a:rPr lang="en-US" dirty="0"/>
              <a:t/>
            </a:r>
            <a:br/>
            <a:r>
              <a:rPr lang="en-US" dirty="0"/>
              <a:t>사용자, 질문, 허용 행동과 제외할 상황을 합의합니다.</a:t>
            </a:r>
            <a:br/>
            <a:r>
              <a:rPr lang="en-US" dirty="0"/>
              <a:t/>
            </a:r>
            <a:br/>
            <a:r>
              <a:rPr lang="en-US" dirty="0"/>
              <a:t>↘</a:t>
            </a:r>
            <a:br/>
            <a:r>
              <a:rPr lang="en-US" dirty="0"/>
              <a:t>02</a:t>
            </a:r>
            <a:br/>
            <a:r>
              <a:rPr lang="en-US" dirty="0"/>
              <a:t>작은 구현</a:t>
            </a:r>
            <a:br/>
            <a:r>
              <a:rPr lang="en-US" dirty="0"/>
              <a:t/>
            </a:r>
            <a:br/>
            <a:r>
              <a:rPr lang="en-US" dirty="0"/>
              <a:t>모델과 구현 경로를 골라 제한된 데이터로 연결합니다.</a:t>
            </a:r>
            <a:br/>
            <a:r>
              <a:rPr lang="en-US" dirty="0"/>
              <a:t/>
            </a:r>
            <a:br/>
            <a:r>
              <a:rPr lang="en-US" dirty="0"/>
              <a:t>↗</a:t>
            </a:r>
            <a:br/>
            <a:r>
              <a:rPr lang="en-US" dirty="0"/>
              <a:t>03</a:t>
            </a:r>
            <a:br/>
            <a:r>
              <a:rPr lang="en-US" dirty="0"/>
              <a:t>평가와 수정</a:t>
            </a:r>
            <a:br/>
            <a:r>
              <a:rPr lang="en-US" dirty="0"/>
              <a:t/>
            </a:r>
            <a:br/>
            <a:r>
              <a:rPr lang="en-US" dirty="0"/>
              <a:t>대표 질문과 실패 사례에서 품질·안전·도구 동작을 확인합니다.</a:t>
            </a:r>
            <a:br/>
            <a:r>
              <a:rPr lang="en-US" dirty="0"/>
              <a:t/>
            </a:r>
            <a:br/>
            <a:r>
              <a:rPr lang="en-US" dirty="0"/>
              <a:t>↘</a:t>
            </a:r>
            <a:br/>
            <a:r>
              <a:rPr lang="en-US" dirty="0"/>
              <a:t>04</a:t>
            </a:r>
            <a:br/>
            <a:r>
              <a:rPr lang="en-US" dirty="0"/>
              <a:t>운영 준비</a:t>
            </a:r>
            <a:br/>
            <a:r>
              <a:rPr lang="en-US" dirty="0"/>
              <a:t/>
            </a:r>
            <a:br/>
            <a:r>
              <a:rPr lang="en-US" dirty="0"/>
              <a:t>추적, 오류 대응, 비용 확인과 중단 책임을 연결합니다.</a:t>
            </a:r>
            <a:br/>
            <a:r>
              <a:rPr lang="en-US" dirty="0"/>
              <a:t/>
            </a:r>
            <a:br/>
            <a:r>
              <a:rPr lang="en-US" dirty="0"/>
              <a:t>진행 단위</a:t>
            </a:r>
            <a:br/>
            <a:r>
              <a:rPr lang="en-US" dirty="0"/>
              <a:t/>
            </a:r>
            <a:br/>
            <a:r>
              <a:rPr lang="en-US" dirty="0"/>
              <a:t>대표 입력, 원하는 출력과 실패 조건을 먼저 적습니다. 그 기록을 다음 단계의 입력으로 사용합니다.</a:t>
            </a:r>
            <a:br/>
            <a:r>
              <a:rPr lang="en-US" dirty="0"/>
              <a:t/>
            </a:r>
            <a:br/>
            <a:r>
              <a:rPr lang="en-US" dirty="0"/>
              <a:t>완료 기준</a:t>
            </a:r>
            <a:br/>
            <a:r>
              <a:rPr lang="en-US" dirty="0"/>
              <a:t/>
            </a:r>
            <a:br/>
            <a:r>
              <a:rPr lang="en-US" dirty="0"/>
              <a:t>다음 단계에 넘길 산출물로 완료를 판단합니다. 구현 여부와 출시 가능 여부를 구분합니다.</a:t>
            </a:r>
            <a:br/>
            <a:r>
              <a:rPr lang="en-US" dirty="0"/>
              <a:t/>
            </a:r>
            <a:br/>
            <a:r>
              <a:rPr lang="en-US" dirty="0"/>
              <a:t>되돌아갈 조건</a:t>
            </a:r>
            <a:br/>
            <a:r>
              <a:rPr lang="en-US" dirty="0"/>
              <a:t/>
            </a:r>
            <a:br/>
            <a:r>
              <a:rPr lang="en-US" dirty="0"/>
              <a:t>품질·권한·기록 조건이 부족하면 이전 단계로 돌아갑니다. 실패 사례도 평가 자료에 남깁니다.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Prompt agent는 지침과 모델·도구를 설정하는 선언형 경로입니다.</a:t>
            </a:r>
            <a:br/>
            <a:r>
              <a:rPr lang="en-US" dirty="0"/>
              <a:t>Hosted agent는 자체 코드와 프레임워크를 실행하며 코드·의존성에 대한 팀의 책임이 남습니다.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모든 업무가 에이전트를 필요로 하지는 않습니다.</a:t>
            </a:r>
            <a:br/>
            <a:r>
              <a:rPr lang="en-US" dirty="0"/>
              <a:t>필요한 행동과 제어 수준을 먼저 정한 뒤 가장 단순한 구현 경로를 선택합니다.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MATRIX</a:t>
            </a:r>
            <a:br/>
            <a:r>
              <a:rPr lang="en-US" dirty="0"/>
              <a:t>05 / 20</a:t>
            </a:r>
            <a:br/>
            <a:r>
              <a:rPr lang="en-US" dirty="0"/>
              <a:t>필요한 제어 수준으로 구현을 고릅니다</a:t>
            </a:r>
            <a:br/>
            <a:r>
              <a:rPr lang="en-US" dirty="0"/>
              <a:t/>
            </a:r>
            <a:br/>
            <a:r>
              <a:rPr lang="en-US" dirty="0"/>
              <a:t>직접 모델 호출, prompt agent, hosted agent는 서로 다른 시작점입니다.</a:t>
            </a:r>
            <a:br/>
            <a:r>
              <a:rPr lang="en-US" dirty="0"/>
              <a:t/>
            </a:r>
            <a:br/>
            <a:r>
              <a:rPr lang="en-US" dirty="0"/>
              <a:t>시작 경로	직접 관리하는 것	선택 기준</a:t>
            </a:r>
            <a:br/>
            <a:r>
              <a:rPr lang="en-US" dirty="0"/>
              <a:t>모델 직접 호출	애플리케이션 코드	도구 없이 추론이 필요</a:t>
            </a:r>
            <a:br/>
            <a:r>
              <a:rPr lang="en-US" dirty="0"/>
              <a:t>Prompt agent	지침 · 모델 · 도구	선언형 구성으로 시작</a:t>
            </a:r>
            <a:br/>
            <a:r>
              <a:rPr lang="en-US" dirty="0"/>
              <a:t>Hosted agent	자체 코드와 의존성	고유한 실행 로직 제어</a:t>
            </a:r>
            <a:br/>
            <a:r>
              <a:rPr lang="en-US" dirty="0"/>
              <a:t>판단의 중심</a:t>
            </a:r>
            <a:br/>
            <a:r>
              <a:rPr lang="en-US" dirty="0"/>
              <a:t>→</a:t>
            </a:r>
            <a:br/>
            <a:r>
              <a:rPr lang="en-US" dirty="0"/>
              <a:t/>
            </a:r>
            <a:br/>
            <a:r>
              <a:rPr lang="en-US" dirty="0"/>
              <a:t>도구가 필요하지 않다면 직접 호출부터 검토합니다. 고유한 코드가 필요한 경우에만 복잡도를 늘립니다.</a:t>
            </a:r>
            <a:br/>
            <a:r>
              <a:rPr lang="en-US" dirty="0"/>
              <a:t/>
            </a:r>
            <a:br/>
            <a:r>
              <a:rPr lang="en-US" dirty="0"/>
              <a:t>비교의 전제</a:t>
            </a:r>
            <a:br/>
            <a:r>
              <a:rPr lang="en-US" dirty="0"/>
              <a:t/>
            </a:r>
            <a:br/>
            <a:r>
              <a:rPr lang="en-US" dirty="0"/>
              <a:t>비교는 텍스트 중심 업무 범위입니다. 음성 기반 prompt agent는 이번 표에서 제외합니다.</a:t>
            </a:r>
            <a:br/>
            <a:r>
              <a:rPr lang="en-US" dirty="0"/>
              <a:t/>
            </a:r>
            <a:br/>
            <a:r>
              <a:rPr lang="en-US" dirty="0"/>
              <a:t>해석의 한계</a:t>
            </a:r>
            <a:br/>
            <a:r>
              <a:rPr lang="en-US" dirty="0"/>
              <a:t/>
            </a:r>
            <a:br/>
            <a:r>
              <a:rPr lang="en-US" dirty="0"/>
              <a:t>직접 호출은 에이전트 유형이 아닙니다. 실제 지원 모델·도구·리전과 출시 상태를 별도로 확인합니다.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실제 문서나 사용자 데이터를 사용하지 않은 설명용 시나리오입니다.</a:t>
            </a:r>
            <a:br/>
            <a:r>
              <a:rPr lang="en-US" dirty="0"/>
              <a:t>권한 필터, 근거 부족 시 행동과 사람에게 넘기는 경로를 별도 구현·검증해야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답변을 빨리 만드는 것보다 어떤 근거를 볼 수 있는지 먼저 확인합니다.</a:t>
            </a:r>
            <a:br/>
            <a:r>
              <a:rPr lang="en-US" dirty="0"/>
              <a:t>모델의 지침만으로 접근 권한을 통제했다고 판단하지 않습니다.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SCENARIO</a:t>
            </a:r>
            <a:br/>
            <a:r>
              <a:rPr lang="en-US" dirty="0"/>
              <a:t>06 / 20</a:t>
            </a:r>
            <a:br/>
            <a:r>
              <a:rPr lang="en-US" dirty="0"/>
              <a:t>사내 문서 Q&amp;A는 근거부터 확인합니다</a:t>
            </a:r>
            <a:br/>
            <a:r>
              <a:rPr lang="en-US" dirty="0"/>
              <a:t/>
            </a:r>
            <a:br/>
            <a:r>
              <a:rPr lang="en-US" dirty="0"/>
              <a:t>질문, 접근 확인, 근거 검토, 답변을 잇는 가상 업무 시나리오입니다.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사용자 · 질문</a:t>
            </a:r>
            <a:br/>
            <a:r>
              <a:rPr lang="en-US" dirty="0"/>
              <a:t/>
            </a:r>
            <a:br/>
            <a:r>
              <a:rPr lang="en-US" dirty="0"/>
              <a:t>업무 맥락과 필요한 답변을 제공하며 민감한 입력을 최소화합니다.</a:t>
            </a:r>
            <a:br/>
            <a:r>
              <a:rPr lang="en-US" dirty="0"/>
              <a:t/>
            </a:r>
            <a:br/>
            <a:r>
              <a:rPr lang="en-US" dirty="0"/>
              <a:t>→</a:t>
            </a:r>
            <a:br/>
            <a:r>
              <a:rPr lang="en-US" dirty="0"/>
              <a:t>02</a:t>
            </a:r>
            <a:br/>
            <a:r>
              <a:rPr lang="en-US" dirty="0"/>
              <a:t>응용 · 접근 확인</a:t>
            </a:r>
            <a:br/>
            <a:r>
              <a:rPr lang="en-US" dirty="0"/>
              <a:t/>
            </a:r>
            <a:br/>
            <a:r>
              <a:rPr lang="en-US" dirty="0"/>
              <a:t>신원과 허용 자료 범위를 확인한 뒤 검색 요청을 구성합니다.</a:t>
            </a:r>
            <a:br/>
            <a:r>
              <a:rPr lang="en-US" dirty="0"/>
              <a:t/>
            </a:r>
            <a:br/>
            <a:r>
              <a:rPr lang="en-US" dirty="0"/>
              <a:t>↓</a:t>
            </a:r>
            <a:br/>
            <a:r>
              <a:rPr lang="en-US" dirty="0"/>
              <a:t>03</a:t>
            </a:r>
            <a:br/>
            <a:r>
              <a:rPr lang="en-US" dirty="0"/>
              <a:t>에이전트 · 근거 검토</a:t>
            </a:r>
            <a:br/>
            <a:r>
              <a:rPr lang="en-US" dirty="0"/>
              <a:t/>
            </a:r>
            <a:br/>
            <a:r>
              <a:rPr lang="en-US" dirty="0"/>
              <a:t>검색된 자료가 질문에 답하는지 확인하고 출처를 연결합니다.</a:t>
            </a:r>
            <a:br/>
            <a:r>
              <a:rPr lang="en-US" dirty="0"/>
              <a:t/>
            </a:r>
            <a:br/>
            <a:r>
              <a:rPr lang="en-US" dirty="0"/>
              <a:t>←</a:t>
            </a:r>
            <a:br/>
            <a:r>
              <a:rPr lang="en-US" dirty="0"/>
              <a:t>04</a:t>
            </a:r>
            <a:br/>
            <a:r>
              <a:rPr lang="en-US" dirty="0"/>
              <a:t>사용자 · 답변 확인</a:t>
            </a:r>
            <a:br/>
            <a:r>
              <a:rPr lang="en-US" dirty="0"/>
              <a:t/>
            </a:r>
            <a:br/>
            <a:r>
              <a:rPr lang="en-US" dirty="0"/>
              <a:t>답변과 근거를 검토하고 불확실한 내용은 담당자에게 넘깁니다.</a:t>
            </a:r>
            <a:br/>
            <a:r>
              <a:rPr lang="en-US" dirty="0"/>
              <a:t/>
            </a:r>
            <a:br/>
            <a:r>
              <a:rPr lang="en-US" dirty="0"/>
              <a:t>장면의 연결</a:t>
            </a:r>
            <a:br/>
            <a:r>
              <a:rPr lang="en-US" dirty="0"/>
              <a:t/>
            </a:r>
            <a:br/>
            <a:r>
              <a:rPr lang="en-US" dirty="0"/>
              <a:t>직원이 허용된 사내 문서를 질문합니다. 확인할 근거가 없으면 답을 꾸며내지 않고 추가 확인을 요청합니다.</a:t>
            </a:r>
            <a:br/>
            <a:r>
              <a:rPr lang="en-US" dirty="0"/>
              <a:t/>
            </a:r>
            <a:br/>
            <a:r>
              <a:rPr lang="en-US" dirty="0"/>
              <a:t>인계의 품질</a:t>
            </a:r>
            <a:br/>
            <a:r>
              <a:rPr lang="en-US" dirty="0"/>
              <a:t/>
            </a:r>
            <a:br/>
            <a:r>
              <a:rPr lang="en-US" dirty="0"/>
              <a:t>단계 사이에는 질문만 아니라 접근 범위와 근거가 함께 전달되어야 합니다.</a:t>
            </a:r>
            <a:br/>
            <a:r>
              <a:rPr lang="en-US" dirty="0"/>
              <a:t/>
            </a:r>
            <a:br/>
            <a:r>
              <a:rPr lang="en-US" dirty="0"/>
              <a:t>예외의 처리</a:t>
            </a:r>
            <a:br/>
            <a:r>
              <a:rPr lang="en-US" dirty="0"/>
              <a:t/>
            </a:r>
            <a:br/>
            <a:r>
              <a:rPr lang="en-US" dirty="0"/>
              <a:t>검색·권한·거부 처리는 설계 요구사항입니다. 이 그림이 제품의 자동 차단을 보장하지 않습니다.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출시 기준은 팀이 정하는 검토 기준이며 Foundry가 대신 승인해 주는 절차가 아닙니다.</a:t>
            </a:r>
            <a:br/>
            <a:r>
              <a:rPr lang="en-US" dirty="0"/>
              <a:t>제품의 출시 상태와 실제 업무에 대한 검증 근거는 각각 확인해야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네 개의 체크를 채우는 것이 목적은 아닙니다.</a:t>
            </a:r>
            <a:br/>
            <a:r>
              <a:rPr lang="en-US" dirty="0"/>
              <a:t>각 답변을 뒷받침하는 기록과 책임자가 있는지를 보겠습니다.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CHECKLIST</a:t>
            </a:r>
            <a:br/>
            <a:r>
              <a:rPr lang="en-US" dirty="0"/>
              <a:t>07 / 20</a:t>
            </a:r>
            <a:br/>
            <a:r>
              <a:rPr lang="en-US" dirty="0"/>
              <a:t>출시 전 네 가지 근거를 확인합니다</a:t>
            </a:r>
            <a:br/>
            <a:r>
              <a:rPr lang="en-US" dirty="0"/>
              <a:t/>
            </a:r>
            <a:br/>
            <a:r>
              <a:rPr lang="en-US" dirty="0"/>
              <a:t>체크 기호는 검토 대상이지 실제 승인이나 충족 상태가 아닙니다.</a:t>
            </a:r>
            <a:br/>
            <a:r>
              <a:rPr lang="en-US" dirty="0"/>
              <a:t/>
            </a:r>
            <a:br/>
            <a:r>
              <a:rPr lang="en-US" dirty="0"/>
              <a:t>업무 적합성</a:t>
            </a:r>
            <a:br/>
            <a:r>
              <a:rPr lang="en-US" dirty="0"/>
              <a:t/>
            </a:r>
            <a:br/>
            <a:r>
              <a:rPr lang="en-US" dirty="0"/>
              <a:t>대표 질문과 실패 사례에서 원하는 결과를 설명할 수 있습니까?</a:t>
            </a:r>
            <a:br/>
            <a:r>
              <a:rPr lang="en-US" dirty="0"/>
              <a:t/>
            </a:r>
            <a:br/>
            <a:r>
              <a:rPr lang="en-US" dirty="0"/>
              <a:t>접근과 허용 행동</a:t>
            </a:r>
            <a:br/>
            <a:r>
              <a:rPr lang="en-US" dirty="0"/>
              <a:t/>
            </a:r>
            <a:br/>
            <a:r>
              <a:rPr lang="en-US" dirty="0"/>
              <a:t>누가 어떤 자료와 도구를 사용할 수 있는지 검증했습니까?</a:t>
            </a:r>
            <a:br/>
            <a:r>
              <a:rPr lang="en-US" dirty="0"/>
              <a:t/>
            </a:r>
            <a:br/>
            <a:r>
              <a:rPr lang="en-US" dirty="0"/>
              <a:t>기능별 준비 상태</a:t>
            </a:r>
            <a:br/>
            <a:r>
              <a:rPr lang="en-US" dirty="0"/>
              <a:t/>
            </a:r>
            <a:br/>
            <a:r>
              <a:rPr lang="en-US" dirty="0"/>
              <a:t>GA/Preview, 대상 리전과 모델·도구 조건을 확인했습니까?</a:t>
            </a:r>
            <a:br/>
            <a:r>
              <a:rPr lang="en-US" dirty="0"/>
              <a:t/>
            </a:r>
            <a:br/>
            <a:r>
              <a:rPr lang="en-US" dirty="0"/>
              <a:t>운영과 중단 책임</a:t>
            </a:r>
            <a:br/>
            <a:r>
              <a:rPr lang="en-US" dirty="0"/>
              <a:t/>
            </a:r>
            <a:br/>
            <a:r>
              <a:rPr lang="en-US" dirty="0"/>
              <a:t>오류·비용·기록을 확인하고 필요하면 중단할 담당자가 있습니까?</a:t>
            </a:r>
            <a:br/>
            <a:r>
              <a:rPr lang="en-US" dirty="0"/>
              <a:t/>
            </a:r>
            <a:br/>
            <a:r>
              <a:rPr lang="en-US" dirty="0"/>
              <a:t>검토 방식</a:t>
            </a:r>
            <a:br/>
            <a:r>
              <a:rPr lang="en-US" dirty="0"/>
              <a:t/>
            </a:r>
            <a:br/>
            <a:r>
              <a:rPr lang="en-US" dirty="0"/>
              <a:t>기능·모델·도구 또는 데이터 범위가 바뀌면 같은 질문으로 다시 검토합니다.</a:t>
            </a:r>
            <a:br/>
            <a:r>
              <a:rPr lang="en-US" dirty="0"/>
              <a:t/>
            </a:r>
            <a:br/>
            <a:r>
              <a:rPr lang="en-US" dirty="0"/>
              <a:t>통과의 의미</a:t>
            </a:r>
            <a:br/>
            <a:r>
              <a:rPr lang="en-US" dirty="0"/>
              <a:t/>
            </a:r>
            <a:br/>
            <a:r>
              <a:rPr lang="en-US" dirty="0"/>
              <a:t>필수 조건을 뒷받침할 기록이 있을 때 제한된 적용을 검토합니다.</a:t>
            </a:r>
            <a:br/>
            <a:r>
              <a:rPr lang="en-US" dirty="0"/>
              <a:t/>
            </a:r>
            <a:br/>
            <a:r>
              <a:rPr lang="en-US" dirty="0"/>
              <a:t>보류의 가치</a:t>
            </a:r>
            <a:br/>
            <a:r>
              <a:rPr lang="en-US" dirty="0"/>
              <a:t/>
            </a:r>
            <a:br/>
            <a:r>
              <a:rPr lang="en-US" dirty="0"/>
              <a:t>미확인 조건은 완료로 표시하지 않습니다. 책임자와 다음 확인 시점을 남깁니다.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공식 상태는 문서에서 확인한 사실이고, 이를 우리 업무에 적용할지는 별도의 판단입니다.</a:t>
            </a:r>
            <a:br/>
            <a:r>
              <a:rPr lang="en-US" dirty="0"/>
              <a:t>기능별·경험별 범위를 생략해 Foundry 전체가 동일한 출시 상태라고 표현하지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상태 표를 읽을 때는 무엇에 대한 GA인지 확인해야 합니다.</a:t>
            </a:r>
            <a:br/>
            <a:r>
              <a:rPr lang="en-US" dirty="0"/>
              <a:t>공식 문서의 범위와 우리 조직의 도입 조건을 섞지 않겠습니다.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EVIDENCE</a:t>
            </a:r>
            <a:br/>
            <a:r>
              <a:rPr lang="en-US" dirty="0"/>
              <a:t>08 / 20</a:t>
            </a:r>
            <a:br/>
            <a:r>
              <a:rPr lang="en-US" dirty="0"/>
              <a:t>공식 상태와 도입 판단을 분리합니다</a:t>
            </a:r>
            <a:br/>
            <a:r>
              <a:rPr lang="en-US" dirty="0"/>
              <a:t/>
            </a:r>
            <a:br/>
            <a:r>
              <a:rPr lang="en-US" dirty="0"/>
              <a:t>포털의 GA와 개별 기능의 GA는 같은 범위가 아닙니다.</a:t>
            </a:r>
            <a:br/>
            <a:r>
              <a:rPr lang="en-US" dirty="0"/>
              <a:t/>
            </a:r>
            <a:br/>
            <a:r>
              <a:rPr lang="en-US" dirty="0"/>
              <a:t>↳</a:t>
            </a:r>
            <a:br/>
            <a:r>
              <a:rPr lang="en-US" dirty="0"/>
              <a:t>근거의 범위</a:t>
            </a:r>
            <a:br/>
            <a:r>
              <a:rPr lang="en-US" dirty="0"/>
              <a:t/>
            </a:r>
            <a:br/>
            <a:r>
              <a:rPr lang="en-US" dirty="0"/>
              <a:t>공식 GA 개요를 2026-09-30에 확인했습니다. 상태는 이후 바뀔 수 있습니다.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Agents 핵심 기능 · GA</a:t>
            </a:r>
            <a:br/>
            <a:r>
              <a:rPr lang="en-US" dirty="0"/>
              <a:t/>
            </a:r>
            <a:br/>
            <a:r>
              <a:rPr lang="en-US" dirty="0"/>
              <a:t>에이전트의 세부 유형, 연결 도구와 모델 조건까지 한꺼번에 보장하는 표기는 아닙니다.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Evaluations · GA / 일부 Preview</a:t>
            </a:r>
            <a:br/>
            <a:r>
              <a:rPr lang="en-US" dirty="0"/>
              <a:t/>
            </a:r>
            <a:br/>
            <a:r>
              <a:rPr lang="en-US" dirty="0"/>
              <a:t>평가 기능 안에서도 평가자와 세부 기능의 출시 상태를 나눠 확인합니다.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Monitoring · Memory · Preview</a:t>
            </a:r>
            <a:br/>
            <a:r>
              <a:rPr lang="en-US" dirty="0"/>
              <a:t/>
            </a:r>
            <a:br/>
            <a:r>
              <a:rPr lang="en-US" dirty="0"/>
              <a:t>운영 적용 정책과 데이터 보관·사용 조건을 기능별로 검토합니다.</a:t>
            </a:r>
            <a:br/>
            <a:r>
              <a:rPr lang="en-US" dirty="0"/>
              <a:t/>
            </a:r>
            <a:br/>
            <a:r>
              <a:rPr lang="en-US" dirty="0"/>
              <a:t>해석</a:t>
            </a:r>
            <a:br/>
            <a:r>
              <a:rPr lang="en-US" dirty="0"/>
              <a:t/>
            </a:r>
            <a:br/>
            <a:r>
              <a:rPr lang="en-US" dirty="0"/>
              <a:t>기능별 상태를 기록한 다음 업무 검증, 대상 리전과 운영 조건을 별도로 판단합니다.</a:t>
            </a:r>
            <a:br/>
            <a:r>
              <a:rPr lang="en-US" dirty="0"/>
              <a:t/>
            </a:r>
            <a:br/>
            <a:r>
              <a:rPr lang="en-US" dirty="0"/>
              <a:t>한계</a:t>
            </a:r>
            <a:br/>
            <a:r>
              <a:rPr lang="en-US" dirty="0"/>
              <a:t/>
            </a:r>
            <a:br/>
            <a:r>
              <a:rPr lang="en-US" dirty="0"/>
              <a:t>GA는 모든 하위 기능·모델·리전의 보장이 아닙니다. 실제 채택 시 최신 표를 다시 확인합니다.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세 단계는 프로젝트 관리 제안으로 Microsoft의 납기나 성능 약속이 아닙니다.</a:t>
            </a:r>
            <a:br/>
            <a:r>
              <a:rPr lang="en-US" dirty="0"/>
              <a:t>각 단계에서 필요한 검토와 산출물은 조직 정책에 맞춰 조정합니다.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날짜를 채우기 전에 어떤 근거가 있으면 다음 단계로 갈지 정합니다.</a:t>
            </a:r>
            <a:br/>
            <a:r>
              <a:rPr lang="en-US" dirty="0"/>
              <a:t>범위를 넓힐수록 검증 기록과 책임도 함께 확장해야 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ROADMAP</a:t>
            </a:r>
            <a:br/>
            <a:r>
              <a:rPr lang="en-US" dirty="0"/>
              <a:t>09 / 20</a:t>
            </a:r>
            <a:br/>
            <a:r>
              <a:rPr lang="en-US" dirty="0"/>
              <a:t>일정보다 단계별 통과 조건을 정합니다</a:t>
            </a:r>
            <a:br/>
            <a:r>
              <a:rPr lang="en-US" dirty="0"/>
              <a:t/>
            </a:r>
            <a:br/>
            <a:r>
              <a:rPr lang="en-US" dirty="0"/>
              <a:t>탐색, 제한 검증, 운영 준비의 산출물을 연결하는 도입 로드맵 제안입니다.</a:t>
            </a:r>
            <a:br/>
            <a:r>
              <a:rPr lang="en-US" dirty="0"/>
              <a:t/>
            </a:r>
            <a:br/>
            <a:r>
              <a:rPr lang="en-US" dirty="0"/>
              <a:t>실행 묶음</a:t>
            </a:r>
            <a:br/>
            <a:r>
              <a:rPr lang="en-US" dirty="0"/>
              <a:t>준비</a:t>
            </a:r>
            <a:br/>
            <a:r>
              <a:rPr lang="en-US" dirty="0"/>
              <a:t>실행</a:t>
            </a:r>
            <a:br/>
            <a:r>
              <a:rPr lang="en-US" dirty="0"/>
              <a:t>검토</a:t>
            </a:r>
            <a:br/>
            <a:r>
              <a:rPr lang="en-US" dirty="0"/>
              <a:t>탐색 · 업무 가설</a:t>
            </a:r>
            <a:br/>
            <a:r>
              <a:rPr lang="en-US" dirty="0"/>
              <a:t/>
            </a:r>
            <a:br/>
            <a:r>
              <a:rPr lang="en-US" dirty="0"/>
              <a:t>문제 정의, 대표 질문, 제외 조건과 기대 결과를 문서로 남깁니다.</a:t>
            </a:r>
            <a:br/>
            <a:r>
              <a:rPr lang="en-US" dirty="0"/>
              <a:t/>
            </a:r>
            <a:br/>
            <a:r>
              <a:rPr lang="en-US" dirty="0"/>
              <a:t>검증 · 실패 근거</a:t>
            </a:r>
            <a:br/>
            <a:r>
              <a:rPr lang="en-US" dirty="0"/>
              <a:t/>
            </a:r>
            <a:br/>
            <a:r>
              <a:rPr lang="en-US" dirty="0"/>
              <a:t>제한된 데이터로 구현하고 평가 기록·권한 시험·수정 이력을 남깁니다.</a:t>
            </a:r>
            <a:br/>
            <a:r>
              <a:rPr lang="en-US" dirty="0"/>
              <a:t/>
            </a:r>
            <a:br/>
            <a:r>
              <a:rPr lang="en-US" dirty="0"/>
              <a:t>준비 · 운영 책임</a:t>
            </a:r>
            <a:br/>
            <a:r>
              <a:rPr lang="en-US" dirty="0"/>
              <a:t/>
            </a:r>
            <a:br/>
            <a:r>
              <a:rPr lang="en-US" dirty="0"/>
              <a:t>관측, 오류 대응, 비용 확인과 중단 계획을 합의합니다.</a:t>
            </a:r>
            <a:br/>
            <a:r>
              <a:rPr lang="en-US" dirty="0"/>
              <a:t/>
            </a:r>
            <a:br/>
            <a:r>
              <a:rPr lang="en-US" dirty="0"/>
              <a:t>단계의 의미</a:t>
            </a:r>
            <a:br/>
            <a:r>
              <a:rPr lang="en-US" dirty="0"/>
              <a:t/>
            </a:r>
            <a:br/>
            <a:r>
              <a:rPr lang="en-US" dirty="0"/>
              <a:t>날짜와 소요 기간을 보장하지 않습니다. 업무 난도와 데이터·권한 준비 상태에 따라 달라집니다.</a:t>
            </a:r>
            <a:br/>
            <a:r>
              <a:rPr lang="en-US" dirty="0"/>
              <a:t/>
            </a:r>
            <a:br/>
            <a:r>
              <a:rPr lang="en-US" dirty="0"/>
              <a:t>이어지는 책임</a:t>
            </a:r>
            <a:br/>
            <a:r>
              <a:rPr lang="en-US" dirty="0"/>
              <a:t/>
            </a:r>
            <a:br/>
            <a:r>
              <a:rPr lang="en-US" dirty="0"/>
              <a:t>다음 단계로 넘어갈 때 이전 단계의 실패 사례와 가정을 함께 넘깁니다.</a:t>
            </a:r>
            <a:br/>
            <a:r>
              <a:rPr lang="en-US" dirty="0"/>
              <a:t/>
            </a:r>
            <a:br/>
            <a:r>
              <a:rPr lang="en-US" dirty="0"/>
              <a:t>계획의 한계</a:t>
            </a:r>
            <a:br/>
            <a:r>
              <a:rPr lang="en-US" dirty="0"/>
              <a:t/>
            </a:r>
            <a:br/>
            <a:r>
              <a:rPr lang="en-US" dirty="0"/>
              <a:t>질문·데이터 범위가 달라지면 검증을 다시 설계합니다. 작은 시연만으로 확대 적용하지 않습니다.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 그림은 Q&amp;A를 설계할 때 고려할 데이터 준비와 소비 관계의 예시입니다.</a:t>
            </a:r>
            <a:br/>
            <a:r>
              <a:rPr lang="en-US" dirty="0"/>
              <a:t>어떤 검색 도구와 저장소를 선택할지, 삭제·갱신·권한 변경을 어떻게 반영할지는 별도 설계합니다.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문서를 넣었다는 사실보다 어떤 조각이 누구에게 보이는지가 중요합니다.</a:t>
            </a:r>
            <a:br/>
            <a:r>
              <a:rPr lang="en-US" dirty="0"/>
              <a:t>답변과 평가에 같은 근거를 연결해 실패 원인을 되짚을 수 있도록 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DATAFLOW · 가상 흐름</a:t>
            </a:r>
            <a:br/>
            <a:r>
              <a:rPr lang="en-US" dirty="0"/>
              <a:t>10 / 20</a:t>
            </a:r>
            <a:br/>
            <a:r>
              <a:rPr lang="en-US" dirty="0"/>
              <a:t>허용 문서를 검색 근거로 연결합니다</a:t>
            </a:r>
            <a:br/>
            <a:r>
              <a:rPr lang="en-US" dirty="0"/>
              <a:t/>
            </a:r>
            <a:br/>
            <a:r>
              <a:rPr lang="en-US" dirty="0"/>
              <a:t>문서 → 정제 → 검색 자료 → 답변·검토로 분기하는 가상 데이터 흐름입니다.</a:t>
            </a:r>
            <a:br/>
            <a:r>
              <a:rPr lang="en-US" dirty="0"/>
              <a:t/>
            </a:r>
            <a:br/>
            <a:r>
              <a:rPr lang="en-US" dirty="0"/>
              <a:t>01 / 원천</a:t>
            </a:r>
            <a:br/>
            <a:r>
              <a:rPr lang="en-US" dirty="0"/>
              <a:t>허용 문서</a:t>
            </a:r>
            <a:br/>
            <a:r>
              <a:rPr lang="en-US" dirty="0"/>
              <a:t>본문 · 문서 ID</a:t>
            </a:r>
            <a:br/>
            <a:r>
              <a:rPr lang="en-US" dirty="0"/>
              <a:t>접근 범위</a:t>
            </a:r>
            <a:br/>
            <a:r>
              <a:rPr lang="en-US" dirty="0"/>
              <a:t>02 / 처리</a:t>
            </a:r>
            <a:br/>
            <a:r>
              <a:rPr lang="en-US" dirty="0"/>
              <a:t>문서 정제</a:t>
            </a:r>
            <a:br/>
            <a:r>
              <a:rPr lang="en-US" dirty="0"/>
              <a:t>본문 분할 · 형식 정리</a:t>
            </a:r>
            <a:br/>
            <a:r>
              <a:rPr lang="en-US" dirty="0"/>
              <a:t>문서 ID 보존</a:t>
            </a:r>
            <a:br/>
            <a:r>
              <a:rPr lang="en-US" dirty="0"/>
              <a:t>03 / 저장</a:t>
            </a:r>
            <a:br/>
            <a:r>
              <a:rPr lang="en-US" dirty="0"/>
              <a:t>검색 자료</a:t>
            </a:r>
            <a:br/>
            <a:r>
              <a:rPr lang="en-US" dirty="0"/>
              <a:t>04 / 소비</a:t>
            </a:r>
            <a:br/>
            <a:r>
              <a:rPr lang="en-US" dirty="0"/>
              <a:t>답변</a:t>
            </a:r>
            <a:br/>
            <a:r>
              <a:rPr lang="en-US" dirty="0"/>
              <a:t>검토 기록</a:t>
            </a:r>
            <a:br/>
            <a:r>
              <a:rPr lang="en-US" dirty="0"/>
              <a:t>원문</a:t>
            </a:r>
            <a:br/>
            <a:r>
              <a:rPr lang="en-US" dirty="0"/>
              <a:t>문서 조각</a:t>
            </a:r>
            <a:br/>
            <a:r>
              <a:rPr lang="en-US" dirty="0"/>
              <a:t>근거</a:t>
            </a:r>
            <a:br/>
            <a:r>
              <a:rPr lang="en-US" dirty="0"/>
              <a:t>참조</a:t>
            </a:r>
            <a:br/>
            <a:r>
              <a:rPr lang="en-US" dirty="0"/>
              <a:t>실선 = 데이터 전달</a:t>
            </a:r>
            <a:br/>
            <a:r>
              <a:rPr lang="en-US" dirty="0"/>
              <a:t>가상 설계 · 배포 아님</a:t>
            </a:r>
            <a:br/>
            <a:r>
              <a:rPr lang="en-US" dirty="0"/>
              <a:t>변환</a:t>
            </a:r>
            <a:br/>
            <a:r>
              <a:rPr lang="en-US" dirty="0"/>
              <a:t/>
            </a:r>
            <a:br/>
            <a:r>
              <a:rPr lang="en-US" dirty="0"/>
              <a:t>문서 식별자와 접근 범위를 유지하며 조각을 준비합니다. 형식 오류와 권한 검사는 별도 설계합니다.</a:t>
            </a:r>
            <a:br/>
            <a:r>
              <a:rPr lang="en-US" dirty="0"/>
              <a:t/>
            </a:r>
            <a:br/>
            <a:r>
              <a:rPr lang="en-US" dirty="0"/>
              <a:t>분기</a:t>
            </a:r>
            <a:br/>
            <a:r>
              <a:rPr lang="en-US" dirty="0"/>
              <a:t/>
            </a:r>
            <a:br/>
            <a:r>
              <a:rPr lang="en-US" dirty="0"/>
              <a:t>답변에는 관련 근거를, 평가에는 검토 기록을 연결합니다. 저장했다고 답변 품질이 보장되지는 않습니다.</a:t>
            </a:r>
            <a:br/>
            <a:r>
              <a:rPr lang="en-US" dirty="0"/>
              <a:t/>
            </a:r>
            <a:br/>
            <a:r>
              <a:rPr lang="en-US" dirty="0"/>
              <a:t>가정</a:t>
            </a:r>
            <a:br/>
            <a:r>
              <a:rPr lang="en-US" dirty="0"/>
              <a:t/>
            </a:r>
            <a:br/>
            <a:r>
              <a:rPr lang="en-US" dirty="0"/>
              <a:t>실선은 제안한 데이터 전달입니다. 실제 Foundry 내부 구조나 자동 수집·동기화를 뜻하지 않습니다.</a:t>
            </a:r>
            <a:br/>
            <a:r>
              <a:rPr lang="en-US" dirty="0"/>
              <a:t>01 / 원천</a:t>
            </a:r>
            <a:br/>
            <a:r>
              <a:rPr lang="en-US" dirty="0"/>
              <a:t>허용 문서</a:t>
            </a:r>
            <a:br/>
            <a:r>
              <a:rPr lang="en-US" dirty="0"/>
              <a:t>본문 · 문서 ID</a:t>
            </a:r>
            <a:br/>
            <a:r>
              <a:rPr lang="en-US" dirty="0"/>
              <a:t>접근 범위</a:t>
            </a:r>
            <a:br/>
            <a:r>
              <a:rPr lang="en-US" dirty="0"/>
              <a:t>02 / 처리</a:t>
            </a:r>
            <a:br/>
            <a:r>
              <a:rPr lang="en-US" dirty="0"/>
              <a:t>문서 정제</a:t>
            </a:r>
            <a:br/>
            <a:r>
              <a:rPr lang="en-US" dirty="0"/>
              <a:t>본문 분할 · 형식 정리</a:t>
            </a:r>
            <a:br/>
            <a:r>
              <a:rPr lang="en-US" dirty="0"/>
              <a:t>문서 ID 보존</a:t>
            </a:r>
            <a:br/>
            <a:r>
              <a:rPr lang="en-US" dirty="0"/>
              <a:t>03 / 저장</a:t>
            </a:r>
            <a:br/>
            <a:r>
              <a:rPr lang="en-US" dirty="0"/>
              <a:t>검색 자료</a:t>
            </a:r>
            <a:br/>
            <a:r>
              <a:rPr lang="en-US" dirty="0"/>
              <a:t>04 / 소비</a:t>
            </a:r>
            <a:br/>
            <a:r>
              <a:rPr lang="en-US" dirty="0"/>
              <a:t>답변</a:t>
            </a:r>
            <a:br/>
            <a:r>
              <a:rPr lang="en-US" dirty="0"/>
              <a:t>검토 기록</a:t>
            </a:r>
            <a:br/>
            <a:r>
              <a:rPr lang="en-US" dirty="0"/>
              <a:t>원문</a:t>
            </a:r>
            <a:br/>
            <a:r>
              <a:rPr lang="en-US" dirty="0"/>
              <a:t>문서 조각</a:t>
            </a:r>
            <a:br/>
            <a:r>
              <a:rPr lang="en-US" dirty="0"/>
              <a:t>근거</a:t>
            </a:r>
            <a:br/>
            <a:r>
              <a:rPr lang="en-US" dirty="0"/>
              <a:t>참조</a:t>
            </a:r>
            <a:br/>
            <a:r>
              <a:rPr lang="en-US" dirty="0"/>
              <a:t>실선 = 데이터 전달</a:t>
            </a:r>
            <a:br/>
            <a:r>
              <a:rPr lang="en-US" dirty="0"/>
              <a:t>가상 설계 · 배포 아님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세 참여자와 네 메시지는 책임과 반환 방향을 설명하기 위한 축약입니다.</a:t>
            </a:r>
            <a:br/>
            <a:r>
              <a:rPr lang="en-US" dirty="0"/>
              <a:t>실제 에이전트 실행에서는 모델 판단과 추가 도구 호출 등 다른 단계가 포함될 수 있습니다.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요청과 응답의 방향을 분리해 읽겠습니다.</a:t>
            </a:r>
            <a:br/>
            <a:r>
              <a:rPr lang="en-US" dirty="0"/>
              <a:t>검색 결과가 곧 답변은 아니며, 근거를 받은 뒤 답변을 구성하는 단계가 필요합니다.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SEQUENCE · 가상 상호작용</a:t>
            </a:r>
            <a:br/>
            <a:r>
              <a:rPr lang="en-US" dirty="0"/>
              <a:t>11 / 20</a:t>
            </a:r>
            <a:br/>
            <a:r>
              <a:rPr lang="en-US" dirty="0"/>
              <a:t>검색 요청과 근거 반환을 구분합니다</a:t>
            </a:r>
            <a:br/>
            <a:r>
              <a:rPr lang="en-US" dirty="0"/>
              <a:t/>
            </a:r>
            <a:br/>
            <a:r>
              <a:rPr lang="en-US" dirty="0"/>
              <a:t>응용 → 에이전트 → 검색 도구의 정상 경로를 단순화한 가상 시퀀스입니다.</a:t>
            </a:r>
            <a:br/>
            <a:r>
              <a:rPr lang="en-US" dirty="0"/>
              <a:t/>
            </a:r>
            <a:br/>
            <a:r>
              <a:rPr lang="en-US" dirty="0"/>
              <a:t>응용</a:t>
            </a:r>
            <a:br/>
            <a:r>
              <a:rPr lang="en-US" dirty="0"/>
              <a:t>에이전트</a:t>
            </a:r>
            <a:br/>
            <a:r>
              <a:rPr lang="en-US" dirty="0"/>
              <a:t>검색 도구</a:t>
            </a:r>
            <a:br/>
            <a:r>
              <a:rPr lang="en-US" dirty="0"/>
              <a:t>1 · 질문 요청 / 업무 질문</a:t>
            </a:r>
            <a:br/>
            <a:r>
              <a:rPr lang="en-US" dirty="0"/>
              <a:t>2 · 근거 검색 / 허용 범위</a:t>
            </a:r>
            <a:br/>
            <a:r>
              <a:rPr lang="en-US" dirty="0"/>
              <a:t>3 · 검색 응답 / 관련 근거</a:t>
            </a:r>
            <a:br/>
            <a:r>
              <a:rPr lang="en-US" dirty="0"/>
              <a:t>4 · 답변 반환 / 근거 참조</a:t>
            </a:r>
            <a:br/>
            <a:r>
              <a:rPr lang="en-US" dirty="0"/>
              <a:t>실선 = 요청</a:t>
            </a:r>
            <a:br/>
            <a:r>
              <a:rPr lang="en-US" dirty="0"/>
              <a:t>점선 = 응답</a:t>
            </a:r>
            <a:br/>
            <a:r>
              <a:rPr lang="en-US" dirty="0"/>
              <a:t>세로 가는 선 = 생명선</a:t>
            </a:r>
            <a:br/>
            <a:r>
              <a:rPr lang="en-US" dirty="0"/>
              <a:t>순서</a:t>
            </a:r>
            <a:br/>
            <a:r>
              <a:rPr lang="en-US" dirty="0"/>
              <a:t/>
            </a:r>
            <a:br/>
            <a:r>
              <a:rPr lang="en-US" dirty="0"/>
              <a:t>응용은 질문을 보내고 에이전트는 도구로 근거를 요청합니다. 도구는 허용된 검색 결과를 반환합니다.</a:t>
            </a:r>
            <a:br/>
            <a:r>
              <a:rPr lang="en-US" dirty="0"/>
              <a:t/>
            </a:r>
            <a:br/>
            <a:r>
              <a:rPr lang="en-US" dirty="0"/>
              <a:t>책임</a:t>
            </a:r>
            <a:br/>
            <a:r>
              <a:rPr lang="en-US" dirty="0"/>
              <a:t/>
            </a:r>
            <a:br/>
            <a:r>
              <a:rPr lang="en-US" dirty="0"/>
              <a:t>검색 근거를 받은 뒤 답변을 구성합니다. 세로 간격과 화살표 길이는 지연 시간을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범위</a:t>
            </a:r>
            <a:br/>
            <a:r>
              <a:rPr lang="en-US" dirty="0"/>
              <a:t/>
            </a:r>
            <a:br/>
            <a:r>
              <a:rPr lang="en-US" dirty="0"/>
              <a:t>실제 모델 호출·추가 도구·승인·오류·재시도는 생략했습니다. 특정 SDK 호출 순서를 보장하지 않습니다.</a:t>
            </a:r>
            <a:br/>
            <a:r>
              <a:rPr lang="en-US" dirty="0"/>
              <a:t>응용</a:t>
            </a:r>
            <a:br/>
            <a:r>
              <a:rPr lang="en-US" dirty="0"/>
              <a:t>에이전트</a:t>
            </a:r>
            <a:br/>
            <a:r>
              <a:rPr lang="en-US" dirty="0"/>
              <a:t>검색 도구</a:t>
            </a:r>
            <a:br/>
            <a:r>
              <a:rPr lang="en-US" dirty="0"/>
              <a:t>1 · 질문 요청 / 업무 질문</a:t>
            </a:r>
            <a:br/>
            <a:r>
              <a:rPr lang="en-US" dirty="0"/>
              <a:t>2 · 근거 검색 / 허용 범위</a:t>
            </a:r>
            <a:br/>
            <a:r>
              <a:rPr lang="en-US" dirty="0"/>
              <a:t>3 · 검색 응답 / 관련 근거</a:t>
            </a:r>
            <a:br/>
            <a:r>
              <a:rPr lang="en-US" dirty="0"/>
              <a:t>4 · 답변 반환 / 근거 참조</a:t>
            </a:r>
            <a:br/>
            <a:r>
              <a:rPr lang="en-US" dirty="0"/>
              <a:t>실선 = 요청</a:t>
            </a:r>
            <a:br/>
            <a:r>
              <a:rPr lang="en-US" dirty="0"/>
              <a:t>점선 = 응답</a:t>
            </a:r>
            <a:br/>
            <a:r>
              <a:rPr lang="en-US" dirty="0"/>
              <a:t>세로 가는 선 = 생명선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서비스 간 실제 지원 연결 방식이나 인증 전달은 이 개념도에서 검증하지 않았습니다.</a:t>
            </a:r>
            <a:br/>
            <a:r>
              <a:rPr lang="en-US" dirty="0"/>
              <a:t>Foundry의 관리 경로와 실행 경로, 연결 도구의 권한 체계는 실제 설계에서 따로 확인해야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선 하나로 보안이 완성되는 것은 아닙니다.</a:t>
            </a:r>
            <a:br/>
            <a:r>
              <a:rPr lang="en-US" dirty="0"/>
              <a:t>네트워크 경계와 데이터 접근 권한을 각각 검증해야 한다는 점을 보여주는 그림입니다.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NETWORK · 가상 논리 구역</a:t>
            </a:r>
            <a:br/>
            <a:r>
              <a:rPr lang="en-US" dirty="0"/>
              <a:t>12 / 20</a:t>
            </a:r>
            <a:br/>
            <a:r>
              <a:rPr lang="en-US" dirty="0"/>
              <a:t>접근 경로와 작업 권한은 별개입니다</a:t>
            </a:r>
            <a:br/>
            <a:r>
              <a:rPr lang="en-US" dirty="0"/>
              <a:t/>
            </a:r>
            <a:br/>
            <a:r>
              <a:rPr lang="en-US" dirty="0"/>
              <a:t>Q&amp;A 응용의 가상 접근 경계입니다. 실제 Azure 배포도나 사설 연결 보장이 아닙니다.</a:t>
            </a:r>
            <a:br/>
            <a:r>
              <a:rPr lang="en-US" dirty="0"/>
              <a:t/>
            </a:r>
            <a:br/>
            <a:r>
              <a:rPr lang="en-US" dirty="0"/>
              <a:t>직원</a:t>
            </a:r>
            <a:br/>
            <a:r>
              <a:rPr lang="en-US" dirty="0"/>
              <a:t>서비스 논리 구역 · 가상</a:t>
            </a:r>
            <a:br/>
            <a:r>
              <a:rPr lang="en-US" dirty="0"/>
              <a:t>게이트웨이</a:t>
            </a:r>
            <a:br/>
            <a:r>
              <a:rPr lang="en-US" dirty="0"/>
              <a:t>진입점</a:t>
            </a:r>
            <a:br/>
            <a:r>
              <a:rPr lang="en-US" dirty="0"/>
              <a:t>응용 구역</a:t>
            </a:r>
            <a:br/>
            <a:r>
              <a:rPr lang="en-US" dirty="0"/>
              <a:t>Q&amp;A 응용</a:t>
            </a:r>
            <a:br/>
            <a:r>
              <a:rPr lang="en-US" dirty="0"/>
              <a:t>진입 경로 제한</a:t>
            </a:r>
            <a:br/>
            <a:r>
              <a:rPr lang="en-US" dirty="0"/>
              <a:t>데이터 구역</a:t>
            </a:r>
            <a:br/>
            <a:r>
              <a:rPr lang="en-US" dirty="0"/>
              <a:t>허용 문서</a:t>
            </a:r>
            <a:br/>
            <a:r>
              <a:rPr lang="en-US" dirty="0"/>
              <a:t>조회 경로 제한</a:t>
            </a:r>
            <a:br/>
            <a:r>
              <a:rPr lang="en-US" dirty="0"/>
              <a:t>요청</a:t>
            </a:r>
            <a:br/>
            <a:r>
              <a:rPr lang="en-US" dirty="0"/>
              <a:t>전달</a:t>
            </a:r>
            <a:br/>
            <a:r>
              <a:rPr lang="en-US" dirty="0"/>
              <a:t>조회</a:t>
            </a:r>
            <a:br/>
            <a:r>
              <a:rPr lang="en-US" dirty="0"/>
              <a:t>직접 접근 차단</a:t>
            </a:r>
            <a:br/>
            <a:r>
              <a:rPr lang="en-US" dirty="0"/>
              <a:t>실선 = 허용 경로</a:t>
            </a:r>
            <a:br/>
            <a:r>
              <a:rPr lang="en-US" dirty="0"/>
              <a:t>점선 × = 차단 경로</a:t>
            </a:r>
            <a:br/>
            <a:r>
              <a:rPr lang="en-US" dirty="0"/>
              <a:t>ID / 작업 정책 · 별도 검사</a:t>
            </a:r>
            <a:br/>
            <a:r>
              <a:rPr lang="en-US" dirty="0"/>
              <a:t>경계</a:t>
            </a:r>
            <a:br/>
            <a:r>
              <a:rPr lang="en-US" dirty="0"/>
              <a:t/>
            </a:r>
            <a:br/>
            <a:r>
              <a:rPr lang="en-US" dirty="0"/>
              <a:t>사용자, 진입점, 업무 응용과 문서 자료를 논리적 구역으로 나눴습니다.</a:t>
            </a:r>
            <a:br/>
            <a:r>
              <a:rPr lang="en-US" dirty="0"/>
              <a:t/>
            </a:r>
            <a:br/>
            <a:r>
              <a:rPr lang="en-US" dirty="0"/>
              <a:t>ID와 정책</a:t>
            </a:r>
            <a:br/>
            <a:r>
              <a:rPr lang="en-US" dirty="0"/>
              <a:t/>
            </a:r>
            <a:br/>
            <a:r>
              <a:rPr lang="en-US" dirty="0"/>
              <a:t>경로가 열려 있어도 신원과 작업 권한은 따로 확인합니다. 관리 경로와 정책 전파는 생략했습니다.</a:t>
            </a:r>
            <a:br/>
            <a:r>
              <a:rPr lang="en-US" dirty="0"/>
              <a:t/>
            </a:r>
            <a:br/>
            <a:r>
              <a:rPr lang="en-US" dirty="0"/>
              <a:t>검증 전 설계</a:t>
            </a:r>
            <a:br/>
            <a:r>
              <a:rPr lang="en-US" dirty="0"/>
              <a:t/>
            </a:r>
            <a:br/>
            <a:r>
              <a:rPr lang="en-US" dirty="0"/>
              <a:t>차단 표시는 의도입니다. 실제 네트워크·RBAC·데이터 접근 설정과 시험으로 검증해야 합니다.</a:t>
            </a:r>
            <a:br/>
            <a:r>
              <a:rPr lang="en-US" dirty="0"/>
              <a:t>직원</a:t>
            </a:r>
            <a:br/>
            <a:r>
              <a:rPr lang="en-US" dirty="0"/>
              <a:t>서비스 논리 구역 · 가상</a:t>
            </a:r>
            <a:br/>
            <a:r>
              <a:rPr lang="en-US" dirty="0"/>
              <a:t>게이트웨이</a:t>
            </a:r>
            <a:br/>
            <a:r>
              <a:rPr lang="en-US" dirty="0"/>
              <a:t>진입점</a:t>
            </a:r>
            <a:br/>
            <a:r>
              <a:rPr lang="en-US" dirty="0"/>
              <a:t>응용 구역</a:t>
            </a:r>
            <a:br/>
            <a:r>
              <a:rPr lang="en-US" dirty="0"/>
              <a:t>Q&amp;A 응용</a:t>
            </a:r>
            <a:br/>
            <a:r>
              <a:rPr lang="en-US" dirty="0"/>
              <a:t>진입 경로 제한</a:t>
            </a:r>
            <a:br/>
            <a:r>
              <a:rPr lang="en-US" dirty="0"/>
              <a:t>데이터 구역</a:t>
            </a:r>
            <a:br/>
            <a:r>
              <a:rPr lang="en-US" dirty="0"/>
              <a:t>허용 문서</a:t>
            </a:r>
            <a:br/>
            <a:r>
              <a:rPr lang="en-US" dirty="0"/>
              <a:t>조회 경로 제한</a:t>
            </a:r>
            <a:br/>
            <a:r>
              <a:rPr lang="en-US" dirty="0"/>
              <a:t>요청</a:t>
            </a:r>
            <a:br/>
            <a:r>
              <a:rPr lang="en-US" dirty="0"/>
              <a:t>전달</a:t>
            </a:r>
            <a:br/>
            <a:r>
              <a:rPr lang="en-US" dirty="0"/>
              <a:t>조회</a:t>
            </a:r>
            <a:br/>
            <a:r>
              <a:rPr lang="en-US" dirty="0"/>
              <a:t>직접 접근 차단</a:t>
            </a:r>
            <a:br/>
            <a:r>
              <a:rPr lang="en-US" dirty="0"/>
              <a:t>실선 = 허용 경로</a:t>
            </a:r>
            <a:br/>
            <a:r>
              <a:rPr lang="en-US" dirty="0"/>
              <a:t>점선 × = 차단 경로</a:t>
            </a:r>
            <a:br/>
            <a:r>
              <a:rPr lang="en-US" dirty="0"/>
              <a:t>ID / 작업 정책 · 별도 검사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숫자는 차트의 축·막대 비례·라벨·값 표를 대조하는 템플릿 예시입니다.</a:t>
            </a:r>
            <a:br/>
            <a:r>
              <a:rPr lang="en-US" dirty="0"/>
              <a:t>관측 문서는 평가와 신호의 역할을 설명하는 출처이며 이 가상 숫자의 출처는 아닙니다.</a:t>
            </a:r>
            <a:br/>
            <a:r>
              <a:rPr lang="en-US" dirty="0"/>
              <a:t>실제 평가 보고에는 데이터셋, 기간, 평가 정의, 실패 사례와 측정 환경을 함께 기록해야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막대가 높다는 이유만으로 좋은 모델이라고 판단하면 안 됩니다.</a:t>
            </a:r>
            <a:br/>
            <a:r>
              <a:rPr lang="en-US" dirty="0"/>
              <a:t>여기서는 질문을 몇 건 검토했는지만 보여주며, 모든 수치는 설명용입니다.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METRICS · 가상 수치</a:t>
            </a:r>
            <a:br/>
            <a:r>
              <a:rPr lang="en-US" dirty="0"/>
              <a:t>13 / 20</a:t>
            </a:r>
            <a:br/>
            <a:r>
              <a:rPr lang="en-US" dirty="0"/>
              <a:t>평가 차트는 단위와 표본부터 읽습니다</a:t>
            </a:r>
            <a:br/>
            <a:r>
              <a:rPr lang="en-US" dirty="0"/>
              <a:t/>
            </a:r>
            <a:br/>
            <a:r>
              <a:rPr lang="en-US" dirty="0"/>
              <a:t>가상 검토 건수 40·65·85건을 0~100건 축에 표시합니다. 실측 성능이 아닙니다.</a:t>
            </a:r>
            <a:br/>
            <a:r>
              <a:rPr lang="en-US" dirty="0"/>
              <a:t/>
            </a:r>
            <a:br/>
            <a:r>
              <a:rPr lang="en-US" dirty="0"/>
              <a:t>가상 예시 · 실측 아님</a:t>
            </a:r>
            <a:br/>
            <a:r>
              <a:rPr lang="en-US" dirty="0"/>
              <a:t>건</a:t>
            </a:r>
            <a:br/>
            <a:r>
              <a:rPr lang="en-US" dirty="0"/>
              <a:t>100</a:t>
            </a:r>
            <a:br/>
            <a:r>
              <a:rPr lang="en-US" dirty="0"/>
              <a:t>50</a:t>
            </a:r>
            <a:br/>
            <a:r>
              <a:rPr lang="en-US" dirty="0"/>
              <a:t>0</a:t>
            </a:r>
            <a:br/>
            <a:r>
              <a:rPr lang="en-US" dirty="0"/>
              <a:t>40건</a:t>
            </a:r>
            <a:br/>
            <a:r>
              <a:rPr lang="en-US" dirty="0"/>
              <a:t>세트 A</a:t>
            </a:r>
            <a:br/>
            <a:r>
              <a:rPr lang="en-US" dirty="0"/>
              <a:t>65건</a:t>
            </a:r>
            <a:br/>
            <a:r>
              <a:rPr lang="en-US" dirty="0"/>
              <a:t>세트 B</a:t>
            </a:r>
            <a:br/>
            <a:r>
              <a:rPr lang="en-US" dirty="0"/>
              <a:t>85건</a:t>
            </a:r>
            <a:br/>
            <a:r>
              <a:rPr lang="en-US" dirty="0"/>
              <a:t>세트 C</a:t>
            </a:r>
            <a:br/>
            <a:r>
              <a:rPr lang="en-US" dirty="0"/>
              <a:t>차트와 같은 값 · 단위: 건</a:t>
            </a:r>
            <a:br/>
            <a:r>
              <a:rPr lang="en-US" dirty="0"/>
              <a:t>질문 세트	검토 건수</a:t>
            </a:r>
            <a:br/>
            <a:r>
              <a:rPr lang="en-US" dirty="0"/>
              <a:t>세트 A	40건</a:t>
            </a:r>
            <a:br/>
            <a:r>
              <a:rPr lang="en-US" dirty="0"/>
              <a:t>세트 B	65건</a:t>
            </a:r>
            <a:br/>
            <a:r>
              <a:rPr lang="en-US" dirty="0"/>
              <a:t>세트 C	85건</a:t>
            </a:r>
            <a:br/>
            <a:r>
              <a:rPr lang="en-US" dirty="0"/>
              <a:t>정의 / 검토 건수</a:t>
            </a:r>
            <a:br/>
            <a:r>
              <a:rPr lang="en-US" dirty="0"/>
              <a:t/>
            </a:r>
            <a:br/>
            <a:r>
              <a:rPr lang="en-US" dirty="0"/>
              <a:t>차트 정의는 검토한 질문 수입니다. 정답률, 처리 속도나 비용 절감률이 아닙니다.</a:t>
            </a:r>
            <a:br/>
            <a:r>
              <a:rPr lang="en-US" dirty="0"/>
              <a:t/>
            </a:r>
            <a:br/>
            <a:r>
              <a:rPr lang="en-US" dirty="0"/>
              <a:t>해석 / 규모 차이</a:t>
            </a:r>
            <a:br/>
            <a:r>
              <a:rPr lang="en-US" dirty="0"/>
              <a:t/>
            </a:r>
            <a:br/>
            <a:r>
              <a:rPr lang="en-US" dirty="0"/>
              <a:t>표본 C의 수가 더 많아도 품질 우위를 뜻하지 않습니다. 기간·입력량·질문 구성을 함께 봅니다.</a:t>
            </a:r>
            <a:br/>
            <a:r>
              <a:rPr lang="en-US" dirty="0"/>
              <a:t/>
            </a:r>
            <a:br/>
            <a:r>
              <a:rPr lang="en-US" dirty="0"/>
              <a:t>표본 / 실측 아님</a:t>
            </a:r>
            <a:br/>
            <a:r>
              <a:rPr lang="en-US" dirty="0"/>
              <a:t/>
            </a:r>
            <a:br/>
            <a:r>
              <a:rPr lang="en-US" dirty="0"/>
              <a:t>레이아웃 설명용 가상 데이터입니다. 실제 평가·고객 성과·모델 벤치마크로 인용하지 않습니다.</a:t>
            </a:r>
            <a:br/>
            <a:r>
              <a:rPr lang="en-US" dirty="0"/>
              <a:t>건</a:t>
            </a:r>
            <a:br/>
            <a:r>
              <a:rPr lang="en-US" dirty="0"/>
              <a:t>100</a:t>
            </a:r>
            <a:br/>
            <a:r>
              <a:rPr lang="en-US" dirty="0"/>
              <a:t>50</a:t>
            </a:r>
            <a:br/>
            <a:r>
              <a:rPr lang="en-US" dirty="0"/>
              <a:t>0</a:t>
            </a:r>
            <a:br/>
            <a:r>
              <a:rPr lang="en-US" dirty="0"/>
              <a:t>40건</a:t>
            </a:r>
            <a:br/>
            <a:r>
              <a:rPr lang="en-US" dirty="0"/>
              <a:t>세트 A</a:t>
            </a:r>
            <a:br/>
            <a:r>
              <a:rPr lang="en-US" dirty="0"/>
              <a:t>65건</a:t>
            </a:r>
            <a:br/>
            <a:r>
              <a:rPr lang="en-US" dirty="0"/>
              <a:t>세트 B</a:t>
            </a:r>
            <a:br/>
            <a:r>
              <a:rPr lang="en-US" dirty="0"/>
              <a:t>85건</a:t>
            </a:r>
            <a:br/>
            <a:r>
              <a:rPr lang="en-US" dirty="0"/>
              <a:t>세트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authorize, search, compose, record_refs는 흐름 설명을 위한 가상 함수 이름입니다.</a:t>
            </a:r>
            <a:br/>
            <a:r>
              <a:rPr lang="en-US" dirty="0"/>
              <a:t>실제 API, 오류 처리, 인증 토큰 전달, 기록의 보관 정책을 구현한 코드가 아닙니다.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코드의 길이보다 확인 지점을 보겠습니다.</a:t>
            </a:r>
            <a:br/>
            <a:r>
              <a:rPr lang="en-US" dirty="0"/>
              <a:t>권한 확인, 근거가 없을 때의 행동, 기록 범위가 서로 다른 책임이라는 점을 짚습니다.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WALKTHROUGH · 예시 의사 코드</a:t>
            </a:r>
            <a:br/>
            <a:r>
              <a:rPr lang="en-US" dirty="0"/>
              <a:t>14 / 20</a:t>
            </a:r>
            <a:br/>
            <a:r>
              <a:rPr lang="en-US" dirty="0"/>
              <a:t>근거 확인 지점을 코드로 설명합니다</a:t>
            </a:r>
            <a:br/>
            <a:r>
              <a:rPr lang="en-US" dirty="0"/>
              <a:t/>
            </a:r>
            <a:br/>
            <a:r>
              <a:rPr lang="en-US" dirty="0"/>
              <a:t>권한, 검색, 근거 부족 시 행동을 읽는 의사 코드입니다. 실행 가능한 SDK 예제가 아닙니다.</a:t>
            </a:r>
            <a:br/>
            <a:r>
              <a:rPr lang="en-US" dirty="0"/>
              <a:t/>
            </a:r>
            <a:br/>
            <a:r>
              <a:rPr lang="en-US" dirty="0"/>
              <a:t>예시 의사 코드 · 실행 불가 / 제품 화면 아님</a:t>
            </a:r>
            <a:br/>
            <a:r>
              <a:rPr lang="en-US" dirty="0"/>
              <a:t>01 INPUT question, user</a:t>
            </a:r>
            <a:br/>
            <a:r>
              <a:rPr lang="en-US" dirty="0"/>
              <a:t>02 scope = authorize(user)</a:t>
            </a:r>
            <a:br/>
            <a:r>
              <a:rPr lang="en-US" dirty="0"/>
              <a:t>03 evidence = search(question, scope)</a:t>
            </a:r>
            <a:br/>
            <a:r>
              <a:rPr lang="en-US" dirty="0"/>
              <a:t>04 IF empty(evidence): ASK HUMAN</a:t>
            </a:r>
            <a:br/>
            <a:r>
              <a:rPr lang="en-US" dirty="0"/>
              <a:t>05 answer = compose(question, evidence)</a:t>
            </a:r>
            <a:br/>
            <a:r>
              <a:rPr lang="en-US" dirty="0"/>
              <a:t>06 record_refs(answer, evidence)</a:t>
            </a:r>
            <a:br/>
            <a:r>
              <a:rPr lang="en-US" dirty="0"/>
              <a:t>07 RETURN answer</a:t>
            </a:r>
            <a:br/>
            <a:r>
              <a:rPr lang="en-US" dirty="0"/>
              <a:t>2</a:t>
            </a:r>
            <a:br/>
            <a:r>
              <a:rPr lang="en-US" dirty="0"/>
              <a:t>02행 · 권한 확인</a:t>
            </a:r>
            <a:br/>
            <a:r>
              <a:rPr lang="en-US" dirty="0"/>
              <a:t/>
            </a:r>
            <a:br/>
            <a:r>
              <a:rPr lang="en-US" dirty="0"/>
              <a:t>2행은 허용 자료 범위를 확인하는 설계 지점입니다. 모델 지침만으로 권한을 통제하지 않습니다.</a:t>
            </a:r>
            <a:br/>
            <a:r>
              <a:rPr lang="en-US" dirty="0"/>
              <a:t/>
            </a:r>
            <a:br/>
            <a:r>
              <a:rPr lang="en-US" dirty="0"/>
              <a:t>4</a:t>
            </a:r>
            <a:br/>
            <a:r>
              <a:rPr lang="en-US" dirty="0"/>
              <a:t>04행 · 근거 부족</a:t>
            </a:r>
            <a:br/>
            <a:r>
              <a:rPr lang="en-US" dirty="0"/>
              <a:t/>
            </a:r>
            <a:br/>
            <a:r>
              <a:rPr lang="en-US" dirty="0"/>
              <a:t>4행은 근거가 없을 때 추가 확인을 요청하는 분기입니다. 빈 결과를 성공으로 숨기지 않습니다.</a:t>
            </a:r>
            <a:br/>
            <a:r>
              <a:rPr lang="en-US" dirty="0"/>
              <a:t/>
            </a:r>
            <a:br/>
            <a:r>
              <a:rPr lang="en-US" dirty="0"/>
              <a:t>6</a:t>
            </a:r>
            <a:br/>
            <a:r>
              <a:rPr lang="en-US" dirty="0"/>
              <a:t>06행 · 참조 기록</a:t>
            </a:r>
            <a:br/>
            <a:r>
              <a:rPr lang="en-US" dirty="0"/>
              <a:t/>
            </a:r>
            <a:br/>
            <a:r>
              <a:rPr lang="en-US" dirty="0"/>
              <a:t>6행은 근거와 응답 기록을 연결하는 지점입니다. 민감한 원문은 무조건 기록하지 않습니다.</a:t>
            </a:r>
            <a:br/>
            <a:r>
              <a:rPr lang="en-US" dirty="0"/>
              <a:t/>
            </a:r>
            <a:br/>
            <a:r>
              <a:rPr lang="en-US" dirty="0"/>
              <a:t>범위</a:t>
            </a:r>
            <a:br/>
            <a:r>
              <a:rPr lang="en-US" dirty="0"/>
              <a:t/>
            </a:r>
            <a:br/>
            <a:r>
              <a:rPr lang="en-US" dirty="0"/>
              <a:t>2행은 허용 자료 범위를 확인하는 설계 지점입니다. 모델 지침만으로 권한을 통제하지 않습니다.</a:t>
            </a:r>
            <a:br/>
            <a:r>
              <a:rPr lang="en-US" dirty="0"/>
              <a:t/>
            </a:r>
            <a:br/>
            <a:r>
              <a:rPr lang="en-US" dirty="0"/>
              <a:t>판단</a:t>
            </a:r>
            <a:br/>
            <a:r>
              <a:rPr lang="en-US" dirty="0"/>
              <a:t/>
            </a:r>
            <a:br/>
            <a:r>
              <a:rPr lang="en-US" dirty="0"/>
              <a:t>4행은 근거가 없을 때 추가 확인을 요청하는 분기입니다. 빈 결과를 성공으로 숨기지 않습니다.</a:t>
            </a:r>
            <a:br/>
            <a:r>
              <a:rPr lang="en-US" dirty="0"/>
              <a:t/>
            </a:r>
            <a:br/>
            <a:r>
              <a:rPr lang="en-US" dirty="0"/>
              <a:t>원본 교체</a:t>
            </a:r>
            <a:br/>
            <a:r>
              <a:rPr lang="en-US" dirty="0"/>
              <a:t/>
            </a:r>
            <a:br/>
            <a:r>
              <a:rPr lang="en-US" dirty="0"/>
              <a:t>6행은 근거와 응답 기록을 연결하는 지점입니다. 민감한 원문은 무조건 기록하지 않습니다.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이 의사결정 트리는 구현할 수 있는 통제 흐름을 설명하기 위한 가상 설계입니다.</a:t>
            </a:r>
            <a:br/>
            <a:r>
              <a:rPr lang="en-US" dirty="0"/>
              <a:t>Foundry가 모든 응용의 권한과 답변 근거를 자동 판정한다는 제품 보장이 아닙니다.</a:t>
            </a:r>
            <a:br/>
            <a:r>
              <a:rPr lang="en-US" dirty="0"/>
              <a:t>각 조건에는 실패 사유와 담당자에게 전달할 정보가 필요합니다.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접근할 수 있는 자료인지와 그 자료로 답할 수 있는지는 다른 질문입니다.</a:t>
            </a:r>
            <a:br/>
            <a:r>
              <a:rPr lang="en-US" dirty="0"/>
              <a:t>왼쪽의 중단과 오른쪽의 추가 확인을 같은 오류로 묶지 않겠습니다.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DECISION</a:t>
            </a:r>
            <a:br/>
            <a:r>
              <a:rPr lang="en-US" dirty="0"/>
              <a:t>15 / 20</a:t>
            </a:r>
            <a:br/>
            <a:r>
              <a:rPr lang="en-US" dirty="0"/>
              <a:t>허용 범위와 근거로 응답을 분기합니다</a:t>
            </a:r>
            <a:br/>
            <a:r>
              <a:rPr lang="en-US" dirty="0"/>
              <a:t/>
            </a:r>
            <a:br/>
            <a:r>
              <a:rPr lang="en-US" dirty="0"/>
              <a:t>가상 Q&amp;A 설계입니다. 자료 접근 허용 여부와 검색 근거의 충분함은 서로 다른 판단입니다.</a:t>
            </a:r>
            <a:br/>
            <a:r>
              <a:rPr lang="en-US" dirty="0"/>
              <a:t/>
            </a:r>
            <a:br/>
            <a:r>
              <a:rPr lang="en-US" dirty="0"/>
              <a:t>접근이 허용된 자료인가요?</a:t>
            </a:r>
            <a:br/>
            <a:r>
              <a:rPr lang="en-US" dirty="0"/>
              <a:t/>
            </a:r>
            <a:br/>
            <a:r>
              <a:rPr lang="en-US" dirty="0"/>
              <a:t>사용자와 자료의 허용 범위를 확인합니다.</a:t>
            </a:r>
            <a:br/>
            <a:r>
              <a:rPr lang="en-US" dirty="0"/>
              <a:t/>
            </a:r>
            <a:br/>
            <a:r>
              <a:rPr lang="en-US" dirty="0"/>
              <a:t>아니오 ↓</a:t>
            </a:r>
            <a:br/>
            <a:r>
              <a:rPr lang="en-US" dirty="0"/>
              <a:t/>
            </a:r>
            <a:br/>
            <a:r>
              <a:rPr lang="en-US" dirty="0"/>
              <a:t>예 ↓</a:t>
            </a:r>
            <a:br/>
            <a:r>
              <a:rPr lang="en-US" dirty="0"/>
              <a:t/>
            </a:r>
            <a:br/>
            <a:r>
              <a:rPr lang="en-US" dirty="0"/>
              <a:t>접근을 중단합니다</a:t>
            </a:r>
            <a:br/>
            <a:r>
              <a:rPr lang="en-US" dirty="0"/>
              <a:t/>
            </a:r>
            <a:br/>
            <a:r>
              <a:rPr lang="en-US" dirty="0"/>
              <a:t>권한을 우회하지 않고 거절 이유를 안내합니다.</a:t>
            </a:r>
            <a:br/>
            <a:r>
              <a:rPr lang="en-US" dirty="0"/>
              <a:t/>
            </a:r>
            <a:br/>
            <a:r>
              <a:rPr lang="en-US" dirty="0"/>
              <a:t>답변 근거가 충분한가요?</a:t>
            </a:r>
            <a:br/>
            <a:r>
              <a:rPr lang="en-US" dirty="0"/>
              <a:t/>
            </a:r>
            <a:br/>
            <a:r>
              <a:rPr lang="en-US" dirty="0"/>
              <a:t>관련 문서와 질문의 대응을 확인합니다.</a:t>
            </a:r>
            <a:br/>
            <a:r>
              <a:rPr lang="en-US" dirty="0"/>
              <a:t/>
            </a:r>
            <a:br/>
            <a:r>
              <a:rPr lang="en-US" dirty="0"/>
              <a:t>예 ↓</a:t>
            </a:r>
            <a:br/>
            <a:r>
              <a:rPr lang="en-US" dirty="0"/>
              <a:t/>
            </a:r>
            <a:br/>
            <a:r>
              <a:rPr lang="en-US" dirty="0"/>
              <a:t>아니오 ↓</a:t>
            </a:r>
            <a:br/>
            <a:r>
              <a:rPr lang="en-US" dirty="0"/>
              <a:t/>
            </a:r>
            <a:br/>
            <a:r>
              <a:rPr lang="en-US" dirty="0"/>
              <a:t>근거와 답변</a:t>
            </a:r>
            <a:br/>
            <a:r>
              <a:rPr lang="en-US" dirty="0"/>
              <a:t/>
            </a:r>
            <a:br/>
            <a:r>
              <a:rPr lang="en-US" dirty="0"/>
              <a:t>참조를 남겨 검토합니다.</a:t>
            </a:r>
            <a:br/>
            <a:r>
              <a:rPr lang="en-US" dirty="0"/>
              <a:t/>
            </a:r>
            <a:br/>
            <a:r>
              <a:rPr lang="en-US" dirty="0"/>
              <a:t>추가 확인</a:t>
            </a:r>
            <a:br/>
            <a:r>
              <a:rPr lang="en-US" dirty="0"/>
              <a:t/>
            </a:r>
            <a:br/>
            <a:r>
              <a:rPr lang="en-US" dirty="0"/>
              <a:t>정보나 검토를 요청합니다.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접근 허용은 응용의 통제 지점에서 확인합니다. 모델의 답변 지침만으로 대신하지 않습니다.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허용된 자료라도 답변 근거가 부족할 수 있습니다. 두 조건의 실패 경로를 구분합니다.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설명용 분기입니다. 실제 인증·오류·재시도와 사람 검토 절차는 별도 구현이 필요합니다.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피라미드는 설계 판단의 의존 관계를 표현합니다. 서비스의 과금 계층이나 기능 제공 단계가 아닙니다.</a:t>
            </a:r>
            <a:br/>
            <a:r>
              <a:rPr lang="en-US" dirty="0"/>
              <a:t>아래층은 상위 기능을 사용하기 전에 정해야 할 조건을 강조하며, 일방향 일정표를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모델이나 에이전트 기능을 늘리는 것보다 바닥의 조건이 무엇인지 먼저 보겠습니다.</a:t>
            </a:r>
            <a:br/>
            <a:r>
              <a:rPr lang="en-US" dirty="0"/>
              <a:t>검증 기록 없이 확장하면 남은 질문의 범위도 함께 커집니다.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PYRAMID</a:t>
            </a:r>
            <a:br/>
            <a:r>
              <a:rPr lang="en-US" dirty="0"/>
              <a:t>16 / 20</a:t>
            </a:r>
            <a:br/>
            <a:r>
              <a:rPr lang="en-US" dirty="0"/>
              <a:t>확장보다 업무와 통제의 기반을 먼저 놓습니다</a:t>
            </a:r>
            <a:br/>
            <a:r>
              <a:rPr lang="en-US" dirty="0"/>
              <a:t/>
            </a:r>
            <a:br/>
            <a:r>
              <a:rPr lang="en-US" dirty="0"/>
              <a:t>가상 도입 원칙을 기반·검증·확장의 세 층으로 읽습니다. 공식 제품 계층이나 성숙도 점수가 아닙니다.</a:t>
            </a:r>
            <a:br/>
            <a:r>
              <a:rPr lang="en-US" dirty="0"/>
              <a:t/>
            </a:r>
            <a:br/>
            <a:r>
              <a:rPr lang="en-US" dirty="0"/>
              <a:t>03 · 범위 확장</a:t>
            </a:r>
            <a:br/>
            <a:r>
              <a:rPr lang="en-US" dirty="0"/>
              <a:t/>
            </a:r>
            <a:br/>
            <a:r>
              <a:rPr lang="en-US" dirty="0"/>
              <a:t>새 업무와 사용자를 검토합니다.</a:t>
            </a:r>
            <a:br/>
            <a:r>
              <a:rPr lang="en-US" dirty="0"/>
              <a:t/>
            </a:r>
            <a:br/>
            <a:r>
              <a:rPr lang="en-US" dirty="0"/>
              <a:t>02 · 평가와 검토</a:t>
            </a:r>
            <a:br/>
            <a:r>
              <a:rPr lang="en-US" dirty="0"/>
              <a:t/>
            </a:r>
            <a:br/>
            <a:r>
              <a:rPr lang="en-US" dirty="0"/>
              <a:t>대표 질문·실패 조건·운영 신호를 확인합니다.</a:t>
            </a:r>
            <a:br/>
            <a:r>
              <a:rPr lang="en-US" dirty="0"/>
              <a:t/>
            </a:r>
            <a:br/>
            <a:r>
              <a:rPr lang="en-US" dirty="0"/>
              <a:t>01 · 업무와 통제</a:t>
            </a:r>
            <a:br/>
            <a:r>
              <a:rPr lang="en-US" dirty="0"/>
              <a:t/>
            </a:r>
            <a:br/>
            <a:r>
              <a:rPr lang="en-US" dirty="0"/>
              <a:t>업무 범위·접근 조건·담당 책임을 합의합니다.</a:t>
            </a:r>
            <a:br/>
            <a:r>
              <a:rPr lang="en-US" dirty="0"/>
              <a:t/>
            </a:r>
            <a:br/>
            <a:r>
              <a:rPr lang="en-US" dirty="0"/>
              <a:t>아래 기반부터 위 확장으로 · 면적은 정량 데이터가 아닙니다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기반에는 업무 범위, 자료 접근 조건과 허용 행동을 둡니다. 기능 수보다 먼저 합의합니다.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조건을 검증한 뒤 범위를 넓힙니다. 평가 기록을 다음 단계의 근거로 씁니다.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층의 면적과 높이는 수치가 아닙니다. 실제 도입에서는 병렬 작업과 재검토가 가능합니다.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각 단계는 숫자로 연결된 고객 획득 퍼널이 아니라 업무 후보를 검토하는 제안입니다.</a:t>
            </a:r>
            <a:br/>
            <a:r>
              <a:rPr lang="en-US" dirty="0"/>
              <a:t>후보를 제외하거나 보류하는 조건은 조직의 자료 이용 정책과 검증 결과에 따라 달라집니다.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많은 후보를 곧바로 배포하지 않고, 확인 가능한 업무 하나로 좁히겠습니다.</a:t>
            </a:r>
            <a:br/>
            <a:r>
              <a:rPr lang="en-US" dirty="0"/>
              <a:t>줄어드는 폭이 실제 수량을 표현한 것은 아니라는 점도 함께 밝힙니다.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FUNNEL</a:t>
            </a:r>
            <a:br/>
            <a:r>
              <a:rPr lang="en-US" dirty="0"/>
              <a:t>17 / 20</a:t>
            </a:r>
            <a:br/>
            <a:r>
              <a:rPr lang="en-US" dirty="0"/>
              <a:t>업무 후보를 검증 가능한 작은 범위로 좁힙니다</a:t>
            </a:r>
            <a:br/>
            <a:r>
              <a:rPr lang="en-US" dirty="0"/>
              <a:t/>
            </a:r>
            <a:br/>
            <a:r>
              <a:rPr lang="en-US" dirty="0"/>
              <a:t>가상 업무 선정 흐름입니다. 도입 사례의 수량·전환율·성과를 측정한 퍼널이 아닙니다.</a:t>
            </a:r>
            <a:br/>
            <a:r>
              <a:rPr lang="en-US" dirty="0"/>
              <a:t/>
            </a:r>
            <a:br/>
            <a:r>
              <a:rPr lang="en-US" dirty="0"/>
              <a:t>업무 후보</a:t>
            </a:r>
            <a:br/>
            <a:r>
              <a:rPr lang="en-US" dirty="0"/>
              <a:t/>
            </a:r>
            <a:br/>
            <a:r>
              <a:rPr lang="en-US" dirty="0"/>
              <a:t>반복 질문과 자료 위치를 살펴봅니다.</a:t>
            </a:r>
            <a:br/>
            <a:r>
              <a:rPr lang="en-US" dirty="0"/>
              <a:t/>
            </a:r>
            <a:br/>
            <a:r>
              <a:rPr lang="en-US" dirty="0"/>
              <a:t>자료 확인</a:t>
            </a:r>
            <a:br/>
            <a:r>
              <a:rPr lang="en-US" dirty="0"/>
              <a:t/>
            </a:r>
            <a:br/>
            <a:r>
              <a:rPr lang="en-US" dirty="0"/>
              <a:t>접근 범위와 이용 조건을 확인합니다.</a:t>
            </a:r>
            <a:br/>
            <a:r>
              <a:rPr lang="en-US" dirty="0"/>
              <a:t/>
            </a:r>
            <a:br/>
            <a:r>
              <a:rPr lang="en-US" dirty="0"/>
              <a:t>제한 실험</a:t>
            </a:r>
            <a:br/>
            <a:r>
              <a:rPr lang="en-US" dirty="0"/>
              <a:t/>
            </a:r>
            <a:br/>
            <a:r>
              <a:rPr lang="en-US" dirty="0"/>
              <a:t>대표 질문과 실패 조건을 검토합니다.</a:t>
            </a:r>
            <a:br/>
            <a:r>
              <a:rPr lang="en-US" dirty="0"/>
              <a:t/>
            </a:r>
            <a:br/>
            <a:r>
              <a:rPr lang="en-US" dirty="0"/>
              <a:t>범위 합의</a:t>
            </a:r>
            <a:br/>
            <a:r>
              <a:rPr lang="en-US" dirty="0"/>
              <a:t/>
            </a:r>
            <a:br/>
            <a:r>
              <a:rPr lang="en-US" dirty="0"/>
              <a:t>담당자와 남은 질문을 남깁니다.</a:t>
            </a:r>
            <a:br/>
            <a:r>
              <a:rPr lang="en-US" dirty="0"/>
              <a:t/>
            </a:r>
            <a:br/>
            <a:r>
              <a:rPr lang="en-US" dirty="0"/>
              <a:t>선정 기준으로 범위를 좁힙니다 · 폭은 실제 전환율이 아닙니다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반복 질문과 자료 위치가 명확한 업무부터 후보로 모읍니다. 자료 이용 조건을 함께 확인합니다.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작은 실험에서 확인할 질문과 제외할 행동을 명확히 합니다. 보류한 이유도 기록합니다.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폭은 정성적인 범위 축소만 나타냅니다. 고객 도입률이나 실제 검증 성공률로 인용하지 않습니다.</a:t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네 사례와 구역 배치는 템플릿을 읽는 방법을 설명하기 위해 설정한 가정입니다.</a:t>
            </a:r>
            <a:br/>
            <a:r>
              <a:rPr lang="en-US" dirty="0"/>
              <a:t>실제 데이터, 발생 빈도, 공격 가능성 또는 고객 환경을 평가하지 않았습니다.</a:t>
            </a:r>
            <a:br/>
            <a:r>
              <a:rPr lang="en-US" dirty="0"/>
              <a:t>위험도 맵만으로 대응 수준을 결정하지 않고 구체적인 증거와 책임자를 연결해야 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확률을 측정한 그림이 아니라 두 질문을 분리하는 연습입니다.</a:t>
            </a:r>
            <a:br/>
            <a:r>
              <a:rPr lang="en-US" dirty="0"/>
              <a:t>가능성이 낮다고 가정한 문제라도 영향이 크면 대비와 확인이 필요합니다.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What is Microsoft Foundry Agent Service?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https://learn.microsoft.com/en-us/azure/foundry/agents/overview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RISKMAP</a:t>
            </a:r>
            <a:br/>
            <a:r>
              <a:rPr lang="en-US" dirty="0"/>
              <a:t>18 / 20</a:t>
            </a:r>
            <a:br/>
            <a:r>
              <a:rPr lang="en-US" dirty="0"/>
              <a:t>영향과 가능성을 나누어 대응 순서를 정합니다</a:t>
            </a:r>
            <a:br/>
            <a:r>
              <a:rPr lang="en-US" dirty="0"/>
              <a:t/>
            </a:r>
            <a:br/>
            <a:r>
              <a:rPr lang="en-US" dirty="0"/>
              <a:t>가상의 검토 연습입니다. 구역 배치는 실제 시스템의 위험 평가나 발생 확률을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영향 ↑</a:t>
            </a:r>
            <a:br/>
            <a:r>
              <a:rPr lang="en-US" dirty="0"/>
              <a:t/>
            </a:r>
            <a:br/>
            <a:r>
              <a:rPr lang="en-US" dirty="0"/>
              <a:t>가능성 → 낮음에서 높음</a:t>
            </a:r>
            <a:br/>
            <a:r>
              <a:rPr lang="en-US" dirty="0"/>
              <a:t/>
            </a:r>
            <a:br/>
            <a:r>
              <a:rPr lang="en-US" dirty="0"/>
              <a:t>높은 영향 · 낮은 가능성</a:t>
            </a:r>
            <a:br/>
            <a:r>
              <a:rPr lang="en-US" dirty="0"/>
              <a:t>권한 밖 자료 노출</a:t>
            </a:r>
            <a:br/>
            <a:r>
              <a:rPr lang="en-US" dirty="0"/>
              <a:t/>
            </a:r>
            <a:br/>
            <a:r>
              <a:rPr lang="en-US" dirty="0"/>
              <a:t>낮은 가능성으로 가정해도 접근 통제와 점검을 둡니다.</a:t>
            </a:r>
            <a:br/>
            <a:r>
              <a:rPr lang="en-US" dirty="0"/>
              <a:t/>
            </a:r>
            <a:br/>
            <a:r>
              <a:rPr lang="en-US" dirty="0"/>
              <a:t>높은 영향 · 높은 가능성</a:t>
            </a:r>
            <a:br/>
            <a:r>
              <a:rPr lang="en-US" dirty="0"/>
              <a:t>근거 없는 중요 답변</a:t>
            </a:r>
            <a:br/>
            <a:r>
              <a:rPr lang="en-US" dirty="0"/>
              <a:t/>
            </a:r>
            <a:br/>
            <a:r>
              <a:rPr lang="en-US" dirty="0"/>
              <a:t>높은 영향과 가능성을 가정하고 우선 확인합니다.</a:t>
            </a:r>
            <a:br/>
            <a:r>
              <a:rPr lang="en-US" dirty="0"/>
              <a:t/>
            </a:r>
            <a:br/>
            <a:r>
              <a:rPr lang="en-US" dirty="0"/>
              <a:t>낮은 영향 · 낮은 가능성</a:t>
            </a:r>
            <a:br/>
            <a:r>
              <a:rPr lang="en-US" dirty="0"/>
              <a:t>드문 표시 오류</a:t>
            </a:r>
            <a:br/>
            <a:r>
              <a:rPr lang="en-US" dirty="0"/>
              <a:t/>
            </a:r>
            <a:br/>
            <a:r>
              <a:rPr lang="en-US" dirty="0"/>
              <a:t>낮은 영향으로 가정하고 변화 신호를 살펴봅니다.</a:t>
            </a:r>
            <a:br/>
            <a:r>
              <a:rPr lang="en-US" dirty="0"/>
              <a:t/>
            </a:r>
            <a:br/>
            <a:r>
              <a:rPr lang="en-US" dirty="0"/>
              <a:t>낮은 영향 · 높은 가능성</a:t>
            </a:r>
            <a:br/>
            <a:r>
              <a:rPr lang="en-US" dirty="0"/>
              <a:t>반복 형식 오류</a:t>
            </a:r>
            <a:br/>
            <a:r>
              <a:rPr lang="en-US" dirty="0"/>
              <a:t/>
            </a:r>
            <a:br/>
            <a:r>
              <a:rPr lang="en-US" dirty="0"/>
              <a:t>작은 실패가 반복되지 않게 입력·출력을 점검합니다.</a:t>
            </a:r>
            <a:br/>
            <a:r>
              <a:rPr lang="en-US" dirty="0"/>
              <a:t/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영향은 위로, 가능성은 오른쪽으로 커집니다. 두 축의 판단 기준을 먼저 합의합니다.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같은 문제도 입력 자료와 허용 행동에 따라 위치가 달라집니다. 증거에 따라 다시 분류합니다.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표시한 위치는 설명용 가정입니다. 실제 위험 수용·출시 승인은 담당자의 검토가 필요합니다.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역할과 단계의 교차표는 단일 담당자에게 모든 책임을 모으지 않도록 돕는 설계 예시입니다.</a:t>
            </a:r>
            <a:br/>
            <a:r>
              <a:rPr lang="en-US" dirty="0"/>
              <a:t>어떤 승인과 기록이 필요한지는 실제 조직 정책과 업무의 위험에 따라 달라집니다.</a:t>
            </a:r>
            <a:br/>
            <a:r>
              <a:rPr lang="en-US" dirty="0"/>
              <a:t>평가 기록과 운영 신호가 다음 단계의 담당자에게 전달되는 지점을 확인합니다.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행을 따라가면 담당자의 일이 보이고, 열을 따라가면 같은 단계의 협업이 보입니다.</a:t>
            </a:r>
            <a:br/>
            <a:r>
              <a:rPr lang="en-US" dirty="0"/>
              <a:t>셀을 완료 표시로 채우기 전에 무엇을 근거로 넘길지 합의하겠습니다.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SWIMLANE</a:t>
            </a:r>
            <a:br/>
            <a:r>
              <a:rPr lang="en-US" dirty="0"/>
              <a:t>19 / 20</a:t>
            </a:r>
            <a:br/>
            <a:r>
              <a:rPr lang="en-US" dirty="0"/>
              <a:t>단계마다 맡을 일과 넘길 근거를 연결합니다</a:t>
            </a:r>
            <a:br/>
            <a:r>
              <a:rPr lang="en-US" dirty="0"/>
              <a:t/>
            </a:r>
            <a:br/>
            <a:r>
              <a:rPr lang="en-US" dirty="0"/>
              <a:t>가상의 협업 예시입니다. 행은 담당 역할, 열은 단계이며 실제 조직의 역할 배정을 뜻하지 않습니다.</a:t>
            </a:r>
            <a:br/>
            <a:r>
              <a:rPr lang="en-US" dirty="0"/>
              <a:t/>
            </a:r>
            <a:br/>
            <a:r>
              <a:rPr lang="en-US" dirty="0"/>
              <a:t>역할	범위·근거	구현·평가	출시·운영</a:t>
            </a:r>
            <a:br/>
            <a:r>
              <a:rPr lang="en-US" dirty="0"/>
              <a:t>업무 담당	업무·대표 질문 정의	답변 검토 기준 제공	사용 범위와 보류 조건 확인</a:t>
            </a:r>
            <a:br/>
            <a:r>
              <a:rPr lang="en-US" dirty="0"/>
              <a:t>개발 담당	자료 접근 조건 확인	응용 구현·실패 사례 기록	릴리스 근거·남은 문제 인계</a:t>
            </a:r>
            <a:br/>
            <a:r>
              <a:rPr lang="en-US" dirty="0"/>
              <a:t>운영 담당	관측·기록 범위 합의	신호·대응 절차 검토	상태 확인·재검토 연결</a:t>
            </a:r>
            <a:br/>
            <a:r>
              <a:rPr lang="en-US" dirty="0"/>
              <a:t>판단 기준</a:t>
            </a:r>
            <a:br/>
            <a:r>
              <a:rPr lang="en-US" dirty="0"/>
              <a:t/>
            </a:r>
            <a:br/>
            <a:r>
              <a:rPr lang="en-US" dirty="0"/>
              <a:t>셀은 해당 역할의 행동과 전달할 근거입니다. 색상은 권한이나 승인 완료 상태를 뜻하지 않습니다.</a:t>
            </a:r>
            <a:br/>
            <a:r>
              <a:rPr lang="en-US" dirty="0"/>
              <a:t/>
            </a:r>
            <a:br/>
            <a:r>
              <a:rPr lang="en-US" dirty="0"/>
              <a:t>읽는 관점</a:t>
            </a:r>
            <a:br/>
            <a:r>
              <a:rPr lang="en-US" dirty="0"/>
              <a:t/>
            </a:r>
            <a:br/>
            <a:r>
              <a:rPr lang="en-US" dirty="0"/>
              <a:t>각 인계에는 조건과 담당자를 남깁니다. 개발 완료만으로 출시 승인을 대신하지 않습니다.</a:t>
            </a:r>
            <a:br/>
            <a:r>
              <a:rPr lang="en-US" dirty="0"/>
              <a:t/>
            </a:r>
            <a:br/>
            <a:r>
              <a:rPr lang="en-US" dirty="0"/>
              <a:t>범위와 한계</a:t>
            </a:r>
            <a:br/>
            <a:r>
              <a:rPr lang="en-US" dirty="0"/>
              <a:t/>
            </a:r>
            <a:br/>
            <a:r>
              <a:rPr lang="en-US" dirty="0"/>
              <a:t>실제 팀의 책임·승인·운영 절차는 별도 합의합니다. 이 표는 조직별 RACI를 대체하지 않습니다.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설명</a:t>
            </a:r>
            <a:br/>
            <a:r>
              <a:rPr lang="en-US" dirty="0"/>
              <a:t>20종 템플릿은 동일한 주제를 여러 정보 구조로 설명하는 예시입니다.</a:t>
            </a:r>
            <a:br/>
            <a:r>
              <a:rPr lang="en-US" dirty="0"/>
              <a:t>실제 도입에서는 모든 템플릿을 채우기보다 판단에 필요한 구조를 선택합니다.</a:t>
            </a:r>
            <a:br/>
            <a:r>
              <a:rPr lang="en-US" dirty="0"/>
              <a:t/>
            </a:r>
            <a:br/>
            <a:r>
              <a:rPr lang="en-US" dirty="0"/>
              <a:t>발표 스크립트</a:t>
            </a:r>
            <a:br/>
            <a:r>
              <a:rPr lang="en-US" dirty="0"/>
              <a:t>첫 업무 하나, 확인할 근거, 검토할 사람을 남기겠습니다.</a:t>
            </a:r>
            <a:br/>
            <a:r>
              <a:rPr lang="en-US" dirty="0"/>
              <a:t>그 세 가지가 합의되면 작은 실행으로 다음 질문을 확인할 수 있습니다.</a:t>
            </a:r>
            <a:br/>
            <a:r>
              <a:rPr lang="en-US" dirty="0"/>
              <a:t/>
            </a:r>
            <a:br/>
            <a:r>
              <a:rPr lang="en-US" dirty="0"/>
              <a:t>출처</a:t>
            </a:r>
            <a:br/>
            <a:r>
              <a:rPr lang="en-US" dirty="0"/>
              <a:t>What is Microsoft Foundry? · 확인 2026-09-30</a:t>
            </a:r>
            <a:br/>
            <a:r>
              <a:rPr lang="en-US" dirty="0"/>
              <a:t>Observability in Generative AI · 확인 2026-09-30</a:t>
            </a:r>
            <a:br/>
            <a:r>
              <a:rPr lang="en-US" dirty="0"/>
              <a:t>Microsoft Foundry portal general availability overview · 확인 2026-09-30</a:t>
            </a:r>
            <a:br/>
            <a:r>
              <a:rPr lang="en-US" dirty="0"/>
              <a:t/>
            </a:r>
            <a:br/>
            <a:r>
              <a:rPr lang="en-US" dirty="0"/>
              <a:t>출처 URL</a:t>
            </a:r>
            <a:br/>
            <a:r>
              <a:rPr lang="en-US" dirty="0"/>
              <a:t>https://learn.microsoft.com/en-us/azure/foundry/what-is-foundry</a:t>
            </a:r>
            <a:br/>
            <a:r>
              <a:rPr lang="en-US" dirty="0"/>
              <a:t>https://learn.microsoft.com/en-us/azure/foundry/concepts/observability</a:t>
            </a:r>
            <a:br/>
            <a:r>
              <a:rPr lang="en-US" dirty="0"/>
              <a:t>https://learn.microsoft.com/en-us/azure/foundry/concepts/general-availability</a:t>
            </a:r>
            <a:br/>
            <a:r>
              <a:rPr lang="en-US" dirty="0"/>
              <a:t/>
            </a:r>
            <a:br/>
            <a:r>
              <a:rPr lang="en-US" dirty="0"/>
              <a:t>시트 전사</a:t>
            </a:r>
            <a:br/>
            <a:r>
              <a:rPr lang="en-US" dirty="0"/>
              <a:t>FOUNDRY / CLOSING</a:t>
            </a:r>
            <a:br/>
            <a:r>
              <a:rPr lang="en-US" dirty="0"/>
              <a:t>20 / 20</a:t>
            </a:r>
            <a:br/>
            <a:r>
              <a:rPr lang="en-US" dirty="0"/>
              <a:t>작은 업무와 명확한 출시 근거를 남깁니다</a:t>
            </a:r>
            <a:br/>
            <a:r>
              <a:rPr lang="en-US" dirty="0"/>
              <a:t>→</a:t>
            </a:r>
            <a:br/>
            <a:r>
              <a:rPr lang="en-US" dirty="0"/>
              <a:t/>
            </a:r>
            <a:br/>
            <a:r>
              <a:rPr lang="en-US" dirty="0"/>
              <a:t>Foundry 도입은 기능 목록보다 업무·통제·검증을 연결하는 일입니다.</a:t>
            </a:r>
            <a:br/>
            <a:r>
              <a:rPr lang="en-US" dirty="0"/>
              <a:t/>
            </a:r>
            <a:br/>
            <a:r>
              <a:rPr lang="en-US" dirty="0"/>
              <a:t>이제 정할 것</a:t>
            </a:r>
            <a:br/>
            <a:r>
              <a:rPr lang="en-US" dirty="0"/>
              <a:t/>
            </a:r>
            <a:br/>
            <a:r>
              <a:rPr lang="en-US" dirty="0"/>
              <a:t>모델과 도구, 에이전트의 역할을 구분한 뒤 필요한 구현 범위를 선택합니다.</a:t>
            </a:r>
            <a:br/>
            <a:r>
              <a:rPr lang="en-US" dirty="0"/>
              <a:t/>
            </a:r>
            <a:br/>
            <a:r>
              <a:rPr lang="en-US" dirty="0"/>
              <a:t>01</a:t>
            </a:r>
            <a:br/>
            <a:r>
              <a:rPr lang="en-US" dirty="0"/>
              <a:t>첫 업무를 고릅니다</a:t>
            </a:r>
            <a:br/>
            <a:r>
              <a:rPr lang="en-US" dirty="0"/>
              <a:t/>
            </a:r>
            <a:br/>
            <a:r>
              <a:rPr lang="en-US" dirty="0"/>
              <a:t>질문·데이터·허용 행동이 명확한 사례 하나로 범위를 좁힙니다.</a:t>
            </a:r>
            <a:br/>
            <a:r>
              <a:rPr lang="en-US" dirty="0"/>
              <a:t/>
            </a:r>
            <a:br/>
            <a:r>
              <a:rPr lang="en-US" dirty="0"/>
              <a:t>02</a:t>
            </a:r>
            <a:br/>
            <a:r>
              <a:rPr lang="en-US" dirty="0"/>
              <a:t>필요한 증거를 정합니다</a:t>
            </a:r>
            <a:br/>
            <a:r>
              <a:rPr lang="en-US" dirty="0"/>
              <a:t/>
            </a:r>
            <a:br/>
            <a:r>
              <a:rPr lang="en-US" dirty="0"/>
              <a:t>대표 질문, 실패 조건과 출시·보류 기준을 합의합니다.</a:t>
            </a:r>
            <a:br/>
            <a:r>
              <a:rPr lang="en-US" dirty="0"/>
              <a:t/>
            </a:r>
            <a:br/>
            <a:r>
              <a:rPr lang="en-US" dirty="0"/>
              <a:t>03</a:t>
            </a:r>
            <a:br/>
            <a:r>
              <a:rPr lang="en-US" dirty="0"/>
              <a:t>검토 책임을 연결합니다</a:t>
            </a:r>
            <a:br/>
            <a:r>
              <a:rPr lang="en-US" dirty="0"/>
              <a:t/>
            </a:r>
            <a:br/>
            <a:r>
              <a:rPr lang="en-US" dirty="0"/>
              <a:t>담당자, 남은 질문과 다음 확인 시점을 기록합니다.</a:t>
            </a:r>
            <a:br/>
            <a:r>
              <a:rPr lang="en-US" dirty="0"/>
              <a:t/>
            </a:r>
            <a:br/>
            <a:r>
              <a:rPr lang="en-US" dirty="0"/>
              <a:t>남길 합의</a:t>
            </a:r>
            <a:br/>
            <a:r>
              <a:rPr lang="en-US" dirty="0"/>
              <a:t/>
            </a:r>
            <a:br/>
            <a:r>
              <a:rPr lang="en-US" dirty="0"/>
              <a:t>작게 시작하되 접근 조건과 평가 기록, 운영 책임은 처음부터 함께 설계합니다.</a:t>
            </a:r>
            <a:br/>
            <a:r>
              <a:rPr lang="en-US" dirty="0"/>
              <a:t/>
            </a:r>
            <a:br/>
            <a:r>
              <a:rPr lang="en-US" dirty="0"/>
              <a:t>남길 질문</a:t>
            </a:r>
            <a:br/>
            <a:r>
              <a:rPr lang="en-US" dirty="0"/>
              <a:t/>
            </a:r>
            <a:br/>
            <a:r>
              <a:rPr lang="en-US" dirty="0"/>
              <a:t>미확인 기능·리전·비용과 남은 실패 사례를 숨기지 않습니다. 이 자료는 실제 배포 보고서가 아닙니다.</a:t>
            </a:r>
            <a:br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2150"/>
            <a:ext cx="5168856" cy="59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800" b="1" spc="-13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실험에서 운영 판단까지</a:t>
            </a:r>
            <a:endParaRPr lang="ko-KR" sz="38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37741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COVER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24270" y="279400"/>
            <a:ext cx="23341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Shape 6"/>
          <p:cNvSpPr/>
          <p:nvPr/>
        </p:nvSpPr>
        <p:spPr>
          <a:xfrm>
            <a:off x="762000" y="2032000"/>
            <a:ext cx="0" cy="2616200"/>
          </a:xfrm>
          <a:prstGeom prst="line">
            <a:avLst/>
          </a:prstGeom>
          <a:noFill/>
          <a:ln w="635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3300" y="1955800"/>
            <a:ext cx="669981" cy="875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5600" b="1" spc="-336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5600" dirty="0"/>
          </a:p>
        </p:txBody>
      </p:sp>
      <p:sp>
        <p:nvSpPr>
          <p:cNvPr id="10" name="Text 8"/>
          <p:cNvSpPr/>
          <p:nvPr/>
        </p:nvSpPr>
        <p:spPr>
          <a:xfrm>
            <a:off x="1003300" y="2901950"/>
            <a:ext cx="231760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Microsoft Foundry에서 모델·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1003300" y="3166070"/>
            <a:ext cx="225321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에이전트·도구와 평가를 함께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1003300" y="3430191"/>
            <a:ext cx="93856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이해합니다.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3746500" y="2032000"/>
            <a:ext cx="76835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6500" y="2912467"/>
            <a:ext cx="768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6500" y="2229941"/>
            <a:ext cx="264573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800" dirty="0"/>
          </a:p>
        </p:txBody>
      </p:sp>
      <p:sp>
        <p:nvSpPr>
          <p:cNvPr id="16" name="Text 14"/>
          <p:cNvSpPr/>
          <p:nvPr/>
        </p:nvSpPr>
        <p:spPr>
          <a:xfrm>
            <a:off x="4254500" y="2217241"/>
            <a:ext cx="1445871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역할을 구분합니다</a:t>
            </a:r>
            <a:endParaRPr lang="ko-KR" sz="1600" dirty="0"/>
          </a:p>
        </p:txBody>
      </p:sp>
      <p:sp>
        <p:nvSpPr>
          <p:cNvPr id="17" name="Text 15"/>
          <p:cNvSpPr/>
          <p:nvPr/>
        </p:nvSpPr>
        <p:spPr>
          <a:xfrm>
            <a:off x="4254500" y="2514402"/>
            <a:ext cx="368583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모델, 에이전트, 도구가 각각 무엇을 담당하는지 살펴봅니다.</a:t>
            </a:r>
            <a:endParaRPr lang="ko-KR" sz="1250" dirty="0"/>
          </a:p>
        </p:txBody>
      </p:sp>
      <p:sp>
        <p:nvSpPr>
          <p:cNvPr id="18" name="Shape 16"/>
          <p:cNvSpPr/>
          <p:nvPr/>
        </p:nvSpPr>
        <p:spPr>
          <a:xfrm>
            <a:off x="3746500" y="3780334"/>
            <a:ext cx="768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6500" y="3097808"/>
            <a:ext cx="300887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800" dirty="0"/>
          </a:p>
        </p:txBody>
      </p:sp>
      <p:sp>
        <p:nvSpPr>
          <p:cNvPr id="20" name="Text 18"/>
          <p:cNvSpPr/>
          <p:nvPr/>
        </p:nvSpPr>
        <p:spPr>
          <a:xfrm>
            <a:off x="4254500" y="3085108"/>
            <a:ext cx="166494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구현 경로를 고릅니다</a:t>
            </a:r>
            <a:endParaRPr lang="ko-KR" sz="1600" dirty="0"/>
          </a:p>
        </p:txBody>
      </p:sp>
      <p:sp>
        <p:nvSpPr>
          <p:cNvPr id="21" name="Text 19"/>
          <p:cNvSpPr/>
          <p:nvPr/>
        </p:nvSpPr>
        <p:spPr>
          <a:xfrm>
            <a:off x="4254500" y="3382268"/>
            <a:ext cx="452145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직접 호출부터 코드 기반 에이전트까지 필요한 제어 수준으로 선택합니다.</a:t>
            </a:r>
            <a:endParaRPr lang="ko-KR" sz="1250" dirty="0"/>
          </a:p>
        </p:txBody>
      </p:sp>
      <p:sp>
        <p:nvSpPr>
          <p:cNvPr id="22" name="Shape 20"/>
          <p:cNvSpPr/>
          <p:nvPr/>
        </p:nvSpPr>
        <p:spPr>
          <a:xfrm>
            <a:off x="3746500" y="4648200"/>
            <a:ext cx="768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6500" y="3965674"/>
            <a:ext cx="299498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800" dirty="0"/>
          </a:p>
        </p:txBody>
      </p:sp>
      <p:sp>
        <p:nvSpPr>
          <p:cNvPr id="24" name="Text 22"/>
          <p:cNvSpPr/>
          <p:nvPr/>
        </p:nvSpPr>
        <p:spPr>
          <a:xfrm>
            <a:off x="4254500" y="3952974"/>
            <a:ext cx="2006358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근거로 출시를 판단합니다</a:t>
            </a:r>
            <a:endParaRPr lang="ko-KR" sz="1600" dirty="0"/>
          </a:p>
        </p:txBody>
      </p:sp>
      <p:sp>
        <p:nvSpPr>
          <p:cNvPr id="25" name="Text 23"/>
          <p:cNvSpPr/>
          <p:nvPr/>
        </p:nvSpPr>
        <p:spPr>
          <a:xfrm>
            <a:off x="4254500" y="4250134"/>
            <a:ext cx="418718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결과와 실패 사례, 운영 책임을 연결해 진행 여부를 결정합니다.</a:t>
            </a:r>
            <a:endParaRPr lang="ko-KR" sz="1250" dirty="0"/>
          </a:p>
        </p:txBody>
      </p:sp>
      <p:sp>
        <p:nvSpPr>
          <p:cNvPr id="26" name="Shape 24"/>
          <p:cNvSpPr/>
          <p:nvPr/>
        </p:nvSpPr>
        <p:spPr>
          <a:xfrm>
            <a:off x="762000" y="47244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4806950"/>
            <a:ext cx="4439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출발점</a:t>
            </a:r>
            <a:endParaRPr lang="ko-KR" sz="1250" dirty="0"/>
          </a:p>
        </p:txBody>
      </p:sp>
      <p:sp>
        <p:nvSpPr>
          <p:cNvPr id="28" name="Text 26"/>
          <p:cNvSpPr/>
          <p:nvPr/>
        </p:nvSpPr>
        <p:spPr>
          <a:xfrm>
            <a:off x="762000" y="5065713"/>
            <a:ext cx="279604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좋은 답변 한 번보다 반복 가능한 업무 결과가</a:t>
            </a:r>
            <a:endParaRPr 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762000" y="5272088"/>
            <a:ext cx="333360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중요합니다. 해결할 문제와 허용할 행동부터 정합니다.</a:t>
            </a:r>
            <a:endParaRPr lang="ko-KR" sz="1250" dirty="0"/>
          </a:p>
        </p:txBody>
      </p:sp>
      <p:sp>
        <p:nvSpPr>
          <p:cNvPr id="30" name="Shape 28"/>
          <p:cNvSpPr/>
          <p:nvPr/>
        </p:nvSpPr>
        <p:spPr>
          <a:xfrm>
            <a:off x="4385667" y="47244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5667" y="48069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읽는 방향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4385667" y="5065713"/>
            <a:ext cx="286777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기능을 고르기 전에 업무 범위, 통제 조건, 출시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4385667" y="52720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근거를 연결합니다.</a:t>
            </a:r>
            <a:endParaRPr lang="ko-KR" sz="1250" dirty="0"/>
          </a:p>
        </p:txBody>
      </p:sp>
      <p:sp>
        <p:nvSpPr>
          <p:cNvPr id="34" name="Shape 32"/>
          <p:cNvSpPr/>
          <p:nvPr/>
        </p:nvSpPr>
        <p:spPr>
          <a:xfrm>
            <a:off x="8009434" y="47244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9434" y="48069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</a:t>
            </a:r>
            <a:endParaRPr lang="ko-KR" sz="1250" dirty="0"/>
          </a:p>
        </p:txBody>
      </p:sp>
      <p:sp>
        <p:nvSpPr>
          <p:cNvPr id="36" name="Text 34"/>
          <p:cNvSpPr/>
          <p:nvPr/>
        </p:nvSpPr>
        <p:spPr>
          <a:xfrm>
            <a:off x="8009434" y="5065713"/>
            <a:ext cx="291163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Azure AI Foundry의 현재 브랜드는 Microsoft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8009434" y="5272088"/>
            <a:ext cx="316493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Foundry입니다. 모든 기능이 모든 리전에 제공되는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8009434" y="5478463"/>
            <a:ext cx="9336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것은 아닙니다.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125101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좋은 시연과 운영 준비는 다릅니다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5859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CONTRAST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94008" y="279400"/>
            <a:ext cx="2636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511955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AI 응답도 실험과 업무 운영에서는 확인해야 할 조건이 달라집니다.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39116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3600" y="2552700"/>
            <a:ext cx="0" cy="234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4902200"/>
            <a:ext cx="39116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552700"/>
            <a:ext cx="0" cy="234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150" y="2692400"/>
            <a:ext cx="316167" cy="35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2200" dirty="0"/>
          </a:p>
        </p:txBody>
      </p:sp>
      <p:sp>
        <p:nvSpPr>
          <p:cNvPr id="14" name="Text 12"/>
          <p:cNvSpPr/>
          <p:nvPr/>
        </p:nvSpPr>
        <p:spPr>
          <a:xfrm>
            <a:off x="946150" y="3092450"/>
            <a:ext cx="1209433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실험 · 가능한가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946150" y="3440410"/>
            <a:ext cx="27124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짧은 입력으로 모델의 응답을 살펴보고 업무</a:t>
            </a:r>
            <a:endParaRPr lang="ko-KR" sz="1250" dirty="0"/>
          </a:p>
        </p:txBody>
      </p:sp>
      <p:sp>
        <p:nvSpPr>
          <p:cNvPr id="16" name="Text 14"/>
          <p:cNvSpPr/>
          <p:nvPr/>
        </p:nvSpPr>
        <p:spPr>
          <a:xfrm>
            <a:off x="946150" y="3646785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가설을 좁힙니다.</a:t>
            </a:r>
            <a:endParaRPr lang="ko-KR" sz="1250" dirty="0"/>
          </a:p>
        </p:txBody>
      </p:sp>
      <p:sp>
        <p:nvSpPr>
          <p:cNvPr id="17" name="Shape 15"/>
          <p:cNvSpPr/>
          <p:nvPr/>
        </p:nvSpPr>
        <p:spPr>
          <a:xfrm>
            <a:off x="4826000" y="2552700"/>
            <a:ext cx="2540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6800" y="26606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전환의 이유</a:t>
            </a:r>
            <a:endParaRPr lang="ko-KR" sz="1250" dirty="0"/>
          </a:p>
        </p:txBody>
      </p:sp>
      <p:sp>
        <p:nvSpPr>
          <p:cNvPr id="19" name="Text 17"/>
          <p:cNvSpPr/>
          <p:nvPr/>
        </p:nvSpPr>
        <p:spPr>
          <a:xfrm>
            <a:off x="7203281" y="2660650"/>
            <a:ext cx="14392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ko-KR" sz="1250" dirty="0"/>
          </a:p>
        </p:txBody>
      </p:sp>
      <p:sp>
        <p:nvSpPr>
          <p:cNvPr id="20" name="Text 18"/>
          <p:cNvSpPr/>
          <p:nvPr/>
        </p:nvSpPr>
        <p:spPr>
          <a:xfrm>
            <a:off x="4876800" y="2919413"/>
            <a:ext cx="22529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실험은 가능성을 찾는 출발점입니다.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4876800" y="3125788"/>
            <a:ext cx="23005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사례 하나가 전체 사용자와 예외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4876800" y="3332163"/>
            <a:ext cx="1799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상황을 대신하지는 않습니다.</a:t>
            </a:r>
            <a:endParaRPr lang="ko-KR" sz="1250" dirty="0"/>
          </a:p>
        </p:txBody>
      </p:sp>
      <p:sp>
        <p:nvSpPr>
          <p:cNvPr id="23" name="Shape 21"/>
          <p:cNvSpPr/>
          <p:nvPr/>
        </p:nvSpPr>
        <p:spPr>
          <a:xfrm>
            <a:off x="7518400" y="2552700"/>
            <a:ext cx="3911600" cy="2349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8400" y="2552700"/>
            <a:ext cx="3911600" cy="0"/>
          </a:xfrm>
          <a:prstGeom prst="line">
            <a:avLst/>
          </a:prstGeom>
          <a:noFill/>
          <a:ln w="50800">
            <a:solidFill>
              <a:srgbClr val="0F6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6200" y="2736850"/>
            <a:ext cx="360617" cy="35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22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2200" dirty="0"/>
          </a:p>
        </p:txBody>
      </p:sp>
      <p:sp>
        <p:nvSpPr>
          <p:cNvPr id="26" name="Text 24"/>
          <p:cNvSpPr/>
          <p:nvPr/>
        </p:nvSpPr>
        <p:spPr>
          <a:xfrm>
            <a:off x="7696200" y="3136900"/>
            <a:ext cx="164748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 · 맡길 수 있는가</a:t>
            </a:r>
            <a:endParaRPr lang="ko-KR" sz="1600" dirty="0"/>
          </a:p>
        </p:txBody>
      </p:sp>
      <p:sp>
        <p:nvSpPr>
          <p:cNvPr id="27" name="Text 25"/>
          <p:cNvSpPr/>
          <p:nvPr/>
        </p:nvSpPr>
        <p:spPr>
          <a:xfrm>
            <a:off x="7696200" y="3484860"/>
            <a:ext cx="332150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질문과 실패 조건, 허용 행동, 관측과 중단 책임을</a:t>
            </a:r>
            <a:endParaRPr lang="ko-KR" sz="1250" dirty="0"/>
          </a:p>
        </p:txBody>
      </p:sp>
      <p:sp>
        <p:nvSpPr>
          <p:cNvPr id="28" name="Text 26"/>
          <p:cNvSpPr/>
          <p:nvPr/>
        </p:nvSpPr>
        <p:spPr>
          <a:xfrm>
            <a:off x="7696200" y="3691235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함께 확인합니다.</a:t>
            </a:r>
            <a:endParaRPr lang="ko-KR" sz="1250" dirty="0"/>
          </a:p>
        </p:txBody>
      </p:sp>
      <p:sp>
        <p:nvSpPr>
          <p:cNvPr id="29" name="Shape 27"/>
          <p:cNvSpPr/>
          <p:nvPr/>
        </p:nvSpPr>
        <p:spPr>
          <a:xfrm>
            <a:off x="762000" y="4978400"/>
            <a:ext cx="5232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50609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선택 기준</a:t>
            </a:r>
            <a:endParaRPr lang="ko-KR" sz="1250" dirty="0"/>
          </a:p>
        </p:txBody>
      </p:sp>
      <p:sp>
        <p:nvSpPr>
          <p:cNvPr id="31" name="Text 29"/>
          <p:cNvSpPr/>
          <p:nvPr/>
        </p:nvSpPr>
        <p:spPr>
          <a:xfrm>
            <a:off x="762000" y="5319713"/>
            <a:ext cx="45452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실험을 버리는 대신 평가 데이터, 접근 통제, 추적 기록을 더해 반복 가능한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762000" y="5526088"/>
            <a:ext cx="148288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판단으로 발전시킵니다.</a:t>
            </a:r>
            <a:endParaRPr lang="ko-KR" sz="1250" dirty="0"/>
          </a:p>
        </p:txBody>
      </p:sp>
      <p:sp>
        <p:nvSpPr>
          <p:cNvPr id="33" name="Shape 31"/>
          <p:cNvSpPr/>
          <p:nvPr/>
        </p:nvSpPr>
        <p:spPr>
          <a:xfrm>
            <a:off x="6197600" y="4978400"/>
            <a:ext cx="5232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7600" y="50609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주의할 해석</a:t>
            </a:r>
            <a:endParaRPr lang="ko-KR" sz="1250" dirty="0"/>
          </a:p>
        </p:txBody>
      </p:sp>
      <p:sp>
        <p:nvSpPr>
          <p:cNvPr id="35" name="Text 33"/>
          <p:cNvSpPr/>
          <p:nvPr/>
        </p:nvSpPr>
        <p:spPr>
          <a:xfrm>
            <a:off x="6197600" y="5319713"/>
            <a:ext cx="525448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아래 비교는 도입 관점의 제안입니다. Foundry를 선택했다는 사실만으로 운영 준비가</a:t>
            </a:r>
            <a:endParaRPr lang="ko-KR" sz="1250" dirty="0"/>
          </a:p>
        </p:txBody>
      </p:sp>
      <p:sp>
        <p:nvSpPr>
          <p:cNvPr id="36" name="Text 34"/>
          <p:cNvSpPr/>
          <p:nvPr/>
        </p:nvSpPr>
        <p:spPr>
          <a:xfrm>
            <a:off x="6197600" y="55260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끝나지는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8102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Foundry의 역할을 세 층으로 읽습니다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98075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ARCHITECTURE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95099" y="279400"/>
            <a:ext cx="2625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04949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입력과 모델·도구, 에이전트 구성, 업무 응용을 잇는 개념도입니다.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2857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9500" y="2552700"/>
            <a:ext cx="0" cy="22733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4826000"/>
            <a:ext cx="2857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552700"/>
            <a:ext cx="0" cy="22733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950" y="2647950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/ 기반 경계</a:t>
            </a:r>
            <a:endParaRPr lang="ko-KR" sz="1250" dirty="0"/>
          </a:p>
        </p:txBody>
      </p:sp>
      <p:sp>
        <p:nvSpPr>
          <p:cNvPr id="14" name="Shape 12"/>
          <p:cNvSpPr/>
          <p:nvPr/>
        </p:nvSpPr>
        <p:spPr>
          <a:xfrm>
            <a:off x="869950" y="2927350"/>
            <a:ext cx="2641600" cy="179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9950" y="2927350"/>
            <a:ext cx="26416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11550" y="2927350"/>
            <a:ext cx="0" cy="17907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9950" y="4718050"/>
            <a:ext cx="26416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9950" y="2927350"/>
            <a:ext cx="0" cy="17907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2500" y="2997200"/>
            <a:ext cx="136262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· 도구 · 지식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3345160"/>
            <a:ext cx="247963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업무에 맞는 추론 모델과 사용할 수 있는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952500" y="3551535"/>
            <a:ext cx="139368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자료·기능을 고릅니다.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3704927" y="34734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기반 관계</a:t>
            </a:r>
            <a:endParaRPr lang="ko-KR" sz="1250" dirty="0"/>
          </a:p>
        </p:txBody>
      </p:sp>
      <p:pic>
        <p:nvPicPr>
          <p:cNvPr id="23" name="Image 0" descr="SVG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0" y="3746500"/>
            <a:ext cx="762000" cy="1524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381500" y="2552700"/>
            <a:ext cx="3429000" cy="22733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81500" y="2552700"/>
            <a:ext cx="34290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810500" y="2552700"/>
            <a:ext cx="0" cy="22733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81500" y="4826000"/>
            <a:ext cx="34290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81500" y="2552700"/>
            <a:ext cx="0" cy="22733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95800" y="2654300"/>
            <a:ext cx="10767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중심 플랫폼 경계</a:t>
            </a:r>
            <a:endParaRPr lang="ko-KR" sz="1250" dirty="0"/>
          </a:p>
        </p:txBody>
      </p:sp>
      <p:sp>
        <p:nvSpPr>
          <p:cNvPr id="30" name="Shape 27"/>
          <p:cNvSpPr/>
          <p:nvPr/>
        </p:nvSpPr>
        <p:spPr>
          <a:xfrm>
            <a:off x="4495800" y="2933700"/>
            <a:ext cx="32004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95800" y="2933700"/>
            <a:ext cx="32004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96200" y="2933700"/>
            <a:ext cx="0" cy="17780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95800" y="4711700"/>
            <a:ext cx="32004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95800" y="2933700"/>
            <a:ext cx="0" cy="17780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8350" y="3003550"/>
            <a:ext cx="1104559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 구성</a:t>
            </a:r>
            <a:endParaRPr lang="ko-KR" sz="1600" dirty="0"/>
          </a:p>
        </p:txBody>
      </p:sp>
      <p:sp>
        <p:nvSpPr>
          <p:cNvPr id="36" name="Text 33"/>
          <p:cNvSpPr/>
          <p:nvPr/>
        </p:nvSpPr>
        <p:spPr>
          <a:xfrm>
            <a:off x="4578350" y="3351510"/>
            <a:ext cx="29275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지침과 대화, 도구 사용을 구성하며 허용 행동을</a:t>
            </a:r>
            <a:endParaRPr lang="ko-KR" sz="1250" dirty="0"/>
          </a:p>
        </p:txBody>
      </p:sp>
      <p:sp>
        <p:nvSpPr>
          <p:cNvPr id="37" name="Text 34"/>
          <p:cNvSpPr/>
          <p:nvPr/>
        </p:nvSpPr>
        <p:spPr>
          <a:xfrm>
            <a:off x="4578350" y="3557885"/>
            <a:ext cx="9336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분명히 합니다.</a:t>
            </a:r>
            <a:endParaRPr lang="ko-KR" sz="1250" dirty="0"/>
          </a:p>
        </p:txBody>
      </p:sp>
      <p:sp>
        <p:nvSpPr>
          <p:cNvPr id="38" name="Text 35"/>
          <p:cNvSpPr/>
          <p:nvPr/>
        </p:nvSpPr>
        <p:spPr>
          <a:xfrm>
            <a:off x="7895927" y="34734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의미 연결</a:t>
            </a:r>
            <a:endParaRPr lang="ko-KR" sz="1250" dirty="0"/>
          </a:p>
        </p:txBody>
      </p:sp>
      <p:pic>
        <p:nvPicPr>
          <p:cNvPr id="39" name="Image 1" descr="SVG 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3746500"/>
            <a:ext cx="762000" cy="1524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572500" y="2552700"/>
            <a:ext cx="2857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430000" y="2552700"/>
            <a:ext cx="0" cy="22733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572500" y="4826000"/>
            <a:ext cx="2857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72500" y="2552700"/>
            <a:ext cx="0" cy="22733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80450" y="2647950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소비 / 응용 경계</a:t>
            </a:r>
            <a:endParaRPr lang="ko-KR" sz="1250" dirty="0"/>
          </a:p>
        </p:txBody>
      </p:sp>
      <p:sp>
        <p:nvSpPr>
          <p:cNvPr id="45" name="Shape 41"/>
          <p:cNvSpPr/>
          <p:nvPr/>
        </p:nvSpPr>
        <p:spPr>
          <a:xfrm>
            <a:off x="8680450" y="2927350"/>
            <a:ext cx="2641600" cy="179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680450" y="2927350"/>
            <a:ext cx="2641600" cy="0"/>
          </a:xfrm>
          <a:prstGeom prst="line">
            <a:avLst/>
          </a:prstGeom>
          <a:noFill/>
          <a:ln w="31750">
            <a:solidFill>
              <a:srgbClr val="0F62FE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322050" y="2927350"/>
            <a:ext cx="0" cy="17907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680450" y="4718050"/>
            <a:ext cx="26416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680450" y="2927350"/>
            <a:ext cx="0" cy="17907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763000" y="3022600"/>
            <a:ext cx="76314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응용</a:t>
            </a:r>
            <a:endParaRPr lang="ko-KR" sz="1600" dirty="0"/>
          </a:p>
        </p:txBody>
      </p:sp>
      <p:sp>
        <p:nvSpPr>
          <p:cNvPr id="51" name="Text 47"/>
          <p:cNvSpPr/>
          <p:nvPr/>
        </p:nvSpPr>
        <p:spPr>
          <a:xfrm>
            <a:off x="8763000" y="3370560"/>
            <a:ext cx="23961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응답과 근거를 사용자 작업에 연결하고</a:t>
            </a:r>
            <a:endParaRPr lang="ko-KR" sz="1250" dirty="0"/>
          </a:p>
        </p:txBody>
      </p:sp>
      <p:sp>
        <p:nvSpPr>
          <p:cNvPr id="52" name="Text 48"/>
          <p:cNvSpPr/>
          <p:nvPr/>
        </p:nvSpPr>
        <p:spPr>
          <a:xfrm>
            <a:off x="8763000" y="3576935"/>
            <a:ext cx="18409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 처리 경로를 제공합니다.</a:t>
            </a:r>
            <a:endParaRPr lang="ko-KR" sz="1250" dirty="0"/>
          </a:p>
        </p:txBody>
      </p:sp>
      <p:sp>
        <p:nvSpPr>
          <p:cNvPr id="53" name="Shape 49"/>
          <p:cNvSpPr/>
          <p:nvPr/>
        </p:nvSpPr>
        <p:spPr>
          <a:xfrm>
            <a:off x="762000" y="4902200"/>
            <a:ext cx="106680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dash"/>
          </a:ln>
        </p:spPr>
      </p:sp>
      <p:sp>
        <p:nvSpPr>
          <p:cNvPr id="54" name="Text 50"/>
          <p:cNvSpPr/>
          <p:nvPr/>
        </p:nvSpPr>
        <p:spPr>
          <a:xfrm>
            <a:off x="762000" y="49784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설계 맥락</a:t>
            </a:r>
            <a:endParaRPr lang="ko-KR" sz="1250" dirty="0"/>
          </a:p>
        </p:txBody>
      </p:sp>
      <p:sp>
        <p:nvSpPr>
          <p:cNvPr id="55" name="Text 51"/>
          <p:cNvSpPr/>
          <p:nvPr/>
        </p:nvSpPr>
        <p:spPr>
          <a:xfrm>
            <a:off x="762000" y="5237163"/>
            <a:ext cx="32288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project는 관련 AI 자산과 구성을 조직하는</a:t>
            </a:r>
            <a:endParaRPr lang="ko-KR" sz="1250" dirty="0"/>
          </a:p>
        </p:txBody>
      </p:sp>
      <p:sp>
        <p:nvSpPr>
          <p:cNvPr id="56" name="Text 52"/>
          <p:cNvSpPr/>
          <p:nvPr/>
        </p:nvSpPr>
        <p:spPr>
          <a:xfrm>
            <a:off x="762000" y="5443538"/>
            <a:ext cx="30589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작업 단위입니다. 그림은 논리적 역할 구분입니다.</a:t>
            </a:r>
            <a:endParaRPr lang="ko-KR" sz="1250" dirty="0"/>
          </a:p>
        </p:txBody>
      </p:sp>
      <p:sp>
        <p:nvSpPr>
          <p:cNvPr id="57" name="Text 53"/>
          <p:cNvSpPr/>
          <p:nvPr/>
        </p:nvSpPr>
        <p:spPr>
          <a:xfrm>
            <a:off x="4385667" y="4978400"/>
            <a:ext cx="13456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 확인 · 설계 메모</a:t>
            </a:r>
            <a:endParaRPr lang="ko-KR" sz="1250" dirty="0"/>
          </a:p>
        </p:txBody>
      </p:sp>
      <p:sp>
        <p:nvSpPr>
          <p:cNvPr id="58" name="Text 54"/>
          <p:cNvSpPr/>
          <p:nvPr/>
        </p:nvSpPr>
        <p:spPr>
          <a:xfrm>
            <a:off x="4385667" y="5237163"/>
            <a:ext cx="291371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실선은 개념을 읽는 관계입니다. 실제 API 호출,</a:t>
            </a:r>
            <a:endParaRPr lang="ko-KR" sz="1250" dirty="0"/>
          </a:p>
        </p:txBody>
      </p:sp>
      <p:sp>
        <p:nvSpPr>
          <p:cNvPr id="59" name="Text 55"/>
          <p:cNvSpPr/>
          <p:nvPr/>
        </p:nvSpPr>
        <p:spPr>
          <a:xfrm>
            <a:off x="4385667" y="5443538"/>
            <a:ext cx="294784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VNet이나 데이터 이동 경로를 뜻하지 않습니다.</a:t>
            </a:r>
            <a:endParaRPr lang="ko-KR" sz="1250" dirty="0"/>
          </a:p>
        </p:txBody>
      </p:sp>
      <p:sp>
        <p:nvSpPr>
          <p:cNvPr id="60" name="Text 56"/>
          <p:cNvSpPr/>
          <p:nvPr/>
        </p:nvSpPr>
        <p:spPr>
          <a:xfrm>
            <a:off x="8009434" y="49784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 범위</a:t>
            </a:r>
            <a:endParaRPr lang="ko-KR" sz="1250" dirty="0"/>
          </a:p>
        </p:txBody>
      </p:sp>
      <p:sp>
        <p:nvSpPr>
          <p:cNvPr id="61" name="Text 57"/>
          <p:cNvSpPr/>
          <p:nvPr/>
        </p:nvSpPr>
        <p:spPr>
          <a:xfrm>
            <a:off x="8009434" y="5237163"/>
            <a:ext cx="3417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 접근, 신원, 네트워크 조건과 기록 범위는 별도로</a:t>
            </a:r>
            <a:endParaRPr lang="ko-KR" sz="1250" dirty="0"/>
          </a:p>
        </p:txBody>
      </p:sp>
      <p:sp>
        <p:nvSpPr>
          <p:cNvPr id="62" name="Text 58"/>
          <p:cNvSpPr/>
          <p:nvPr/>
        </p:nvSpPr>
        <p:spPr>
          <a:xfrm>
            <a:off x="8009434" y="5443538"/>
            <a:ext cx="1345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설계하고 검증합니다.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7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7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9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4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89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4" dur="7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9" dur="7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4" dur="7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09" dur="7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기준부터 작은 실행을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3516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PROCESS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79125" y="279400"/>
            <a:ext cx="278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39696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 → 구현 → 평가 → 운영 준비로 이어지는 네 단계 도입 제안입니다.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253365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552700"/>
            <a:ext cx="0" cy="19685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8050" y="2641600"/>
            <a:ext cx="251575" cy="27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700" dirty="0"/>
          </a:p>
        </p:txBody>
      </p:sp>
      <p:sp>
        <p:nvSpPr>
          <p:cNvPr id="12" name="Text 10"/>
          <p:cNvSpPr/>
          <p:nvPr/>
        </p:nvSpPr>
        <p:spPr>
          <a:xfrm>
            <a:off x="908050" y="2921000"/>
            <a:ext cx="76314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범위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908050" y="3218160"/>
            <a:ext cx="20559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사용자, 질문, 허용 행동과 제외할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908050" y="3424535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상황을 합의합니다.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3332262" y="2603500"/>
            <a:ext cx="166842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↘</a:t>
            </a:r>
            <a:endParaRPr lang="ko-KR" sz="1400" dirty="0"/>
          </a:p>
        </p:txBody>
      </p:sp>
      <p:sp>
        <p:nvSpPr>
          <p:cNvPr id="16" name="Shape 14"/>
          <p:cNvSpPr/>
          <p:nvPr/>
        </p:nvSpPr>
        <p:spPr>
          <a:xfrm>
            <a:off x="3473450" y="2768600"/>
            <a:ext cx="2533650" cy="1968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3450" y="2768600"/>
            <a:ext cx="253365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3150" y="2857500"/>
            <a:ext cx="285905" cy="27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700" dirty="0"/>
          </a:p>
        </p:txBody>
      </p:sp>
      <p:sp>
        <p:nvSpPr>
          <p:cNvPr id="19" name="Text 17"/>
          <p:cNvSpPr/>
          <p:nvPr/>
        </p:nvSpPr>
        <p:spPr>
          <a:xfrm>
            <a:off x="3613150" y="3136900"/>
            <a:ext cx="76314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작은 구현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3613150" y="3434060"/>
            <a:ext cx="19842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모델과 구현 경로를 골라 제한된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3613150" y="3640435"/>
            <a:ext cx="1345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데이터로 연결합니다.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6043910" y="2635250"/>
            <a:ext cx="166644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↗</a:t>
            </a:r>
            <a:endParaRPr lang="ko-KR" sz="1400" dirty="0"/>
          </a:p>
        </p:txBody>
      </p:sp>
      <p:sp>
        <p:nvSpPr>
          <p:cNvPr id="23" name="Shape 21"/>
          <p:cNvSpPr/>
          <p:nvPr/>
        </p:nvSpPr>
        <p:spPr>
          <a:xfrm>
            <a:off x="6184900" y="2552700"/>
            <a:ext cx="253365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4900" y="2552700"/>
            <a:ext cx="0" cy="19685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0950" y="2641600"/>
            <a:ext cx="284615" cy="27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700" dirty="0"/>
          </a:p>
        </p:txBody>
      </p:sp>
      <p:sp>
        <p:nvSpPr>
          <p:cNvPr id="26" name="Text 24"/>
          <p:cNvSpPr/>
          <p:nvPr/>
        </p:nvSpPr>
        <p:spPr>
          <a:xfrm>
            <a:off x="6330950" y="2921000"/>
            <a:ext cx="93390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평가와 수정</a:t>
            </a:r>
            <a:endParaRPr lang="ko-KR" sz="1600" dirty="0"/>
          </a:p>
        </p:txBody>
      </p:sp>
      <p:sp>
        <p:nvSpPr>
          <p:cNvPr id="27" name="Text 25"/>
          <p:cNvSpPr/>
          <p:nvPr/>
        </p:nvSpPr>
        <p:spPr>
          <a:xfrm>
            <a:off x="6330950" y="3218160"/>
            <a:ext cx="203225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질문과 실패 사례에서 품질·</a:t>
            </a:r>
            <a:endParaRPr lang="ko-KR" sz="1250" dirty="0"/>
          </a:p>
        </p:txBody>
      </p:sp>
      <p:sp>
        <p:nvSpPr>
          <p:cNvPr id="28" name="Text 26"/>
          <p:cNvSpPr/>
          <p:nvPr/>
        </p:nvSpPr>
        <p:spPr>
          <a:xfrm>
            <a:off x="6330950" y="3424535"/>
            <a:ext cx="184731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안전·도구 동작을 확인합니다.</a:t>
            </a:r>
            <a:endParaRPr 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8755162" y="2603500"/>
            <a:ext cx="166842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↘</a:t>
            </a:r>
            <a:endParaRPr lang="ko-KR" sz="1400" dirty="0"/>
          </a:p>
        </p:txBody>
      </p:sp>
      <p:sp>
        <p:nvSpPr>
          <p:cNvPr id="30" name="Shape 28"/>
          <p:cNvSpPr/>
          <p:nvPr/>
        </p:nvSpPr>
        <p:spPr>
          <a:xfrm>
            <a:off x="8896350" y="2768600"/>
            <a:ext cx="2533650" cy="1968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96350" y="2768600"/>
            <a:ext cx="2533650" cy="0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36050" y="2857500"/>
            <a:ext cx="302772" cy="278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ko-KR" sz="1700" dirty="0"/>
          </a:p>
        </p:txBody>
      </p:sp>
      <p:sp>
        <p:nvSpPr>
          <p:cNvPr id="33" name="Text 31"/>
          <p:cNvSpPr/>
          <p:nvPr/>
        </p:nvSpPr>
        <p:spPr>
          <a:xfrm>
            <a:off x="9036050" y="3136900"/>
            <a:ext cx="76314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 준비</a:t>
            </a:r>
            <a:endParaRPr lang="ko-KR" sz="1600" dirty="0"/>
          </a:p>
        </p:txBody>
      </p:sp>
      <p:sp>
        <p:nvSpPr>
          <p:cNvPr id="34" name="Text 32"/>
          <p:cNvSpPr/>
          <p:nvPr/>
        </p:nvSpPr>
        <p:spPr>
          <a:xfrm>
            <a:off x="9036050" y="3434060"/>
            <a:ext cx="209773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추적, 오류 대응, 비용 확인과 중단</a:t>
            </a:r>
            <a:endParaRPr lang="ko-KR" sz="1250" dirty="0"/>
          </a:p>
        </p:txBody>
      </p:sp>
      <p:sp>
        <p:nvSpPr>
          <p:cNvPr id="35" name="Text 33"/>
          <p:cNvSpPr/>
          <p:nvPr/>
        </p:nvSpPr>
        <p:spPr>
          <a:xfrm>
            <a:off x="9036050" y="3640435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책임을 연결합니다.</a:t>
            </a:r>
            <a:endParaRPr lang="ko-KR" sz="1250" dirty="0"/>
          </a:p>
        </p:txBody>
      </p:sp>
      <p:sp>
        <p:nvSpPr>
          <p:cNvPr id="36" name="Shape 34"/>
          <p:cNvSpPr/>
          <p:nvPr/>
        </p:nvSpPr>
        <p:spPr>
          <a:xfrm>
            <a:off x="762000" y="48260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000" y="49085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진행 단위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762000" y="5167313"/>
            <a:ext cx="327973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입력, 원하는 출력과 실패 조건을 먼저 적습니다.</a:t>
            </a:r>
            <a:endParaRPr lang="ko-KR" sz="1250" dirty="0"/>
          </a:p>
        </p:txBody>
      </p:sp>
      <p:sp>
        <p:nvSpPr>
          <p:cNvPr id="39" name="Text 37"/>
          <p:cNvSpPr/>
          <p:nvPr/>
        </p:nvSpPr>
        <p:spPr>
          <a:xfrm>
            <a:off x="762000" y="5373688"/>
            <a:ext cx="27484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 기록을 다음 단계의 입력으로 사용합니다.</a:t>
            </a:r>
            <a:endParaRPr lang="ko-KR" sz="1250" dirty="0"/>
          </a:p>
        </p:txBody>
      </p:sp>
      <p:sp>
        <p:nvSpPr>
          <p:cNvPr id="40" name="Shape 38"/>
          <p:cNvSpPr/>
          <p:nvPr/>
        </p:nvSpPr>
        <p:spPr>
          <a:xfrm>
            <a:off x="4385667" y="48260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5667" y="49085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완료 기준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4385667" y="5167313"/>
            <a:ext cx="32021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단계에 넘길 산출물로 완료를 판단합니다. 구현</a:t>
            </a:r>
            <a:endParaRPr lang="ko-KR" sz="1250" dirty="0"/>
          </a:p>
        </p:txBody>
      </p:sp>
      <p:sp>
        <p:nvSpPr>
          <p:cNvPr id="43" name="Text 41"/>
          <p:cNvSpPr/>
          <p:nvPr/>
        </p:nvSpPr>
        <p:spPr>
          <a:xfrm>
            <a:off x="4385667" y="5373688"/>
            <a:ext cx="2294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여부와 출시 가능 여부를 구분합니다.</a:t>
            </a:r>
            <a:endParaRPr lang="ko-KR" sz="1250" dirty="0"/>
          </a:p>
        </p:txBody>
      </p:sp>
      <p:sp>
        <p:nvSpPr>
          <p:cNvPr id="44" name="Shape 42"/>
          <p:cNvSpPr/>
          <p:nvPr/>
        </p:nvSpPr>
        <p:spPr>
          <a:xfrm>
            <a:off x="8009434" y="48260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9434" y="4908550"/>
            <a:ext cx="897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되돌아갈 조건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8009434" y="5167313"/>
            <a:ext cx="27669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품질·권한·기록 조건이 부족하면 이전 단계로</a:t>
            </a:r>
            <a:endParaRPr lang="ko-KR" sz="1250" dirty="0"/>
          </a:p>
        </p:txBody>
      </p:sp>
      <p:sp>
        <p:nvSpPr>
          <p:cNvPr id="47" name="Text 45"/>
          <p:cNvSpPr/>
          <p:nvPr/>
        </p:nvSpPr>
        <p:spPr>
          <a:xfrm>
            <a:off x="8009434" y="5373688"/>
            <a:ext cx="292165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돌아갑니다. 실패 사례도 평가 자료에 남깁니다.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필요한 제어 수준으로 구현을 고릅니다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43852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MATRIX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94901" y="279400"/>
            <a:ext cx="26278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61742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직접 모델 호출, prompt agent, hosted agent는 서로 다른 시작점입니다.</a:t>
            </a:r>
            <a:endParaRPr lang="ko-KR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55875"/>
          <a:ext cx="7239000" cy="2419350"/>
        </p:xfrm>
        <a:graphic>
          <a:graphicData uri="http://schemas.openxmlformats.org/drawingml/2006/table">
            <a:tbl>
              <a:tblPr/>
              <a:tblGrid>
                <a:gridCol w="2410817"/>
                <a:gridCol w="2410817"/>
                <a:gridCol w="2411016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시작 경로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직접 관리하는 것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선택 기준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8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모델 직접 호출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애플리케이션 코드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도구 없이 추론이 필요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6732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Prompt agent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지침 · 모델 · 도구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선언형 구성으로 시작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6734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Hosted agent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자체 코드와 의존성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고유한 실행 로직 제어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191500" y="2552700"/>
            <a:ext cx="3238500" cy="24257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0" y="266700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판단의 중심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8382000" y="2944813"/>
            <a:ext cx="372622" cy="49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1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ko-KR" sz="3100" dirty="0"/>
          </a:p>
        </p:txBody>
      </p:sp>
      <p:sp>
        <p:nvSpPr>
          <p:cNvPr id="13" name="Text 10"/>
          <p:cNvSpPr/>
          <p:nvPr/>
        </p:nvSpPr>
        <p:spPr>
          <a:xfrm>
            <a:off x="8382000" y="3452813"/>
            <a:ext cx="2679855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도구가 필요하지 않다면 직접 호출부터</a:t>
            </a:r>
            <a:endParaRPr lang="ko-KR" sz="1400" dirty="0"/>
          </a:p>
        </p:txBody>
      </p:sp>
      <p:sp>
        <p:nvSpPr>
          <p:cNvPr id="14" name="Text 11"/>
          <p:cNvSpPr/>
          <p:nvPr/>
        </p:nvSpPr>
        <p:spPr>
          <a:xfrm>
            <a:off x="8382000" y="3683893"/>
            <a:ext cx="236562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검토합니다. 고유한 코드가 필요한</a:t>
            </a:r>
            <a:endParaRPr lang="ko-KR" sz="1400" dirty="0"/>
          </a:p>
        </p:txBody>
      </p:sp>
      <p:sp>
        <p:nvSpPr>
          <p:cNvPr id="15" name="Text 12"/>
          <p:cNvSpPr/>
          <p:nvPr/>
        </p:nvSpPr>
        <p:spPr>
          <a:xfrm>
            <a:off x="8382000" y="3914973"/>
            <a:ext cx="201131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경우에만 복잡도를 늘립니다.</a:t>
            </a:r>
            <a:endParaRPr lang="ko-KR" sz="1400" dirty="0"/>
          </a:p>
        </p:txBody>
      </p:sp>
      <p:sp>
        <p:nvSpPr>
          <p:cNvPr id="16" name="Shape 13"/>
          <p:cNvSpPr/>
          <p:nvPr/>
        </p:nvSpPr>
        <p:spPr>
          <a:xfrm>
            <a:off x="762000" y="5054600"/>
            <a:ext cx="5232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51371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비교의 전제</a:t>
            </a:r>
            <a:endParaRPr lang="ko-KR" sz="1250" dirty="0"/>
          </a:p>
        </p:txBody>
      </p:sp>
      <p:sp>
        <p:nvSpPr>
          <p:cNvPr id="18" name="Text 15"/>
          <p:cNvSpPr/>
          <p:nvPr/>
        </p:nvSpPr>
        <p:spPr>
          <a:xfrm>
            <a:off x="762000" y="5395913"/>
            <a:ext cx="433492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비교는 텍스트 중심 업무 범위입니다. 음성 기반 prompt agent는 이번</a:t>
            </a:r>
            <a:endParaRPr lang="ko-KR" sz="1250" dirty="0"/>
          </a:p>
        </p:txBody>
      </p:sp>
      <p:sp>
        <p:nvSpPr>
          <p:cNvPr id="19" name="Text 16"/>
          <p:cNvSpPr/>
          <p:nvPr/>
        </p:nvSpPr>
        <p:spPr>
          <a:xfrm>
            <a:off x="762000" y="56022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표에서 제외합니다.</a:t>
            </a:r>
            <a:endParaRPr lang="ko-KR" sz="1250" dirty="0"/>
          </a:p>
        </p:txBody>
      </p:sp>
      <p:sp>
        <p:nvSpPr>
          <p:cNvPr id="20" name="Shape 17"/>
          <p:cNvSpPr/>
          <p:nvPr/>
        </p:nvSpPr>
        <p:spPr>
          <a:xfrm>
            <a:off x="6197600" y="5054600"/>
            <a:ext cx="5232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97600" y="51371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해석의 한계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6197600" y="5395913"/>
            <a:ext cx="49341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직접 호출은 에이전트 유형이 아닙니다. 실제 지원 모델·도구·리전과 출시 상태를</a:t>
            </a:r>
            <a:endParaRPr lang="ko-KR" sz="1250" dirty="0"/>
          </a:p>
        </p:txBody>
      </p:sp>
      <p:sp>
        <p:nvSpPr>
          <p:cNvPr id="23" name="Text 20"/>
          <p:cNvSpPr/>
          <p:nvPr/>
        </p:nvSpPr>
        <p:spPr>
          <a:xfrm>
            <a:off x="6197600" y="56022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별도로 확인합니다.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880156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사내 문서 Q&amp;A는 근거부터 확인합니다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1384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SCENARIO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82002" y="279400"/>
            <a:ext cx="27568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13869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질문, 접근 확인, 근거 검토, 답변을 잇는 가상 업무 시나리오입니다.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5207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69000" y="2552700"/>
            <a:ext cx="0" cy="107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632200"/>
            <a:ext cx="5207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552700"/>
            <a:ext cx="0" cy="107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050" y="2679700"/>
            <a:ext cx="18400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37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1161653" y="2654300"/>
            <a:ext cx="97577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· 질문</a:t>
            </a:r>
            <a:endParaRPr lang="ko-KR" sz="1500" dirty="0"/>
          </a:p>
        </p:txBody>
      </p:sp>
      <p:sp>
        <p:nvSpPr>
          <p:cNvPr id="15" name="Text 13"/>
          <p:cNvSpPr/>
          <p:nvPr/>
        </p:nvSpPr>
        <p:spPr>
          <a:xfrm>
            <a:off x="908050" y="2943225"/>
            <a:ext cx="406782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맥락과 필요한 답변을 제공하며 민감한 입력을 최소화합니다.</a:t>
            </a:r>
            <a:endParaRPr lang="ko-KR" sz="1250" dirty="0"/>
          </a:p>
        </p:txBody>
      </p:sp>
      <p:sp>
        <p:nvSpPr>
          <p:cNvPr id="16" name="Text 14"/>
          <p:cNvSpPr/>
          <p:nvPr/>
        </p:nvSpPr>
        <p:spPr>
          <a:xfrm>
            <a:off x="6040438" y="2990850"/>
            <a:ext cx="157417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ko-KR" sz="1400" dirty="0"/>
          </a:p>
        </p:txBody>
      </p:sp>
      <p:sp>
        <p:nvSpPr>
          <p:cNvPr id="17" name="Shape 15"/>
          <p:cNvSpPr/>
          <p:nvPr/>
        </p:nvSpPr>
        <p:spPr>
          <a:xfrm>
            <a:off x="6223000" y="2552700"/>
            <a:ext cx="5207000" cy="1079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3000" y="2552700"/>
            <a:ext cx="5207000" cy="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0" y="2552700"/>
            <a:ext cx="0" cy="107950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000" y="3632200"/>
            <a:ext cx="5207000" cy="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3000" y="2552700"/>
            <a:ext cx="0" cy="107950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9050" y="2679700"/>
            <a:ext cx="20920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37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250" dirty="0"/>
          </a:p>
        </p:txBody>
      </p:sp>
      <p:sp>
        <p:nvSpPr>
          <p:cNvPr id="23" name="Text 21"/>
          <p:cNvSpPr/>
          <p:nvPr/>
        </p:nvSpPr>
        <p:spPr>
          <a:xfrm>
            <a:off x="6647855" y="2654300"/>
            <a:ext cx="11811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응용 · 접근 확인</a:t>
            </a:r>
            <a:endParaRPr lang="ko-KR" sz="1500" dirty="0"/>
          </a:p>
        </p:txBody>
      </p:sp>
      <p:sp>
        <p:nvSpPr>
          <p:cNvPr id="24" name="Text 22"/>
          <p:cNvSpPr/>
          <p:nvPr/>
        </p:nvSpPr>
        <p:spPr>
          <a:xfrm>
            <a:off x="6369050" y="2943225"/>
            <a:ext cx="36975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신원과 허용 자료 범위를 확인한 뒤 검색 요청을 구성합니다.</a:t>
            </a:r>
            <a:endParaRPr lang="ko-KR" sz="1250" dirty="0"/>
          </a:p>
        </p:txBody>
      </p:sp>
      <p:sp>
        <p:nvSpPr>
          <p:cNvPr id="25" name="Text 23"/>
          <p:cNvSpPr/>
          <p:nvPr/>
        </p:nvSpPr>
        <p:spPr>
          <a:xfrm>
            <a:off x="11135023" y="3587750"/>
            <a:ext cx="130032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↓</a:t>
            </a:r>
            <a:endParaRPr lang="ko-KR" sz="1400" dirty="0"/>
          </a:p>
        </p:txBody>
      </p:sp>
      <p:sp>
        <p:nvSpPr>
          <p:cNvPr id="26" name="Shape 24"/>
          <p:cNvSpPr/>
          <p:nvPr/>
        </p:nvSpPr>
        <p:spPr>
          <a:xfrm>
            <a:off x="6223000" y="3746500"/>
            <a:ext cx="5207000" cy="10795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23000" y="3746500"/>
            <a:ext cx="5207000" cy="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0" y="3746500"/>
            <a:ext cx="0" cy="107950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23000" y="4826000"/>
            <a:ext cx="5207000" cy="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3000" y="3746500"/>
            <a:ext cx="0" cy="1079500"/>
          </a:xfrm>
          <a:prstGeom prst="line">
            <a:avLst/>
          </a:prstGeom>
          <a:noFill/>
          <a:ln w="6350">
            <a:solidFill>
              <a:srgbClr val="EDF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9050" y="3873500"/>
            <a:ext cx="2082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37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6646863" y="3848100"/>
            <a:ext cx="150123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 · 근거 검토</a:t>
            </a:r>
            <a:endParaRPr lang="ko-KR" sz="1500" dirty="0"/>
          </a:p>
        </p:txBody>
      </p:sp>
      <p:sp>
        <p:nvSpPr>
          <p:cNvPr id="33" name="Text 31"/>
          <p:cNvSpPr/>
          <p:nvPr/>
        </p:nvSpPr>
        <p:spPr>
          <a:xfrm>
            <a:off x="6369050" y="4137025"/>
            <a:ext cx="375141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검색된 자료가 질문에 답하는지 확인하고 출처를 연결합니다.</a:t>
            </a:r>
            <a:endParaRPr lang="ko-KR" sz="1250" dirty="0"/>
          </a:p>
        </p:txBody>
      </p:sp>
      <p:sp>
        <p:nvSpPr>
          <p:cNvPr id="34" name="Text 32"/>
          <p:cNvSpPr/>
          <p:nvPr/>
        </p:nvSpPr>
        <p:spPr>
          <a:xfrm>
            <a:off x="6026150" y="4184650"/>
            <a:ext cx="157417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←</a:t>
            </a:r>
            <a:endParaRPr lang="ko-KR" sz="1400" dirty="0"/>
          </a:p>
        </p:txBody>
      </p:sp>
      <p:sp>
        <p:nvSpPr>
          <p:cNvPr id="35" name="Shape 33"/>
          <p:cNvSpPr/>
          <p:nvPr/>
        </p:nvSpPr>
        <p:spPr>
          <a:xfrm>
            <a:off x="762000" y="3746500"/>
            <a:ext cx="5207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9000" y="3746500"/>
            <a:ext cx="0" cy="107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2000" y="4826000"/>
            <a:ext cx="5207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000" y="3746500"/>
            <a:ext cx="0" cy="10795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8050" y="3873500"/>
            <a:ext cx="22161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spc="-37" kern="0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1199257" y="3848100"/>
            <a:ext cx="1341195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· 답변 확인</a:t>
            </a:r>
            <a:endParaRPr lang="ko-KR" sz="1500" dirty="0"/>
          </a:p>
        </p:txBody>
      </p:sp>
      <p:sp>
        <p:nvSpPr>
          <p:cNvPr id="41" name="Text 39"/>
          <p:cNvSpPr/>
          <p:nvPr/>
        </p:nvSpPr>
        <p:spPr>
          <a:xfrm>
            <a:off x="908050" y="4137025"/>
            <a:ext cx="388873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답변과 근거를 검토하고 불확실한 내용은 담당자에게 넘깁니다.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762000" y="49022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000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장면의 연결</a:t>
            </a:r>
            <a:endParaRPr lang="ko-KR" sz="1250" dirty="0"/>
          </a:p>
        </p:txBody>
      </p:sp>
      <p:sp>
        <p:nvSpPr>
          <p:cNvPr id="44" name="Text 42"/>
          <p:cNvSpPr/>
          <p:nvPr/>
        </p:nvSpPr>
        <p:spPr>
          <a:xfrm>
            <a:off x="762000" y="5243513"/>
            <a:ext cx="33394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직원이 허용된 사내 문서를 질문합니다. 확인할 근거가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762000" y="5449888"/>
            <a:ext cx="32021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없으면 답을 꾸며내지 않고 추가 확인을 요청합니다.</a:t>
            </a:r>
            <a:endParaRPr lang="ko-KR" sz="1250" dirty="0"/>
          </a:p>
        </p:txBody>
      </p:sp>
      <p:sp>
        <p:nvSpPr>
          <p:cNvPr id="46" name="Shape 44"/>
          <p:cNvSpPr/>
          <p:nvPr/>
        </p:nvSpPr>
        <p:spPr>
          <a:xfrm>
            <a:off x="4385667" y="49022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5667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인계의 품질</a:t>
            </a:r>
            <a:endParaRPr lang="ko-KR" sz="1250" dirty="0"/>
          </a:p>
        </p:txBody>
      </p:sp>
      <p:sp>
        <p:nvSpPr>
          <p:cNvPr id="48" name="Text 46"/>
          <p:cNvSpPr/>
          <p:nvPr/>
        </p:nvSpPr>
        <p:spPr>
          <a:xfrm>
            <a:off x="4385667" y="5243513"/>
            <a:ext cx="33453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 사이에는 질문만 아니라 접근 범위와 근거가 함께</a:t>
            </a:r>
            <a:endParaRPr lang="ko-KR" sz="1250" dirty="0"/>
          </a:p>
        </p:txBody>
      </p:sp>
      <p:sp>
        <p:nvSpPr>
          <p:cNvPr id="49" name="Text 47"/>
          <p:cNvSpPr/>
          <p:nvPr/>
        </p:nvSpPr>
        <p:spPr>
          <a:xfrm>
            <a:off x="4385667" y="54498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전달되어야 합니다.</a:t>
            </a:r>
            <a:endParaRPr lang="ko-KR" sz="1250" dirty="0"/>
          </a:p>
        </p:txBody>
      </p:sp>
      <p:sp>
        <p:nvSpPr>
          <p:cNvPr id="50" name="Shape 48"/>
          <p:cNvSpPr/>
          <p:nvPr/>
        </p:nvSpPr>
        <p:spPr>
          <a:xfrm>
            <a:off x="8009434" y="49022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9434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예외의 처리</a:t>
            </a:r>
            <a:endParaRPr lang="ko-KR" sz="1250" dirty="0"/>
          </a:p>
        </p:txBody>
      </p:sp>
      <p:sp>
        <p:nvSpPr>
          <p:cNvPr id="52" name="Text 50"/>
          <p:cNvSpPr/>
          <p:nvPr/>
        </p:nvSpPr>
        <p:spPr>
          <a:xfrm>
            <a:off x="8009434" y="5243513"/>
            <a:ext cx="33939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검색·권한·거부 처리는 설계 요구사항입니다. 이 그림이</a:t>
            </a:r>
            <a:endParaRPr lang="ko-KR" sz="1250" dirty="0"/>
          </a:p>
        </p:txBody>
      </p:sp>
      <p:sp>
        <p:nvSpPr>
          <p:cNvPr id="53" name="Text 51"/>
          <p:cNvSpPr/>
          <p:nvPr/>
        </p:nvSpPr>
        <p:spPr>
          <a:xfrm>
            <a:off x="8009434" y="5449888"/>
            <a:ext cx="243200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제품의 자동 차단을 보장하지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7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7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217672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출시 전 네 가지 근거를 확인합니다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6276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CHECKLIST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98770" y="279400"/>
            <a:ext cx="25891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4951071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체크 기호는 검토 대상이지 실제 승인이나 충족 상태가 아닙니다.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64135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3479800"/>
            <a:ext cx="641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29241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" y="29241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31146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29241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0300" y="2889845"/>
            <a:ext cx="93390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적합성</a:t>
            </a:r>
            <a:endParaRPr lang="ko-KR" sz="1600" dirty="0"/>
          </a:p>
        </p:txBody>
      </p:sp>
      <p:sp>
        <p:nvSpPr>
          <p:cNvPr id="16" name="Text 14"/>
          <p:cNvSpPr/>
          <p:nvPr/>
        </p:nvSpPr>
        <p:spPr>
          <a:xfrm>
            <a:off x="2895600" y="2916238"/>
            <a:ext cx="387057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질문과 실패 사례에서 원하는 결과를 설명할 수 있습니까?</a:t>
            </a:r>
            <a:endParaRPr lang="ko-KR" sz="1250" dirty="0"/>
          </a:p>
        </p:txBody>
      </p:sp>
      <p:sp>
        <p:nvSpPr>
          <p:cNvPr id="17" name="Shape 15"/>
          <p:cNvSpPr/>
          <p:nvPr/>
        </p:nvSpPr>
        <p:spPr>
          <a:xfrm>
            <a:off x="762000" y="4394200"/>
            <a:ext cx="641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38385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2500" y="38385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000" y="40290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38385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0300" y="3804245"/>
            <a:ext cx="132363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접근과 허용 행동</a:t>
            </a:r>
            <a:endParaRPr lang="ko-KR" sz="1600" dirty="0"/>
          </a:p>
        </p:txBody>
      </p:sp>
      <p:sp>
        <p:nvSpPr>
          <p:cNvPr id="23" name="Text 21"/>
          <p:cNvSpPr/>
          <p:nvPr/>
        </p:nvSpPr>
        <p:spPr>
          <a:xfrm>
            <a:off x="2895600" y="3830637"/>
            <a:ext cx="35542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누가 어떤 자료와 도구를 사용할 수 있는지 검증했습니까?</a:t>
            </a:r>
            <a:endParaRPr lang="ko-KR" sz="1250" dirty="0"/>
          </a:p>
        </p:txBody>
      </p:sp>
      <p:sp>
        <p:nvSpPr>
          <p:cNvPr id="24" name="Shape 22"/>
          <p:cNvSpPr/>
          <p:nvPr/>
        </p:nvSpPr>
        <p:spPr>
          <a:xfrm>
            <a:off x="762000" y="5308600"/>
            <a:ext cx="641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47529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500" y="47529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000" y="49434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" y="47529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0300" y="4718645"/>
            <a:ext cx="132363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기능별 준비 상태</a:t>
            </a:r>
            <a:endParaRPr lang="ko-KR" sz="1600" dirty="0"/>
          </a:p>
        </p:txBody>
      </p:sp>
      <p:sp>
        <p:nvSpPr>
          <p:cNvPr id="30" name="Text 28"/>
          <p:cNvSpPr/>
          <p:nvPr/>
        </p:nvSpPr>
        <p:spPr>
          <a:xfrm>
            <a:off x="2895600" y="4745038"/>
            <a:ext cx="36374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GA/Preview, 대상 리전과 모델·도구 조건을 확인했습니까?</a:t>
            </a:r>
            <a:endParaRPr lang="ko-KR" sz="1250" dirty="0"/>
          </a:p>
        </p:txBody>
      </p:sp>
      <p:sp>
        <p:nvSpPr>
          <p:cNvPr id="31" name="Shape 29"/>
          <p:cNvSpPr/>
          <p:nvPr/>
        </p:nvSpPr>
        <p:spPr>
          <a:xfrm>
            <a:off x="762000" y="6223000"/>
            <a:ext cx="6413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2000" y="56673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2500" y="56673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000" y="5857875"/>
            <a:ext cx="19050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2000" y="5667375"/>
            <a:ext cx="0" cy="19050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30300" y="5633045"/>
            <a:ext cx="132363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운영과 중단 책임</a:t>
            </a:r>
            <a:endParaRPr lang="ko-KR" sz="1600" dirty="0"/>
          </a:p>
        </p:txBody>
      </p:sp>
      <p:sp>
        <p:nvSpPr>
          <p:cNvPr id="37" name="Text 35"/>
          <p:cNvSpPr/>
          <p:nvPr/>
        </p:nvSpPr>
        <p:spPr>
          <a:xfrm>
            <a:off x="2895600" y="5659438"/>
            <a:ext cx="397892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오류·비용·기록을 확인하고 필요하면 중단할 담당자가 있습니까?</a:t>
            </a:r>
            <a:endParaRPr lang="ko-KR" sz="1250" dirty="0"/>
          </a:p>
        </p:txBody>
      </p:sp>
      <p:sp>
        <p:nvSpPr>
          <p:cNvPr id="38" name="Shape 36"/>
          <p:cNvSpPr/>
          <p:nvPr/>
        </p:nvSpPr>
        <p:spPr>
          <a:xfrm>
            <a:off x="7378700" y="2552700"/>
            <a:ext cx="40513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80300" y="26098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검토 방식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7480300" y="2855913"/>
            <a:ext cx="35371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기능·모델·도구 또는 데이터 범위가 바뀌면 같은 질문으로</a:t>
            </a:r>
            <a:endParaRPr lang="ko-KR" sz="1250" dirty="0"/>
          </a:p>
        </p:txBody>
      </p:sp>
      <p:sp>
        <p:nvSpPr>
          <p:cNvPr id="41" name="Text 39"/>
          <p:cNvSpPr/>
          <p:nvPr/>
        </p:nvSpPr>
        <p:spPr>
          <a:xfrm>
            <a:off x="7480300" y="3059113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검토합니다.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7378700" y="3797300"/>
            <a:ext cx="4051300" cy="11811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78700" y="3797300"/>
            <a:ext cx="40513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80300" y="38544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통과의 의미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7480300" y="4100513"/>
            <a:ext cx="27542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필수 조건을 뒷받침할 기록이 있을 때 제한된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7480300" y="4303713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적용을 검토합니다.</a:t>
            </a:r>
            <a:endParaRPr lang="ko-KR" sz="1250" dirty="0"/>
          </a:p>
        </p:txBody>
      </p:sp>
      <p:sp>
        <p:nvSpPr>
          <p:cNvPr id="47" name="Shape 45"/>
          <p:cNvSpPr/>
          <p:nvPr/>
        </p:nvSpPr>
        <p:spPr>
          <a:xfrm>
            <a:off x="7378700" y="5041900"/>
            <a:ext cx="40513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80300" y="50990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보류의 가치</a:t>
            </a:r>
            <a:endParaRPr lang="ko-KR" sz="1250" dirty="0"/>
          </a:p>
        </p:txBody>
      </p:sp>
      <p:sp>
        <p:nvSpPr>
          <p:cNvPr id="49" name="Text 47"/>
          <p:cNvSpPr/>
          <p:nvPr/>
        </p:nvSpPr>
        <p:spPr>
          <a:xfrm>
            <a:off x="7480300" y="5345113"/>
            <a:ext cx="37931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미확인 조건은 완료로 표시하지 않습니다. 책임자와 다음 확인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7480300" y="5548313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시점을 남깁니다.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공식 상태와 도입 판단을 분리합니다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0928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EVIDENCE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79125" y="279400"/>
            <a:ext cx="2785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4179745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포털의 GA와 개별 기능의 GA는 같은 범위가 아닙니다.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52700"/>
            <a:ext cx="0" cy="367030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2500" y="2628900"/>
            <a:ext cx="328668" cy="43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27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↳</a:t>
            </a:r>
            <a:endParaRPr lang="ko-KR" sz="2700" dirty="0"/>
          </a:p>
        </p:txBody>
      </p:sp>
      <p:sp>
        <p:nvSpPr>
          <p:cNvPr id="11" name="Text 9"/>
          <p:cNvSpPr/>
          <p:nvPr/>
        </p:nvSpPr>
        <p:spPr>
          <a:xfrm>
            <a:off x="952500" y="313690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근거의 범위</a:t>
            </a:r>
            <a:endParaRPr lang="ko-KR" sz="1250" dirty="0"/>
          </a:p>
        </p:txBody>
      </p:sp>
      <p:sp>
        <p:nvSpPr>
          <p:cNvPr id="12" name="Text 10"/>
          <p:cNvSpPr/>
          <p:nvPr/>
        </p:nvSpPr>
        <p:spPr>
          <a:xfrm>
            <a:off x="952500" y="3395663"/>
            <a:ext cx="14612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공식 GA 개요를 2026-</a:t>
            </a:r>
            <a:endParaRPr lang="ko-KR" sz="1250" dirty="0"/>
          </a:p>
        </p:txBody>
      </p:sp>
      <p:sp>
        <p:nvSpPr>
          <p:cNvPr id="13" name="Text 11"/>
          <p:cNvSpPr/>
          <p:nvPr/>
        </p:nvSpPr>
        <p:spPr>
          <a:xfrm>
            <a:off x="952500" y="3602038"/>
            <a:ext cx="15059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09-30에 확인했습니다.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952500" y="3808413"/>
            <a:ext cx="12558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상태는 이후 바뀔 수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952500" y="4014788"/>
            <a:ext cx="61719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있습니다.</a:t>
            </a:r>
            <a:endParaRPr lang="ko-KR" sz="1250" dirty="0"/>
          </a:p>
        </p:txBody>
      </p:sp>
      <p:sp>
        <p:nvSpPr>
          <p:cNvPr id="16" name="Shape 14"/>
          <p:cNvSpPr/>
          <p:nvPr/>
        </p:nvSpPr>
        <p:spPr>
          <a:xfrm>
            <a:off x="2946400" y="2552700"/>
            <a:ext cx="2726234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6400" y="4800600"/>
            <a:ext cx="2726234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3400" y="2673350"/>
            <a:ext cx="212880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400" dirty="0"/>
          </a:p>
        </p:txBody>
      </p:sp>
      <p:sp>
        <p:nvSpPr>
          <p:cNvPr id="19" name="Text 17"/>
          <p:cNvSpPr/>
          <p:nvPr/>
        </p:nvSpPr>
        <p:spPr>
          <a:xfrm>
            <a:off x="3073400" y="2997200"/>
            <a:ext cx="178440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Agents 핵심 기능 · GA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3073400" y="3345160"/>
            <a:ext cx="2157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에이전트의 세부 유형, 연결 도구와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3073400" y="3551535"/>
            <a:ext cx="207978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조건까지 한꺼번에 보장하는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3073400" y="3757910"/>
            <a:ext cx="10709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표기는 아닙니다.</a:t>
            </a:r>
            <a:endParaRPr lang="ko-KR" sz="1250" dirty="0"/>
          </a:p>
        </p:txBody>
      </p:sp>
      <p:sp>
        <p:nvSpPr>
          <p:cNvPr id="23" name="Shape 21"/>
          <p:cNvSpPr/>
          <p:nvPr/>
        </p:nvSpPr>
        <p:spPr>
          <a:xfrm>
            <a:off x="5825034" y="2552700"/>
            <a:ext cx="2726234" cy="22479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5034" y="2552700"/>
            <a:ext cx="2726234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5034" y="4800600"/>
            <a:ext cx="2726234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034" y="2673350"/>
            <a:ext cx="241157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400" dirty="0"/>
          </a:p>
        </p:txBody>
      </p:sp>
      <p:sp>
        <p:nvSpPr>
          <p:cNvPr id="27" name="Text 25"/>
          <p:cNvSpPr/>
          <p:nvPr/>
        </p:nvSpPr>
        <p:spPr>
          <a:xfrm>
            <a:off x="5952034" y="2997200"/>
            <a:ext cx="147682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Evaluations · GA /</a:t>
            </a:r>
            <a:endParaRPr lang="ko-KR" sz="1600" dirty="0"/>
          </a:p>
        </p:txBody>
      </p:sp>
      <p:sp>
        <p:nvSpPr>
          <p:cNvPr id="28" name="Text 26"/>
          <p:cNvSpPr/>
          <p:nvPr/>
        </p:nvSpPr>
        <p:spPr>
          <a:xfrm>
            <a:off x="5952034" y="3230860"/>
            <a:ext cx="108203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일부 Preview</a:t>
            </a:r>
            <a:endParaRPr lang="ko-KR" sz="1600" dirty="0"/>
          </a:p>
        </p:txBody>
      </p:sp>
      <p:sp>
        <p:nvSpPr>
          <p:cNvPr id="29" name="Text 27"/>
          <p:cNvSpPr/>
          <p:nvPr/>
        </p:nvSpPr>
        <p:spPr>
          <a:xfrm>
            <a:off x="5952034" y="3578820"/>
            <a:ext cx="212155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기능 안에서도 평가자와 세부</a:t>
            </a:r>
            <a:endParaRPr lang="ko-KR" sz="1250" dirty="0"/>
          </a:p>
        </p:txBody>
      </p:sp>
      <p:sp>
        <p:nvSpPr>
          <p:cNvPr id="30" name="Text 28"/>
          <p:cNvSpPr/>
          <p:nvPr/>
        </p:nvSpPr>
        <p:spPr>
          <a:xfrm>
            <a:off x="5952034" y="3785195"/>
            <a:ext cx="2294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기능의 출시 상태를 나눠 확인합니다.</a:t>
            </a:r>
            <a:endParaRPr lang="ko-KR" sz="1250" dirty="0"/>
          </a:p>
        </p:txBody>
      </p:sp>
      <p:sp>
        <p:nvSpPr>
          <p:cNvPr id="31" name="Shape 29"/>
          <p:cNvSpPr/>
          <p:nvPr/>
        </p:nvSpPr>
        <p:spPr>
          <a:xfrm>
            <a:off x="8703667" y="2552700"/>
            <a:ext cx="2726333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03667" y="4800600"/>
            <a:ext cx="2726333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30667" y="2673350"/>
            <a:ext cx="240066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400" dirty="0"/>
          </a:p>
        </p:txBody>
      </p:sp>
      <p:sp>
        <p:nvSpPr>
          <p:cNvPr id="34" name="Text 32"/>
          <p:cNvSpPr/>
          <p:nvPr/>
        </p:nvSpPr>
        <p:spPr>
          <a:xfrm>
            <a:off x="8830667" y="2997200"/>
            <a:ext cx="1778155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Monitoring · Memory</a:t>
            </a:r>
            <a:endParaRPr lang="ko-KR" sz="1600" dirty="0"/>
          </a:p>
        </p:txBody>
      </p:sp>
      <p:sp>
        <p:nvSpPr>
          <p:cNvPr id="35" name="Text 33"/>
          <p:cNvSpPr/>
          <p:nvPr/>
        </p:nvSpPr>
        <p:spPr>
          <a:xfrm>
            <a:off x="8830667" y="3230860"/>
            <a:ext cx="79708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Preview</a:t>
            </a:r>
            <a:endParaRPr lang="ko-KR" sz="1600" dirty="0"/>
          </a:p>
        </p:txBody>
      </p:sp>
      <p:sp>
        <p:nvSpPr>
          <p:cNvPr id="36" name="Text 34"/>
          <p:cNvSpPr/>
          <p:nvPr/>
        </p:nvSpPr>
        <p:spPr>
          <a:xfrm>
            <a:off x="8830667" y="3578820"/>
            <a:ext cx="216957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운영 적용 정책과 데이터 보관·사용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8830667" y="3785195"/>
            <a:ext cx="1799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조건을 기능별로 검토합니다.</a:t>
            </a:r>
            <a:endParaRPr lang="ko-KR" sz="1250" dirty="0"/>
          </a:p>
        </p:txBody>
      </p:sp>
      <p:sp>
        <p:nvSpPr>
          <p:cNvPr id="38" name="Shape 36"/>
          <p:cNvSpPr/>
          <p:nvPr/>
        </p:nvSpPr>
        <p:spPr>
          <a:xfrm>
            <a:off x="2946400" y="4902200"/>
            <a:ext cx="41402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46400" y="49847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해석</a:t>
            </a:r>
            <a:endParaRPr lang="ko-KR" sz="1250" dirty="0"/>
          </a:p>
        </p:txBody>
      </p:sp>
      <p:sp>
        <p:nvSpPr>
          <p:cNvPr id="40" name="Text 38"/>
          <p:cNvSpPr/>
          <p:nvPr/>
        </p:nvSpPr>
        <p:spPr>
          <a:xfrm>
            <a:off x="2946400" y="5243513"/>
            <a:ext cx="387663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기능별 상태를 기록한 다음 업무 검증, 대상 리전과 운영 조건을</a:t>
            </a:r>
            <a:endParaRPr lang="ko-KR" sz="1250" dirty="0"/>
          </a:p>
        </p:txBody>
      </p:sp>
      <p:sp>
        <p:nvSpPr>
          <p:cNvPr id="41" name="Text 39"/>
          <p:cNvSpPr/>
          <p:nvPr/>
        </p:nvSpPr>
        <p:spPr>
          <a:xfrm>
            <a:off x="2946400" y="5449888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별도로 판단합니다.</a:t>
            </a:r>
            <a:endParaRPr lang="ko-KR" sz="1250" dirty="0"/>
          </a:p>
        </p:txBody>
      </p:sp>
      <p:sp>
        <p:nvSpPr>
          <p:cNvPr id="42" name="Shape 40"/>
          <p:cNvSpPr/>
          <p:nvPr/>
        </p:nvSpPr>
        <p:spPr>
          <a:xfrm>
            <a:off x="7289800" y="4902200"/>
            <a:ext cx="41402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9800" y="49847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한계</a:t>
            </a:r>
            <a:endParaRPr lang="ko-KR" sz="1250" dirty="0"/>
          </a:p>
        </p:txBody>
      </p:sp>
      <p:sp>
        <p:nvSpPr>
          <p:cNvPr id="44" name="Text 42"/>
          <p:cNvSpPr/>
          <p:nvPr/>
        </p:nvSpPr>
        <p:spPr>
          <a:xfrm>
            <a:off x="7289800" y="5243513"/>
            <a:ext cx="399033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GA는 모든 하위 기능·모델·리전의 보장이 아닙니다. 실제 채택 시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7289800" y="5449888"/>
            <a:ext cx="1703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최신 표를 다시 확인합니다.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일정보다 단계별 통과 조건을 정합니다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297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ROADMAP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82895" y="279400"/>
            <a:ext cx="2747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60909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탐색, 제한 검증, 운영 준비의 산출물을 연결하는 도입 로드맵 제안입니다.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067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5527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 묶음</a:t>
            </a:r>
            <a:endParaRPr lang="ko-KR" sz="1250" dirty="0"/>
          </a:p>
        </p:txBody>
      </p:sp>
      <p:sp>
        <p:nvSpPr>
          <p:cNvPr id="11" name="Shape 9"/>
          <p:cNvSpPr/>
          <p:nvPr/>
        </p:nvSpPr>
        <p:spPr>
          <a:xfrm>
            <a:off x="2857500" y="2552700"/>
            <a:ext cx="0" cy="2413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3550" y="255270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준비</a:t>
            </a:r>
            <a:endParaRPr lang="ko-KR" sz="1250" dirty="0"/>
          </a:p>
        </p:txBody>
      </p:sp>
      <p:sp>
        <p:nvSpPr>
          <p:cNvPr id="13" name="Shape 11"/>
          <p:cNvSpPr/>
          <p:nvPr/>
        </p:nvSpPr>
        <p:spPr>
          <a:xfrm>
            <a:off x="5715000" y="2552700"/>
            <a:ext cx="0" cy="2413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1050" y="255270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</a:t>
            </a:r>
            <a:endParaRPr lang="ko-KR" sz="1250" dirty="0"/>
          </a:p>
        </p:txBody>
      </p:sp>
      <p:sp>
        <p:nvSpPr>
          <p:cNvPr id="15" name="Shape 13"/>
          <p:cNvSpPr/>
          <p:nvPr/>
        </p:nvSpPr>
        <p:spPr>
          <a:xfrm>
            <a:off x="8572500" y="2552700"/>
            <a:ext cx="0" cy="24130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18550" y="255270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검토</a:t>
            </a:r>
            <a:endParaRPr lang="ko-KR" sz="1250" dirty="0"/>
          </a:p>
        </p:txBody>
      </p:sp>
      <p:sp>
        <p:nvSpPr>
          <p:cNvPr id="17" name="Shape 15"/>
          <p:cNvSpPr/>
          <p:nvPr/>
        </p:nvSpPr>
        <p:spPr>
          <a:xfrm>
            <a:off x="762000" y="3479800"/>
            <a:ext cx="106680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pic>
        <p:nvPicPr>
          <p:cNvPr id="18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0" y="2806700"/>
            <a:ext cx="8572500" cy="6667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62000" y="3024188"/>
            <a:ext cx="11811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탐색 · 업무 가설</a:t>
            </a:r>
            <a:endParaRPr lang="ko-KR" sz="1500" dirty="0"/>
          </a:p>
        </p:txBody>
      </p:sp>
      <p:sp>
        <p:nvSpPr>
          <p:cNvPr id="20" name="Shape 17"/>
          <p:cNvSpPr/>
          <p:nvPr/>
        </p:nvSpPr>
        <p:spPr>
          <a:xfrm>
            <a:off x="2857500" y="2998788"/>
            <a:ext cx="5715000" cy="282575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57500" y="2998788"/>
            <a:ext cx="0" cy="282575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35300" y="3036888"/>
            <a:ext cx="39483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문제 정의, 대표 질문, 제외 조건과 기대 결과를 문서로 남깁니다.</a:t>
            </a:r>
            <a:endParaRPr lang="ko-KR" sz="1250" dirty="0"/>
          </a:p>
        </p:txBody>
      </p:sp>
      <p:sp>
        <p:nvSpPr>
          <p:cNvPr id="23" name="Shape 20"/>
          <p:cNvSpPr/>
          <p:nvPr/>
        </p:nvSpPr>
        <p:spPr>
          <a:xfrm>
            <a:off x="762000" y="4152900"/>
            <a:ext cx="106680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pic>
        <p:nvPicPr>
          <p:cNvPr id="24" name="Image 1" descr="CSS deco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3479800"/>
            <a:ext cx="8572500" cy="6667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62000" y="3697288"/>
            <a:ext cx="11811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 · 실패 근거</a:t>
            </a:r>
            <a:endParaRPr lang="ko-KR" sz="1500" dirty="0"/>
          </a:p>
        </p:txBody>
      </p:sp>
      <p:sp>
        <p:nvSpPr>
          <p:cNvPr id="26" name="Shape 22"/>
          <p:cNvSpPr/>
          <p:nvPr/>
        </p:nvSpPr>
        <p:spPr>
          <a:xfrm>
            <a:off x="5715000" y="3671888"/>
            <a:ext cx="5715000" cy="282575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715000" y="3671888"/>
            <a:ext cx="0" cy="282575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92800" y="3709988"/>
            <a:ext cx="4301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제한된 데이터로 구현하고 평가 기록·권한 시험·수정 이력을 남깁니다.</a:t>
            </a:r>
            <a:endParaRPr lang="ko-KR" sz="1250" dirty="0"/>
          </a:p>
        </p:txBody>
      </p:sp>
      <p:sp>
        <p:nvSpPr>
          <p:cNvPr id="29" name="Shape 25"/>
          <p:cNvSpPr/>
          <p:nvPr/>
        </p:nvSpPr>
        <p:spPr>
          <a:xfrm>
            <a:off x="762000" y="4826000"/>
            <a:ext cx="106680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pic>
        <p:nvPicPr>
          <p:cNvPr id="30" name="Image 2" descr="CSS deco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4152900"/>
            <a:ext cx="8572500" cy="6667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62000" y="4370388"/>
            <a:ext cx="118115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-37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준비 · 운영 책임</a:t>
            </a:r>
            <a:endParaRPr lang="ko-KR" sz="1500" dirty="0"/>
          </a:p>
        </p:txBody>
      </p:sp>
      <p:sp>
        <p:nvSpPr>
          <p:cNvPr id="32" name="Shape 27"/>
          <p:cNvSpPr/>
          <p:nvPr/>
        </p:nvSpPr>
        <p:spPr>
          <a:xfrm>
            <a:off x="2857500" y="4338638"/>
            <a:ext cx="8572500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2857500" y="4338638"/>
            <a:ext cx="8572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1430000" y="4338638"/>
            <a:ext cx="0" cy="295275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2857500" y="4633913"/>
            <a:ext cx="8572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857500" y="4338638"/>
            <a:ext cx="0" cy="295275"/>
          </a:xfrm>
          <a:prstGeom prst="line">
            <a:avLst/>
          </a:prstGeom>
          <a:noFill/>
          <a:ln w="38100">
            <a:solidFill>
              <a:srgbClr val="0E0E0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035300" y="4383088"/>
            <a:ext cx="331564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관측, 오류 대응, 비용 확인과 중단 계획을 합의합니다.</a:t>
            </a:r>
            <a:endParaRPr lang="ko-KR" sz="1250" dirty="0"/>
          </a:p>
        </p:txBody>
      </p:sp>
      <p:sp>
        <p:nvSpPr>
          <p:cNvPr id="38" name="Shape 33"/>
          <p:cNvSpPr/>
          <p:nvPr/>
        </p:nvSpPr>
        <p:spPr>
          <a:xfrm>
            <a:off x="762000" y="49022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62000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단계의 의미</a:t>
            </a:r>
            <a:endParaRPr lang="ko-KR" sz="1250" dirty="0"/>
          </a:p>
        </p:txBody>
      </p:sp>
      <p:sp>
        <p:nvSpPr>
          <p:cNvPr id="40" name="Text 35"/>
          <p:cNvSpPr/>
          <p:nvPr/>
        </p:nvSpPr>
        <p:spPr>
          <a:xfrm>
            <a:off x="762000" y="5243513"/>
            <a:ext cx="32021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날짜와 소요 기간을 보장하지 않습니다. 업무 난도와</a:t>
            </a:r>
            <a:endParaRPr lang="ko-KR" sz="1250" dirty="0"/>
          </a:p>
        </p:txBody>
      </p:sp>
      <p:sp>
        <p:nvSpPr>
          <p:cNvPr id="41" name="Text 36"/>
          <p:cNvSpPr/>
          <p:nvPr/>
        </p:nvSpPr>
        <p:spPr>
          <a:xfrm>
            <a:off x="762000" y="5449888"/>
            <a:ext cx="261744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데이터·권한 준비 상태에 따라 달라집니다.</a:t>
            </a:r>
            <a:endParaRPr lang="ko-KR" sz="1250" dirty="0"/>
          </a:p>
        </p:txBody>
      </p:sp>
      <p:sp>
        <p:nvSpPr>
          <p:cNvPr id="42" name="Shape 37"/>
          <p:cNvSpPr/>
          <p:nvPr/>
        </p:nvSpPr>
        <p:spPr>
          <a:xfrm>
            <a:off x="4385667" y="49022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385667" y="4984750"/>
            <a:ext cx="897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이어지는 책임</a:t>
            </a:r>
            <a:endParaRPr lang="ko-KR" sz="1250" dirty="0"/>
          </a:p>
        </p:txBody>
      </p:sp>
      <p:sp>
        <p:nvSpPr>
          <p:cNvPr id="44" name="Text 39"/>
          <p:cNvSpPr/>
          <p:nvPr/>
        </p:nvSpPr>
        <p:spPr>
          <a:xfrm>
            <a:off x="4385667" y="5243513"/>
            <a:ext cx="338708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단계로 넘어갈 때 이전 단계의 실패 사례와 가정을</a:t>
            </a:r>
            <a:endParaRPr lang="ko-KR" sz="1250" dirty="0"/>
          </a:p>
        </p:txBody>
      </p:sp>
      <p:sp>
        <p:nvSpPr>
          <p:cNvPr id="45" name="Text 40"/>
          <p:cNvSpPr/>
          <p:nvPr/>
        </p:nvSpPr>
        <p:spPr>
          <a:xfrm>
            <a:off x="4385667" y="5449888"/>
            <a:ext cx="9336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함께 넘깁니다.</a:t>
            </a:r>
            <a:endParaRPr lang="ko-KR" sz="1250" dirty="0"/>
          </a:p>
        </p:txBody>
      </p:sp>
      <p:sp>
        <p:nvSpPr>
          <p:cNvPr id="46" name="Shape 41"/>
          <p:cNvSpPr/>
          <p:nvPr/>
        </p:nvSpPr>
        <p:spPr>
          <a:xfrm>
            <a:off x="8009434" y="49022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009434" y="49847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계획의 한계</a:t>
            </a:r>
            <a:endParaRPr lang="ko-KR" sz="1250" dirty="0"/>
          </a:p>
        </p:txBody>
      </p:sp>
      <p:sp>
        <p:nvSpPr>
          <p:cNvPr id="48" name="Text 43"/>
          <p:cNvSpPr/>
          <p:nvPr/>
        </p:nvSpPr>
        <p:spPr>
          <a:xfrm>
            <a:off x="8009434" y="5243513"/>
            <a:ext cx="334581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질문·데이터 범위가 달라지면 검증을 다시 설계합니다.</a:t>
            </a:r>
            <a:endParaRPr lang="ko-KR" sz="1250" dirty="0"/>
          </a:p>
        </p:txBody>
      </p:sp>
      <p:sp>
        <p:nvSpPr>
          <p:cNvPr id="49" name="Text 44"/>
          <p:cNvSpPr/>
          <p:nvPr/>
        </p:nvSpPr>
        <p:spPr>
          <a:xfrm>
            <a:off x="8009434" y="5449888"/>
            <a:ext cx="256932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작은 시연만으로 확대 적용하지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허용 문서를 검색 근거로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7406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DATAFLOW · 가상 흐름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22384" y="279400"/>
            <a:ext cx="23530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747699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문서 → 정제 → 검색 자료 → 답변·검토로 분기하는 가상 데이터 흐름입니다.</a:t>
            </a:r>
            <a:endParaRPr lang="ko-KR" sz="1600" dirty="0"/>
          </a:p>
        </p:txBody>
      </p:sp>
      <p:pic>
        <p:nvPicPr>
          <p:cNvPr id="9" name="Image 0" descr="01 / 원천 허용 문서 본문 · 문서 ID 접근 범위 02 / 처리 문서 정제 본문 분할 · 형식 정리 문서 ID 보존 03 / 저장 검색 자료 04 / 소비 답변 검토 기록 원문 문서 조각 근거 참조 실선 = 데이터 전달 가상 설계 · 배포 아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01900"/>
            <a:ext cx="10668000" cy="269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2000" y="52705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변환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762000" y="5611813"/>
            <a:ext cx="27124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문서 식별자와 접근 범위를 유지하며 조각을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762000" y="5818188"/>
            <a:ext cx="337527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준비합니다. 형식 오류와 권한 검사는 별도 설계합니다.</a:t>
            </a:r>
            <a:endParaRPr lang="ko-KR" sz="1250" dirty="0"/>
          </a:p>
        </p:txBody>
      </p:sp>
      <p:sp>
        <p:nvSpPr>
          <p:cNvPr id="14" name="Shape 11"/>
          <p:cNvSpPr/>
          <p:nvPr/>
        </p:nvSpPr>
        <p:spPr>
          <a:xfrm>
            <a:off x="4385667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5667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분기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4385667" y="5611813"/>
            <a:ext cx="2294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답변에는 관련 근거를, 평가에는 검토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4385667" y="5818188"/>
            <a:ext cx="270664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기록을 연결합니다. 저장했다고 답변 품질이</a:t>
            </a:r>
            <a:endParaRPr lang="ko-KR" sz="1250" dirty="0"/>
          </a:p>
        </p:txBody>
      </p:sp>
      <p:sp>
        <p:nvSpPr>
          <p:cNvPr id="18" name="Text 15"/>
          <p:cNvSpPr/>
          <p:nvPr/>
        </p:nvSpPr>
        <p:spPr>
          <a:xfrm>
            <a:off x="4385667" y="6024563"/>
            <a:ext cx="1345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보장되지는 않습니다.</a:t>
            </a:r>
            <a:endParaRPr lang="ko-KR" sz="1250" dirty="0"/>
          </a:p>
        </p:txBody>
      </p:sp>
      <p:sp>
        <p:nvSpPr>
          <p:cNvPr id="19" name="Shape 16"/>
          <p:cNvSpPr/>
          <p:nvPr/>
        </p:nvSpPr>
        <p:spPr>
          <a:xfrm>
            <a:off x="8009434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09434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가정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8009434" y="5611813"/>
            <a:ext cx="334402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실선은 제안한 데이터 전달입니다. 실제 Foundry 내부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8009434" y="5818188"/>
            <a:ext cx="275476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구조나 자동 수집·동기화를 뜻하지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 요청과 근거 반환을 구분합니다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83044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SEQUENCE · 가상 상호작용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76062" y="279400"/>
            <a:ext cx="18162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5674078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응용 → 에이전트 → 검색 도구의 정상 경로를 단순화한 가상 시퀀스입니다.</a:t>
            </a:r>
            <a:endParaRPr lang="ko-KR" sz="1600" dirty="0"/>
          </a:p>
        </p:txBody>
      </p:sp>
      <p:pic>
        <p:nvPicPr>
          <p:cNvPr id="9" name="Image 0" descr="응용 에이전트 검색 도구 1 · 질문 요청 / 업무 질문 2 · 근거 검색 / 허용 범위 3 · 검색 응답 / 관련 근거 4 · 답변 반환 / 근거 참조 실선 = 요청 점선 = 응답 세로 가는 선 = 생명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01900"/>
            <a:ext cx="10668000" cy="269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2000" y="52705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순서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762000" y="5611813"/>
            <a:ext cx="298713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응용은 질문을 보내고 에이전트는 도구로 근거를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762000" y="5818188"/>
            <a:ext cx="3196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요청합니다. 도구는 허용된 검색 결과를 반환합니다.</a:t>
            </a:r>
            <a:endParaRPr lang="ko-KR" sz="1250" dirty="0"/>
          </a:p>
        </p:txBody>
      </p:sp>
      <p:sp>
        <p:nvSpPr>
          <p:cNvPr id="14" name="Shape 11"/>
          <p:cNvSpPr/>
          <p:nvPr/>
        </p:nvSpPr>
        <p:spPr>
          <a:xfrm>
            <a:off x="4385667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5667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책임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4385667" y="5611813"/>
            <a:ext cx="324391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 근거를 받은 뒤 답변을 구성합니다. 세로 간격과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4385667" y="5818188"/>
            <a:ext cx="27484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화살표 길이는 지연 시간을 뜻하지 않습니다.</a:t>
            </a:r>
            <a:endParaRPr lang="ko-KR" sz="1250" dirty="0"/>
          </a:p>
        </p:txBody>
      </p:sp>
      <p:sp>
        <p:nvSpPr>
          <p:cNvPr id="18" name="Shape 15"/>
          <p:cNvSpPr/>
          <p:nvPr/>
        </p:nvSpPr>
        <p:spPr>
          <a:xfrm>
            <a:off x="8009434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9434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</a:t>
            </a:r>
            <a:endParaRPr lang="ko-KR" sz="1250" dirty="0"/>
          </a:p>
        </p:txBody>
      </p:sp>
      <p:sp>
        <p:nvSpPr>
          <p:cNvPr id="20" name="Text 17"/>
          <p:cNvSpPr/>
          <p:nvPr/>
        </p:nvSpPr>
        <p:spPr>
          <a:xfrm>
            <a:off x="8009434" y="5611813"/>
            <a:ext cx="227216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모델 호출·추가 도구·승인·오류·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8009434" y="5818188"/>
            <a:ext cx="28870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재시도는 생략했습니다. 특정 SDK 호출 순서를</a:t>
            </a:r>
            <a:endParaRPr lang="ko-KR" sz="1250" dirty="0"/>
          </a:p>
        </p:txBody>
      </p:sp>
      <p:sp>
        <p:nvSpPr>
          <p:cNvPr id="22" name="Text 19"/>
          <p:cNvSpPr/>
          <p:nvPr/>
        </p:nvSpPr>
        <p:spPr>
          <a:xfrm>
            <a:off x="8009434" y="6024563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 경로와 작업 권한은 별개입니다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83580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NETWORK · 가상 논리 구역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44510" y="279400"/>
            <a:ext cx="21317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650801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Q&amp;A 응용의 가상 접근 경계입니다. 실제 Azure 배포도나 사설 연결 보장이 아닙니다.</a:t>
            </a:r>
            <a:endParaRPr lang="ko-KR" sz="1600" dirty="0"/>
          </a:p>
        </p:txBody>
      </p:sp>
      <p:pic>
        <p:nvPicPr>
          <p:cNvPr id="9" name="Image 0" descr="직원 서비스 논리 구역 · 가상 게이트웨이 진입점 응용 구역 Q&amp;A 응용 진입 경로 제한 데이터 구역 허용 문서 조회 경로 제한 요청 전달 조회 직접 접근 차단 실선 = 허용 경로 점선 × = 차단 경로 ID / 작업 정책 · 별도 검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01900"/>
            <a:ext cx="10668000" cy="269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2000" y="52705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경계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762000" y="5611813"/>
            <a:ext cx="296332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사용자, 진입점, 업무 응용과 문서 자료를 논리적</a:t>
            </a:r>
            <a:endParaRPr lang="ko-KR" sz="1250" dirty="0"/>
          </a:p>
        </p:txBody>
      </p:sp>
      <p:sp>
        <p:nvSpPr>
          <p:cNvPr id="13" name="Text 10"/>
          <p:cNvSpPr/>
          <p:nvPr/>
        </p:nvSpPr>
        <p:spPr>
          <a:xfrm>
            <a:off x="762000" y="5818188"/>
            <a:ext cx="1345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구역으로 나눴습니다.</a:t>
            </a:r>
            <a:endParaRPr lang="ko-KR" sz="1250" dirty="0"/>
          </a:p>
        </p:txBody>
      </p:sp>
      <p:sp>
        <p:nvSpPr>
          <p:cNvPr id="14" name="Shape 11"/>
          <p:cNvSpPr/>
          <p:nvPr/>
        </p:nvSpPr>
        <p:spPr>
          <a:xfrm>
            <a:off x="4385667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5667" y="5353050"/>
            <a:ext cx="6336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ID와 정책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4385667" y="5611813"/>
            <a:ext cx="27542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경로가 열려 있어도 신원과 작업 권한은 따로</a:t>
            </a:r>
            <a:endParaRPr lang="ko-KR" sz="1250" dirty="0"/>
          </a:p>
        </p:txBody>
      </p:sp>
      <p:sp>
        <p:nvSpPr>
          <p:cNvPr id="17" name="Text 14"/>
          <p:cNvSpPr/>
          <p:nvPr/>
        </p:nvSpPr>
        <p:spPr>
          <a:xfrm>
            <a:off x="4385667" y="5818188"/>
            <a:ext cx="31962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확인합니다. 관리 경로와 정책 전파는 생략했습니다.</a:t>
            </a:r>
            <a:endParaRPr lang="ko-KR" sz="1250" dirty="0"/>
          </a:p>
        </p:txBody>
      </p:sp>
      <p:sp>
        <p:nvSpPr>
          <p:cNvPr id="18" name="Shape 15"/>
          <p:cNvSpPr/>
          <p:nvPr/>
        </p:nvSpPr>
        <p:spPr>
          <a:xfrm>
            <a:off x="8009434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9434" y="5353050"/>
            <a:ext cx="80214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 전 설계</a:t>
            </a:r>
            <a:endParaRPr lang="ko-KR" sz="1250" dirty="0"/>
          </a:p>
        </p:txBody>
      </p:sp>
      <p:sp>
        <p:nvSpPr>
          <p:cNvPr id="20" name="Text 17"/>
          <p:cNvSpPr/>
          <p:nvPr/>
        </p:nvSpPr>
        <p:spPr>
          <a:xfrm>
            <a:off x="8009434" y="5611813"/>
            <a:ext cx="330820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차단 표시는 의도입니다. 실제 네트워크·RBAC·데이터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8009434" y="5818188"/>
            <a:ext cx="243200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 설정과 시험으로 검증해야 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차트는 단위와 표본부터 읽습니다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39755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METRICS · 가상 수치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44510" y="279400"/>
            <a:ext cx="21317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619835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 검토 건수 40·65·85건을 0~100건 축에 표시합니다. 실측 성능이 아닙니다.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489200"/>
            <a:ext cx="13456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 예시 · 실측 아님</a:t>
            </a:r>
            <a:endParaRPr lang="ko-KR" sz="1250" dirty="0"/>
          </a:p>
        </p:txBody>
      </p:sp>
      <p:pic>
        <p:nvPicPr>
          <p:cNvPr id="10" name="Image 0" descr="건 100 50 0 40건 세트 A 65건 세트 B 85건 세트 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819400"/>
            <a:ext cx="6985000" cy="226060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65750"/>
          <a:ext cx="6985000" cy="854075"/>
        </p:xfrm>
        <a:graphic>
          <a:graphicData uri="http://schemas.openxmlformats.org/drawingml/2006/table">
            <a:tbl>
              <a:tblPr/>
              <a:tblGrid>
                <a:gridCol w="3492500"/>
                <a:gridCol w="3492500"/>
              </a:tblGrid>
              <a:tr h="2000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질문 세트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검토 건수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9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세트 A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40건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79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세트 B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65건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80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세트 C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85건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14300" marR="114300" marT="19050" marB="1905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2000" y="5137150"/>
            <a:ext cx="156791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차트와 같은 값 · 단위: 건</a:t>
            </a:r>
            <a:endParaRPr lang="ko-KR" sz="1250" dirty="0"/>
          </a:p>
        </p:txBody>
      </p:sp>
      <p:sp>
        <p:nvSpPr>
          <p:cNvPr id="13" name="Shape 9"/>
          <p:cNvSpPr/>
          <p:nvPr/>
        </p:nvSpPr>
        <p:spPr>
          <a:xfrm>
            <a:off x="8001000" y="2501900"/>
            <a:ext cx="3429000" cy="0"/>
          </a:xfrm>
          <a:prstGeom prst="line">
            <a:avLst/>
          </a:prstGeom>
          <a:noFill/>
          <a:ln w="31750">
            <a:solidFill>
              <a:srgbClr val="0F62F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01000" y="2609850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정의 / 검토 건수</a:t>
            </a:r>
            <a:endParaRPr lang="ko-KR" sz="1250" dirty="0"/>
          </a:p>
        </p:txBody>
      </p:sp>
      <p:sp>
        <p:nvSpPr>
          <p:cNvPr id="15" name="Text 11"/>
          <p:cNvSpPr/>
          <p:nvPr/>
        </p:nvSpPr>
        <p:spPr>
          <a:xfrm>
            <a:off x="8001000" y="2868613"/>
            <a:ext cx="3417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차트 정의는 검토한 질문 수입니다. 정답률, 처리 속도나</a:t>
            </a:r>
            <a:endParaRPr lang="ko-KR" sz="1250" dirty="0"/>
          </a:p>
        </p:txBody>
      </p:sp>
      <p:sp>
        <p:nvSpPr>
          <p:cNvPr id="16" name="Text 12"/>
          <p:cNvSpPr/>
          <p:nvPr/>
        </p:nvSpPr>
        <p:spPr>
          <a:xfrm>
            <a:off x="8001000" y="3074988"/>
            <a:ext cx="152465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비용 절감률이 아닙니다.</a:t>
            </a:r>
            <a:endParaRPr lang="ko-KR" sz="1250" dirty="0"/>
          </a:p>
        </p:txBody>
      </p:sp>
      <p:sp>
        <p:nvSpPr>
          <p:cNvPr id="17" name="Shape 13"/>
          <p:cNvSpPr/>
          <p:nvPr/>
        </p:nvSpPr>
        <p:spPr>
          <a:xfrm>
            <a:off x="8001000" y="3776067"/>
            <a:ext cx="3429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01000" y="3858617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해석 / 규모 차이</a:t>
            </a:r>
            <a:endParaRPr lang="ko-KR" sz="1250" dirty="0"/>
          </a:p>
        </p:txBody>
      </p:sp>
      <p:sp>
        <p:nvSpPr>
          <p:cNvPr id="19" name="Text 15"/>
          <p:cNvSpPr/>
          <p:nvPr/>
        </p:nvSpPr>
        <p:spPr>
          <a:xfrm>
            <a:off x="8001000" y="4117380"/>
            <a:ext cx="337607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표본 C의 수가 더 많아도 품질 우위를 뜻하지 않습니다.</a:t>
            </a:r>
            <a:endParaRPr lang="ko-KR" sz="1250" dirty="0"/>
          </a:p>
        </p:txBody>
      </p:sp>
      <p:sp>
        <p:nvSpPr>
          <p:cNvPr id="20" name="Text 16"/>
          <p:cNvSpPr/>
          <p:nvPr/>
        </p:nvSpPr>
        <p:spPr>
          <a:xfrm>
            <a:off x="8001000" y="4323755"/>
            <a:ext cx="234915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기간·입력량·질문 구성을 함께 봅니다.</a:t>
            </a:r>
            <a:endParaRPr lang="ko-KR" sz="1250" dirty="0"/>
          </a:p>
        </p:txBody>
      </p:sp>
      <p:sp>
        <p:nvSpPr>
          <p:cNvPr id="21" name="Shape 17"/>
          <p:cNvSpPr/>
          <p:nvPr/>
        </p:nvSpPr>
        <p:spPr>
          <a:xfrm>
            <a:off x="8001000" y="5050334"/>
            <a:ext cx="3429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01000" y="5132884"/>
            <a:ext cx="103659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표본 / 실측 아님</a:t>
            </a:r>
            <a:endParaRPr lang="ko-KR" sz="1250" dirty="0"/>
          </a:p>
        </p:txBody>
      </p:sp>
      <p:sp>
        <p:nvSpPr>
          <p:cNvPr id="23" name="Text 19"/>
          <p:cNvSpPr/>
          <p:nvPr/>
        </p:nvSpPr>
        <p:spPr>
          <a:xfrm>
            <a:off x="8001000" y="5391646"/>
            <a:ext cx="320849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레이아웃 설명용 가상 데이터입니다. 실제 평가·고객</a:t>
            </a:r>
            <a:endParaRPr lang="ko-KR" sz="1250" dirty="0"/>
          </a:p>
        </p:txBody>
      </p:sp>
      <p:sp>
        <p:nvSpPr>
          <p:cNvPr id="24" name="Text 20"/>
          <p:cNvSpPr/>
          <p:nvPr/>
        </p:nvSpPr>
        <p:spPr>
          <a:xfrm>
            <a:off x="8001000" y="5598021"/>
            <a:ext cx="257567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성과·모델 벤치마크로 인용하지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462345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 확인 지점을 코드로 설명합니다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22461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WALKTHROUGH · 예시 의사 코드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31909" y="279400"/>
            <a:ext cx="22577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688087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권한, 검색, 근거 부족 시 행동을 읽는 의사 코드입니다. 실행 가능한 SDK 예제가 아닙니다.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501900"/>
            <a:ext cx="6604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6000" y="2501900"/>
            <a:ext cx="0" cy="26924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5194300"/>
            <a:ext cx="6604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2501900"/>
            <a:ext cx="0" cy="269240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350" y="2889250"/>
            <a:ext cx="65913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750" y="2597150"/>
            <a:ext cx="270843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F62F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예시 의사 코드 · 실행 불가 / 제품 화면 아님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920750" y="30099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ko-KR" sz="1350" dirty="0"/>
          </a:p>
        </p:txBody>
      </p:sp>
      <p:sp>
        <p:nvSpPr>
          <p:cNvPr id="16" name="Text 14"/>
          <p:cNvSpPr/>
          <p:nvPr/>
        </p:nvSpPr>
        <p:spPr>
          <a:xfrm>
            <a:off x="1270000" y="3009900"/>
            <a:ext cx="219229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INPUT question, user</a:t>
            </a:r>
            <a:endParaRPr lang="ko-KR" sz="1350" dirty="0"/>
          </a:p>
        </p:txBody>
      </p:sp>
      <p:sp>
        <p:nvSpPr>
          <p:cNvPr id="17" name="Text 15"/>
          <p:cNvSpPr/>
          <p:nvPr/>
        </p:nvSpPr>
        <p:spPr>
          <a:xfrm>
            <a:off x="920750" y="32893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ko-KR" sz="1350" dirty="0"/>
          </a:p>
        </p:txBody>
      </p:sp>
      <p:sp>
        <p:nvSpPr>
          <p:cNvPr id="18" name="Text 16"/>
          <p:cNvSpPr/>
          <p:nvPr/>
        </p:nvSpPr>
        <p:spPr>
          <a:xfrm>
            <a:off x="1270000" y="3289300"/>
            <a:ext cx="250096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scope = authorize(user)</a:t>
            </a:r>
            <a:endParaRPr lang="ko-KR" sz="1350" dirty="0"/>
          </a:p>
        </p:txBody>
      </p:sp>
      <p:sp>
        <p:nvSpPr>
          <p:cNvPr id="19" name="Text 17"/>
          <p:cNvSpPr/>
          <p:nvPr/>
        </p:nvSpPr>
        <p:spPr>
          <a:xfrm>
            <a:off x="920750" y="35687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ko-KR" sz="1350" dirty="0"/>
          </a:p>
        </p:txBody>
      </p:sp>
      <p:sp>
        <p:nvSpPr>
          <p:cNvPr id="20" name="Text 18"/>
          <p:cNvSpPr/>
          <p:nvPr/>
        </p:nvSpPr>
        <p:spPr>
          <a:xfrm>
            <a:off x="1270000" y="3568700"/>
            <a:ext cx="363245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evidence = search(question, scope)</a:t>
            </a:r>
            <a:endParaRPr lang="ko-KR" sz="1350" dirty="0"/>
          </a:p>
        </p:txBody>
      </p:sp>
      <p:sp>
        <p:nvSpPr>
          <p:cNvPr id="21" name="Text 19"/>
          <p:cNvSpPr/>
          <p:nvPr/>
        </p:nvSpPr>
        <p:spPr>
          <a:xfrm>
            <a:off x="920750" y="38481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ko-KR" sz="1350" dirty="0"/>
          </a:p>
        </p:txBody>
      </p:sp>
      <p:sp>
        <p:nvSpPr>
          <p:cNvPr id="22" name="Text 20"/>
          <p:cNvSpPr/>
          <p:nvPr/>
        </p:nvSpPr>
        <p:spPr>
          <a:xfrm>
            <a:off x="1270000" y="3848100"/>
            <a:ext cx="311810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IF empty(evidence): ASK HUMAN</a:t>
            </a:r>
            <a:endParaRPr lang="ko-KR" sz="1350" dirty="0"/>
          </a:p>
        </p:txBody>
      </p:sp>
      <p:sp>
        <p:nvSpPr>
          <p:cNvPr id="23" name="Text 21"/>
          <p:cNvSpPr/>
          <p:nvPr/>
        </p:nvSpPr>
        <p:spPr>
          <a:xfrm>
            <a:off x="920750" y="41275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ko-KR" sz="1350" dirty="0"/>
          </a:p>
        </p:txBody>
      </p:sp>
      <p:sp>
        <p:nvSpPr>
          <p:cNvPr id="24" name="Text 22"/>
          <p:cNvSpPr/>
          <p:nvPr/>
        </p:nvSpPr>
        <p:spPr>
          <a:xfrm>
            <a:off x="1270000" y="4127500"/>
            <a:ext cx="383823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answer = compose(question, evidence)</a:t>
            </a:r>
            <a:endParaRPr lang="ko-KR" sz="1350" dirty="0"/>
          </a:p>
        </p:txBody>
      </p:sp>
      <p:sp>
        <p:nvSpPr>
          <p:cNvPr id="25" name="Text 23"/>
          <p:cNvSpPr/>
          <p:nvPr/>
        </p:nvSpPr>
        <p:spPr>
          <a:xfrm>
            <a:off x="920750" y="44069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ko-KR" sz="1350" dirty="0"/>
          </a:p>
        </p:txBody>
      </p:sp>
      <p:sp>
        <p:nvSpPr>
          <p:cNvPr id="26" name="Text 24"/>
          <p:cNvSpPr/>
          <p:nvPr/>
        </p:nvSpPr>
        <p:spPr>
          <a:xfrm>
            <a:off x="1270000" y="4406900"/>
            <a:ext cx="311810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record_refs(answer, evidence)</a:t>
            </a:r>
            <a:endParaRPr lang="ko-KR" sz="1350" dirty="0"/>
          </a:p>
        </p:txBody>
      </p:sp>
      <p:sp>
        <p:nvSpPr>
          <p:cNvPr id="27" name="Text 25"/>
          <p:cNvSpPr/>
          <p:nvPr/>
        </p:nvSpPr>
        <p:spPr>
          <a:xfrm>
            <a:off x="920750" y="4686300"/>
            <a:ext cx="237784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6B6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ko-KR" sz="1350" dirty="0"/>
          </a:p>
        </p:txBody>
      </p:sp>
      <p:sp>
        <p:nvSpPr>
          <p:cNvPr id="28" name="Text 26"/>
          <p:cNvSpPr/>
          <p:nvPr/>
        </p:nvSpPr>
        <p:spPr>
          <a:xfrm>
            <a:off x="1270000" y="4686300"/>
            <a:ext cx="147226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0E0E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RETURN answer</a:t>
            </a:r>
            <a:endParaRPr lang="ko-KR" sz="1350" dirty="0"/>
          </a:p>
        </p:txBody>
      </p:sp>
      <p:sp>
        <p:nvSpPr>
          <p:cNvPr id="29" name="Shape 27"/>
          <p:cNvSpPr/>
          <p:nvPr/>
        </p:nvSpPr>
        <p:spPr>
          <a:xfrm>
            <a:off x="7620000" y="2501900"/>
            <a:ext cx="3810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0" y="2571750"/>
            <a:ext cx="140946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ko-KR" sz="1600" dirty="0"/>
          </a:p>
        </p:txBody>
      </p:sp>
      <p:sp>
        <p:nvSpPr>
          <p:cNvPr id="31" name="Text 29"/>
          <p:cNvSpPr/>
          <p:nvPr/>
        </p:nvSpPr>
        <p:spPr>
          <a:xfrm>
            <a:off x="7988300" y="2597150"/>
            <a:ext cx="1201099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02행 · 권한 확인</a:t>
            </a:r>
            <a:endParaRPr lang="ko-KR" sz="1400" dirty="0"/>
          </a:p>
        </p:txBody>
      </p:sp>
      <p:sp>
        <p:nvSpPr>
          <p:cNvPr id="32" name="Text 30"/>
          <p:cNvSpPr/>
          <p:nvPr/>
        </p:nvSpPr>
        <p:spPr>
          <a:xfrm>
            <a:off x="7988300" y="2870200"/>
            <a:ext cx="34657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2행은 허용 자료 범위를 확인하는 설계 지점입니다. 모델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7988300" y="3076575"/>
            <a:ext cx="239023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지침만으로 권한을 통제하지 않습니다.</a:t>
            </a:r>
            <a:endParaRPr lang="ko-KR" sz="1250" dirty="0"/>
          </a:p>
        </p:txBody>
      </p:sp>
      <p:sp>
        <p:nvSpPr>
          <p:cNvPr id="34" name="Shape 32"/>
          <p:cNvSpPr/>
          <p:nvPr/>
        </p:nvSpPr>
        <p:spPr>
          <a:xfrm>
            <a:off x="7620000" y="3399334"/>
            <a:ext cx="3810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0" y="3469184"/>
            <a:ext cx="154341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ko-KR" sz="1600" dirty="0"/>
          </a:p>
        </p:txBody>
      </p:sp>
      <p:sp>
        <p:nvSpPr>
          <p:cNvPr id="36" name="Text 34"/>
          <p:cNvSpPr/>
          <p:nvPr/>
        </p:nvSpPr>
        <p:spPr>
          <a:xfrm>
            <a:off x="7988300" y="3494584"/>
            <a:ext cx="1210723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04행 · 근거 부족</a:t>
            </a:r>
            <a:endParaRPr lang="ko-KR" sz="1400" dirty="0"/>
          </a:p>
        </p:txBody>
      </p:sp>
      <p:sp>
        <p:nvSpPr>
          <p:cNvPr id="37" name="Text 35"/>
          <p:cNvSpPr/>
          <p:nvPr/>
        </p:nvSpPr>
        <p:spPr>
          <a:xfrm>
            <a:off x="7988300" y="3767634"/>
            <a:ext cx="346933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4행은 근거가 없을 때 추가 확인을 요청하는 분기입니다.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7988300" y="3974009"/>
            <a:ext cx="229468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빈 결과를 성공으로 숨기지 않습니다.</a:t>
            </a:r>
            <a:endParaRPr lang="ko-KR" sz="1250" dirty="0"/>
          </a:p>
        </p:txBody>
      </p:sp>
      <p:sp>
        <p:nvSpPr>
          <p:cNvPr id="39" name="Shape 37"/>
          <p:cNvSpPr/>
          <p:nvPr/>
        </p:nvSpPr>
        <p:spPr>
          <a:xfrm>
            <a:off x="7620000" y="4296767"/>
            <a:ext cx="38100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0" y="4366617"/>
            <a:ext cx="15136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</a:t>
            </a:r>
            <a:endParaRPr lang="ko-KR" sz="1600" dirty="0"/>
          </a:p>
        </p:txBody>
      </p:sp>
      <p:sp>
        <p:nvSpPr>
          <p:cNvPr id="41" name="Text 39"/>
          <p:cNvSpPr/>
          <p:nvPr/>
        </p:nvSpPr>
        <p:spPr>
          <a:xfrm>
            <a:off x="7988300" y="4392017"/>
            <a:ext cx="1209631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06행 · 참조 기록</a:t>
            </a:r>
            <a:endParaRPr lang="ko-KR" sz="1400" dirty="0"/>
          </a:p>
        </p:txBody>
      </p:sp>
      <p:sp>
        <p:nvSpPr>
          <p:cNvPr id="42" name="Text 40"/>
          <p:cNvSpPr/>
          <p:nvPr/>
        </p:nvSpPr>
        <p:spPr>
          <a:xfrm>
            <a:off x="7988300" y="4665067"/>
            <a:ext cx="3427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6행은 근거와 응답 기록을 연결하는 지점입니다. 민감한</a:t>
            </a:r>
            <a:endParaRPr lang="ko-KR" sz="1250" dirty="0"/>
          </a:p>
        </p:txBody>
      </p:sp>
      <p:sp>
        <p:nvSpPr>
          <p:cNvPr id="43" name="Text 41"/>
          <p:cNvSpPr/>
          <p:nvPr/>
        </p:nvSpPr>
        <p:spPr>
          <a:xfrm>
            <a:off x="7988300" y="4871442"/>
            <a:ext cx="21155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원문은 무조건 기록하지 않습니다.</a:t>
            </a:r>
            <a:endParaRPr lang="ko-KR" sz="1250" dirty="0"/>
          </a:p>
        </p:txBody>
      </p:sp>
      <p:sp>
        <p:nvSpPr>
          <p:cNvPr id="44" name="Shape 42"/>
          <p:cNvSpPr/>
          <p:nvPr/>
        </p:nvSpPr>
        <p:spPr>
          <a:xfrm>
            <a:off x="762000" y="5270500"/>
            <a:ext cx="3420467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762000" y="5611813"/>
            <a:ext cx="314945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2행은 허용 자료 범위를 확인하는 설계 지점입니다.</a:t>
            </a:r>
            <a:endParaRPr lang="ko-KR" sz="1250" dirty="0"/>
          </a:p>
        </p:txBody>
      </p:sp>
      <p:sp>
        <p:nvSpPr>
          <p:cNvPr id="47" name="Text 45"/>
          <p:cNvSpPr/>
          <p:nvPr/>
        </p:nvSpPr>
        <p:spPr>
          <a:xfrm>
            <a:off x="762000" y="5818188"/>
            <a:ext cx="270664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 지침만으로 권한을 통제하지 않습니다.</a:t>
            </a:r>
            <a:endParaRPr lang="ko-KR" sz="1250" dirty="0"/>
          </a:p>
        </p:txBody>
      </p:sp>
      <p:sp>
        <p:nvSpPr>
          <p:cNvPr id="48" name="Shape 46"/>
          <p:cNvSpPr/>
          <p:nvPr/>
        </p:nvSpPr>
        <p:spPr>
          <a:xfrm>
            <a:off x="4385667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5667" y="5353050"/>
            <a:ext cx="306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4385667" y="5611813"/>
            <a:ext cx="270505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4행은 근거가 없을 때 추가 확인을 요청하는</a:t>
            </a:r>
            <a:endParaRPr lang="ko-KR" sz="1250" dirty="0"/>
          </a:p>
        </p:txBody>
      </p:sp>
      <p:sp>
        <p:nvSpPr>
          <p:cNvPr id="51" name="Text 49"/>
          <p:cNvSpPr/>
          <p:nvPr/>
        </p:nvSpPr>
        <p:spPr>
          <a:xfrm>
            <a:off x="4385667" y="5818188"/>
            <a:ext cx="30589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분기입니다. 빈 결과를 성공으로 숨기지 않습니다.</a:t>
            </a:r>
            <a:endParaRPr lang="ko-KR" sz="1250" dirty="0"/>
          </a:p>
        </p:txBody>
      </p:sp>
      <p:sp>
        <p:nvSpPr>
          <p:cNvPr id="52" name="Shape 50"/>
          <p:cNvSpPr/>
          <p:nvPr/>
        </p:nvSpPr>
        <p:spPr>
          <a:xfrm>
            <a:off x="8009434" y="5270500"/>
            <a:ext cx="3420566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9434" y="53530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원본 교체</a:t>
            </a:r>
            <a:endParaRPr lang="ko-KR" sz="1250" dirty="0"/>
          </a:p>
        </p:txBody>
      </p:sp>
      <p:sp>
        <p:nvSpPr>
          <p:cNvPr id="54" name="Text 52"/>
          <p:cNvSpPr/>
          <p:nvPr/>
        </p:nvSpPr>
        <p:spPr>
          <a:xfrm>
            <a:off x="8009434" y="5611813"/>
            <a:ext cx="3427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6행은 근거와 응답 기록을 연결하는 지점입니다. 민감한</a:t>
            </a:r>
            <a:endParaRPr lang="ko-KR" sz="1250" dirty="0"/>
          </a:p>
        </p:txBody>
      </p:sp>
      <p:sp>
        <p:nvSpPr>
          <p:cNvPr id="55" name="Text 53"/>
          <p:cNvSpPr/>
          <p:nvPr/>
        </p:nvSpPr>
        <p:spPr>
          <a:xfrm>
            <a:off x="8009434" y="5818188"/>
            <a:ext cx="21155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원문은 무조건 기록하지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7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7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74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5799689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허용 범위와 근거로 응답을 분기합니다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638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DECISION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47685" y="279400"/>
            <a:ext cx="21000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6948345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 Q&amp;A 설계입니다. 자료 접근 허용 여부와 검색 근거의 충분함은 서로 다른 판단입니다.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1536303" y="2755900"/>
            <a:ext cx="4903887" cy="6985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3592" y="2863850"/>
            <a:ext cx="196121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접근이 허용된 자료인가요?</a:t>
            </a:r>
            <a:endParaRPr lang="ko-KR" sz="1450" dirty="0"/>
          </a:p>
        </p:txBody>
      </p:sp>
      <p:sp>
        <p:nvSpPr>
          <p:cNvPr id="11" name="Text 9"/>
          <p:cNvSpPr/>
          <p:nvPr/>
        </p:nvSpPr>
        <p:spPr>
          <a:xfrm>
            <a:off x="2770287" y="3157339"/>
            <a:ext cx="2467824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사용자와 자료의 허용 범위를 확인합니다.</a:t>
            </a:r>
            <a:endParaRPr lang="ko-KR" sz="1200" dirty="0"/>
          </a:p>
        </p:txBody>
      </p:sp>
      <p:sp>
        <p:nvSpPr>
          <p:cNvPr id="12" name="Text 10"/>
          <p:cNvSpPr/>
          <p:nvPr/>
        </p:nvSpPr>
        <p:spPr>
          <a:xfrm>
            <a:off x="2093020" y="3590925"/>
            <a:ext cx="551613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아니오 ↓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5495627" y="3590925"/>
            <a:ext cx="28788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 ↓</a:t>
            </a:r>
            <a:endParaRPr lang="ko-KR" sz="1200" dirty="0"/>
          </a:p>
        </p:txBody>
      </p:sp>
      <p:sp>
        <p:nvSpPr>
          <p:cNvPr id="14" name="Shape 12"/>
          <p:cNvSpPr/>
          <p:nvPr/>
        </p:nvSpPr>
        <p:spPr>
          <a:xfrm>
            <a:off x="762000" y="3911600"/>
            <a:ext cx="3181747" cy="0"/>
          </a:xfrm>
          <a:prstGeom prst="line">
            <a:avLst/>
          </a:prstGeom>
          <a:noFill/>
          <a:ln w="19050">
            <a:solidFill>
              <a:srgbClr val="0E0E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700" y="4038600"/>
            <a:ext cx="135478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접근을 중단합니다</a:t>
            </a:r>
            <a:endParaRPr lang="ko-KR" sz="1450" dirty="0"/>
          </a:p>
        </p:txBody>
      </p:sp>
      <p:sp>
        <p:nvSpPr>
          <p:cNvPr id="16" name="Text 14"/>
          <p:cNvSpPr/>
          <p:nvPr/>
        </p:nvSpPr>
        <p:spPr>
          <a:xfrm>
            <a:off x="901700" y="4332089"/>
            <a:ext cx="2771632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권한을 우회하지 않고 거절 이유를 안내합니다.</a:t>
            </a:r>
            <a:endParaRPr lang="ko-KR" sz="1200" dirty="0"/>
          </a:p>
        </p:txBody>
      </p:sp>
      <p:sp>
        <p:nvSpPr>
          <p:cNvPr id="17" name="Shape 15"/>
          <p:cNvSpPr/>
          <p:nvPr/>
        </p:nvSpPr>
        <p:spPr>
          <a:xfrm>
            <a:off x="4032647" y="3911600"/>
            <a:ext cx="3181846" cy="8128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32647" y="3911600"/>
            <a:ext cx="3181846" cy="0"/>
          </a:xfrm>
          <a:prstGeom prst="line">
            <a:avLst/>
          </a:prstGeom>
          <a:noFill/>
          <a:ln w="1905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2347" y="4038600"/>
            <a:ext cx="1801967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답변 근거가 충분한가요?</a:t>
            </a:r>
            <a:endParaRPr lang="ko-KR" sz="1450" dirty="0"/>
          </a:p>
        </p:txBody>
      </p:sp>
      <p:sp>
        <p:nvSpPr>
          <p:cNvPr id="20" name="Text 18"/>
          <p:cNvSpPr/>
          <p:nvPr/>
        </p:nvSpPr>
        <p:spPr>
          <a:xfrm>
            <a:off x="4172347" y="4332089"/>
            <a:ext cx="2336062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관련 문서와 질문의 대응을 확인합니다.</a:t>
            </a:r>
            <a:endParaRPr lang="ko-KR" sz="1200" dirty="0"/>
          </a:p>
        </p:txBody>
      </p:sp>
      <p:sp>
        <p:nvSpPr>
          <p:cNvPr id="21" name="Text 19"/>
          <p:cNvSpPr/>
          <p:nvPr/>
        </p:nvSpPr>
        <p:spPr>
          <a:xfrm>
            <a:off x="4677866" y="4848225"/>
            <a:ext cx="28788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 ↓</a:t>
            </a:r>
            <a:endParaRPr lang="ko-KR" sz="1200" dirty="0"/>
          </a:p>
        </p:txBody>
      </p:sp>
      <p:sp>
        <p:nvSpPr>
          <p:cNvPr id="22" name="Text 20"/>
          <p:cNvSpPr/>
          <p:nvPr/>
        </p:nvSpPr>
        <p:spPr>
          <a:xfrm>
            <a:off x="6181427" y="4848225"/>
            <a:ext cx="551613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아니오 ↓</a:t>
            </a:r>
            <a:endParaRPr lang="ko-KR" sz="1200" dirty="0"/>
          </a:p>
        </p:txBody>
      </p:sp>
      <p:sp>
        <p:nvSpPr>
          <p:cNvPr id="23" name="Shape 21"/>
          <p:cNvSpPr/>
          <p:nvPr/>
        </p:nvSpPr>
        <p:spPr>
          <a:xfrm>
            <a:off x="4032647" y="5156200"/>
            <a:ext cx="1546423" cy="9017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32647" y="5156200"/>
            <a:ext cx="1546423" cy="0"/>
          </a:xfrm>
          <a:prstGeom prst="line">
            <a:avLst/>
          </a:prstGeom>
          <a:noFill/>
          <a:ln w="19050">
            <a:solidFill>
              <a:srgbClr val="0F6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4247" y="5270500"/>
            <a:ext cx="78953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근거와 답변</a:t>
            </a:r>
            <a:endParaRPr lang="ko-KR" sz="1300" dirty="0"/>
          </a:p>
        </p:txBody>
      </p:sp>
      <p:sp>
        <p:nvSpPr>
          <p:cNvPr id="26" name="Text 24"/>
          <p:cNvSpPr/>
          <p:nvPr/>
        </p:nvSpPr>
        <p:spPr>
          <a:xfrm>
            <a:off x="4134247" y="5535116"/>
            <a:ext cx="1345561" cy="189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참조를 남겨 검토합니다.</a:t>
            </a:r>
            <a:endParaRPr lang="ko-KR" sz="1100" dirty="0"/>
          </a:p>
        </p:txBody>
      </p:sp>
      <p:sp>
        <p:nvSpPr>
          <p:cNvPr id="27" name="Shape 25"/>
          <p:cNvSpPr/>
          <p:nvPr/>
        </p:nvSpPr>
        <p:spPr>
          <a:xfrm>
            <a:off x="5667970" y="5156200"/>
            <a:ext cx="1546523" cy="0"/>
          </a:xfrm>
          <a:prstGeom prst="line">
            <a:avLst/>
          </a:prstGeom>
          <a:noFill/>
          <a:ln w="19050">
            <a:solidFill>
              <a:srgbClr val="0E0E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9570" y="5270500"/>
            <a:ext cx="64676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추가 확인</a:t>
            </a:r>
            <a:endParaRPr lang="ko-KR" sz="1300" dirty="0"/>
          </a:p>
        </p:txBody>
      </p:sp>
      <p:sp>
        <p:nvSpPr>
          <p:cNvPr id="29" name="Text 27"/>
          <p:cNvSpPr/>
          <p:nvPr/>
        </p:nvSpPr>
        <p:spPr>
          <a:xfrm>
            <a:off x="5769570" y="5535116"/>
            <a:ext cx="793806" cy="189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정보나 검토를</a:t>
            </a:r>
            <a:endParaRPr lang="ko-KR" sz="1100" dirty="0"/>
          </a:p>
        </p:txBody>
      </p:sp>
      <p:sp>
        <p:nvSpPr>
          <p:cNvPr id="30" name="Text 28"/>
          <p:cNvSpPr/>
          <p:nvPr/>
        </p:nvSpPr>
        <p:spPr>
          <a:xfrm>
            <a:off x="5769570" y="5716687"/>
            <a:ext cx="667798" cy="189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요청합니다.</a:t>
            </a:r>
            <a:endParaRPr lang="ko-KR" sz="1100" dirty="0"/>
          </a:p>
        </p:txBody>
      </p:sp>
      <p:sp>
        <p:nvSpPr>
          <p:cNvPr id="31" name="Shape 29"/>
          <p:cNvSpPr/>
          <p:nvPr/>
        </p:nvSpPr>
        <p:spPr>
          <a:xfrm>
            <a:off x="7519293" y="2590800"/>
            <a:ext cx="3910707" cy="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9293" y="27432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7519293" y="3008313"/>
            <a:ext cx="288573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 허용은 응용의 통제 지점에서 확인합니다.</a:t>
            </a:r>
            <a:endParaRPr lang="ko-KR" sz="1250" dirty="0"/>
          </a:p>
        </p:txBody>
      </p:sp>
      <p:sp>
        <p:nvSpPr>
          <p:cNvPr id="34" name="Text 32"/>
          <p:cNvSpPr/>
          <p:nvPr/>
        </p:nvSpPr>
        <p:spPr>
          <a:xfrm>
            <a:off x="7519293" y="3217863"/>
            <a:ext cx="270664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모델의 답변 지침만으로 대신하지 않습니다.</a:t>
            </a:r>
            <a:endParaRPr lang="ko-KR" sz="1250" dirty="0"/>
          </a:p>
        </p:txBody>
      </p:sp>
      <p:sp>
        <p:nvSpPr>
          <p:cNvPr id="35" name="Shape 33"/>
          <p:cNvSpPr/>
          <p:nvPr/>
        </p:nvSpPr>
        <p:spPr>
          <a:xfrm>
            <a:off x="7519293" y="3839567"/>
            <a:ext cx="391070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9293" y="3960217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7519293" y="4225330"/>
            <a:ext cx="24378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허용된 자료라도 답변 근거가 부족할 수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7519293" y="4434880"/>
            <a:ext cx="27843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있습니다. 두 조건의 실패 경로를 구분합니다.</a:t>
            </a:r>
            <a:endParaRPr lang="ko-KR" sz="1250" dirty="0"/>
          </a:p>
        </p:txBody>
      </p:sp>
      <p:sp>
        <p:nvSpPr>
          <p:cNvPr id="39" name="Shape 37"/>
          <p:cNvSpPr/>
          <p:nvPr/>
        </p:nvSpPr>
        <p:spPr>
          <a:xfrm>
            <a:off x="7519293" y="5088434"/>
            <a:ext cx="391070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9293" y="5209084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41" name="Text 39"/>
          <p:cNvSpPr/>
          <p:nvPr/>
        </p:nvSpPr>
        <p:spPr>
          <a:xfrm>
            <a:off x="7519293" y="5474196"/>
            <a:ext cx="27611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설명용 분기입니다. 실제 인증·오류·재시도와</a:t>
            </a:r>
            <a:endParaRPr lang="ko-KR" sz="1250" dirty="0"/>
          </a:p>
        </p:txBody>
      </p:sp>
      <p:sp>
        <p:nvSpPr>
          <p:cNvPr id="42" name="Text 40"/>
          <p:cNvSpPr/>
          <p:nvPr/>
        </p:nvSpPr>
        <p:spPr>
          <a:xfrm>
            <a:off x="7519293" y="5683746"/>
            <a:ext cx="261109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사람 검토 절차는 별도 구현이 필요합니다.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904292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확장보다 업무와 통제의 기반을 먼저 놓습니다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5134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PYRAMID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34787" y="279400"/>
            <a:ext cx="22290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16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771828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 도입 원칙을 기반·검증·확장의 세 층으로 읽습니다. 공식 제품 계층이나 성숙도 점수가 아닙니다.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2439690" y="2891433"/>
            <a:ext cx="3097113" cy="8509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2139" y="3050183"/>
            <a:ext cx="1084120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범위 확장</a:t>
            </a:r>
            <a:endParaRPr lang="ko-KR" sz="1450" dirty="0"/>
          </a:p>
        </p:txBody>
      </p:sp>
      <p:sp>
        <p:nvSpPr>
          <p:cNvPr id="11" name="Text 9"/>
          <p:cNvSpPr/>
          <p:nvPr/>
        </p:nvSpPr>
        <p:spPr>
          <a:xfrm>
            <a:off x="3053953" y="3343672"/>
            <a:ext cx="1900492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업무와 사용자를 검토합니다.</a:t>
            </a:r>
            <a:endParaRPr lang="ko-KR" sz="1200" dirty="0"/>
          </a:p>
        </p:txBody>
      </p:sp>
      <p:sp>
        <p:nvSpPr>
          <p:cNvPr id="12" name="Shape 10"/>
          <p:cNvSpPr/>
          <p:nvPr/>
        </p:nvSpPr>
        <p:spPr>
          <a:xfrm>
            <a:off x="1665387" y="3818533"/>
            <a:ext cx="4645720" cy="85090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2070" y="3977283"/>
            <a:ext cx="1244358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평가와 검토</a:t>
            </a:r>
            <a:endParaRPr lang="ko-KR" sz="1450" dirty="0"/>
          </a:p>
        </p:txBody>
      </p:sp>
      <p:sp>
        <p:nvSpPr>
          <p:cNvPr id="14" name="Text 12"/>
          <p:cNvSpPr/>
          <p:nvPr/>
        </p:nvSpPr>
        <p:spPr>
          <a:xfrm>
            <a:off x="2658170" y="4270772"/>
            <a:ext cx="269205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질문·실패 조건·운영 신호를 확인합니다.</a:t>
            </a:r>
            <a:endParaRPr lang="ko-KR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745633"/>
            <a:ext cx="6452493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4493" y="4745633"/>
            <a:ext cx="0" cy="85090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5596533"/>
            <a:ext cx="6452493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4745633"/>
            <a:ext cx="0" cy="85090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6357" y="4917083"/>
            <a:ext cx="1215783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업무와 통제</a:t>
            </a:r>
            <a:endParaRPr lang="ko-KR" sz="1450" dirty="0"/>
          </a:p>
        </p:txBody>
      </p:sp>
      <p:sp>
        <p:nvSpPr>
          <p:cNvPr id="20" name="Text 18"/>
          <p:cNvSpPr/>
          <p:nvPr/>
        </p:nvSpPr>
        <p:spPr>
          <a:xfrm>
            <a:off x="2658170" y="5210572"/>
            <a:ext cx="269205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범위·접근 조건·담당 책임을 합의합니다.</a:t>
            </a:r>
            <a:endParaRPr lang="ko-KR" sz="1200" dirty="0"/>
          </a:p>
        </p:txBody>
      </p:sp>
      <p:sp>
        <p:nvSpPr>
          <p:cNvPr id="21" name="Text 19"/>
          <p:cNvSpPr/>
          <p:nvPr/>
        </p:nvSpPr>
        <p:spPr>
          <a:xfrm>
            <a:off x="2443559" y="5755283"/>
            <a:ext cx="3121378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아래 기반부터 위 확장으로 · 면적은 정량 데이터가 아닙니다</a:t>
            </a:r>
            <a:endParaRPr lang="ko-KR" sz="1050" dirty="0"/>
          </a:p>
        </p:txBody>
      </p:sp>
      <p:sp>
        <p:nvSpPr>
          <p:cNvPr id="22" name="Shape 20"/>
          <p:cNvSpPr/>
          <p:nvPr/>
        </p:nvSpPr>
        <p:spPr>
          <a:xfrm>
            <a:off x="7519293" y="2590800"/>
            <a:ext cx="3910707" cy="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9293" y="27432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24" name="Text 22"/>
          <p:cNvSpPr/>
          <p:nvPr/>
        </p:nvSpPr>
        <p:spPr>
          <a:xfrm>
            <a:off x="7519293" y="3008313"/>
            <a:ext cx="265286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기반에는 업무 범위, 자료 접근 조건과 허용</a:t>
            </a:r>
            <a:endParaRPr lang="ko-KR" sz="1250" dirty="0"/>
          </a:p>
        </p:txBody>
      </p:sp>
      <p:sp>
        <p:nvSpPr>
          <p:cNvPr id="25" name="Text 23"/>
          <p:cNvSpPr/>
          <p:nvPr/>
        </p:nvSpPr>
        <p:spPr>
          <a:xfrm>
            <a:off x="7519293" y="3217863"/>
            <a:ext cx="27843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행동을 둡니다. 기능 수보다 먼저 합의합니다.</a:t>
            </a:r>
            <a:endParaRPr lang="ko-KR" sz="1250" dirty="0"/>
          </a:p>
        </p:txBody>
      </p:sp>
      <p:sp>
        <p:nvSpPr>
          <p:cNvPr id="26" name="Shape 24"/>
          <p:cNvSpPr/>
          <p:nvPr/>
        </p:nvSpPr>
        <p:spPr>
          <a:xfrm>
            <a:off x="7519293" y="3839567"/>
            <a:ext cx="391070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9293" y="3960217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28" name="Text 26"/>
          <p:cNvSpPr/>
          <p:nvPr/>
        </p:nvSpPr>
        <p:spPr>
          <a:xfrm>
            <a:off x="7519293" y="4225330"/>
            <a:ext cx="26169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질문과 실패 조건을 검증한 뒤 범위를</a:t>
            </a:r>
            <a:endParaRPr lang="ko-KR" sz="1250" dirty="0"/>
          </a:p>
        </p:txBody>
      </p:sp>
      <p:sp>
        <p:nvSpPr>
          <p:cNvPr id="29" name="Text 27"/>
          <p:cNvSpPr/>
          <p:nvPr/>
        </p:nvSpPr>
        <p:spPr>
          <a:xfrm>
            <a:off x="7519293" y="4434880"/>
            <a:ext cx="3100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넓힙니다. 평가 기록을 다음 단계의 근거로 씁니다.</a:t>
            </a:r>
            <a:endParaRPr lang="ko-KR" sz="1250" dirty="0"/>
          </a:p>
        </p:txBody>
      </p:sp>
      <p:sp>
        <p:nvSpPr>
          <p:cNvPr id="30" name="Shape 28"/>
          <p:cNvSpPr/>
          <p:nvPr/>
        </p:nvSpPr>
        <p:spPr>
          <a:xfrm>
            <a:off x="7519293" y="5088434"/>
            <a:ext cx="391070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9293" y="5209084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32" name="Text 30"/>
          <p:cNvSpPr/>
          <p:nvPr/>
        </p:nvSpPr>
        <p:spPr>
          <a:xfrm>
            <a:off x="7519293" y="5474196"/>
            <a:ext cx="261109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층의 면적과 높이는 수치가 아닙니다. 실제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7519293" y="5683746"/>
            <a:ext cx="2843963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도입에서는 병렬 작업과 재검토가 가능합니다.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996962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후보를 검증 가능한 작은 범위로 좁힙니다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47087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FUNNEL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46395" y="279400"/>
            <a:ext cx="2112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17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6536289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 업무 선정 흐름입니다. 도입 사례의 수량·전환율·성과를 측정한 퍼널이 아닙니다.</a:t>
            </a:r>
            <a:endParaRPr lang="ko-KR" sz="1600" dirty="0"/>
          </a:p>
        </p:txBody>
      </p:sp>
      <p:pic>
        <p:nvPicPr>
          <p:cNvPr id="9" name="Image 0" descr="CSS deco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707283"/>
            <a:ext cx="6452493" cy="723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45396" y="2796183"/>
            <a:ext cx="71760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업무 후보</a:t>
            </a:r>
            <a:endParaRPr lang="ko-KR" sz="1450" dirty="0"/>
          </a:p>
        </p:txBody>
      </p:sp>
      <p:sp>
        <p:nvSpPr>
          <p:cNvPr id="11" name="Text 8"/>
          <p:cNvSpPr/>
          <p:nvPr/>
        </p:nvSpPr>
        <p:spPr>
          <a:xfrm>
            <a:off x="2902148" y="3089672"/>
            <a:ext cx="2204200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반복 질문과 자료 위치를 살펴봅니다.</a:t>
            </a:r>
            <a:endParaRPr lang="ko-KR" sz="1200" dirty="0"/>
          </a:p>
        </p:txBody>
      </p:sp>
      <p:pic>
        <p:nvPicPr>
          <p:cNvPr id="12" name="Image 1" descr="CSS deco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81" y="3494683"/>
            <a:ext cx="5355530" cy="723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5396" y="3583583"/>
            <a:ext cx="71760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자료 확인</a:t>
            </a:r>
            <a:endParaRPr lang="ko-KR" sz="1450" dirty="0"/>
          </a:p>
        </p:txBody>
      </p:sp>
      <p:sp>
        <p:nvSpPr>
          <p:cNvPr id="14" name="Text 10"/>
          <p:cNvSpPr/>
          <p:nvPr/>
        </p:nvSpPr>
        <p:spPr>
          <a:xfrm>
            <a:off x="2902148" y="3877072"/>
            <a:ext cx="2204200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 범위와 이용 조건을 확인합니다.</a:t>
            </a:r>
            <a:endParaRPr lang="ko-KR" sz="1200" dirty="0"/>
          </a:p>
        </p:txBody>
      </p:sp>
      <p:pic>
        <p:nvPicPr>
          <p:cNvPr id="15" name="Image 2" descr="CSS decor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963" y="4282083"/>
            <a:ext cx="4258568" cy="723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45396" y="4370983"/>
            <a:ext cx="71760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제한 실험</a:t>
            </a:r>
            <a:endParaRPr lang="ko-KR" sz="1450" dirty="0"/>
          </a:p>
        </p:txBody>
      </p:sp>
      <p:sp>
        <p:nvSpPr>
          <p:cNvPr id="17" name="Text 12"/>
          <p:cNvSpPr/>
          <p:nvPr/>
        </p:nvSpPr>
        <p:spPr>
          <a:xfrm>
            <a:off x="2902148" y="4664472"/>
            <a:ext cx="2204200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질문과 실패 조건을 검토합니다.</a:t>
            </a:r>
            <a:endParaRPr lang="ko-KR" sz="1200" dirty="0"/>
          </a:p>
        </p:txBody>
      </p:sp>
      <p:pic>
        <p:nvPicPr>
          <p:cNvPr id="18" name="Image 3" descr="CSS deco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345" y="5069483"/>
            <a:ext cx="3161705" cy="723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645396" y="5158383"/>
            <a:ext cx="71760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 합의</a:t>
            </a:r>
            <a:endParaRPr lang="ko-KR" sz="1450" dirty="0"/>
          </a:p>
        </p:txBody>
      </p:sp>
      <p:sp>
        <p:nvSpPr>
          <p:cNvPr id="20" name="Text 14"/>
          <p:cNvSpPr/>
          <p:nvPr/>
        </p:nvSpPr>
        <p:spPr>
          <a:xfrm>
            <a:off x="3053953" y="5451872"/>
            <a:ext cx="1900492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담당자와 남은 질문을 남깁니다.</a:t>
            </a:r>
            <a:endParaRPr lang="ko-KR" sz="1200" dirty="0"/>
          </a:p>
        </p:txBody>
      </p:sp>
      <p:sp>
        <p:nvSpPr>
          <p:cNvPr id="21" name="Text 15"/>
          <p:cNvSpPr/>
          <p:nvPr/>
        </p:nvSpPr>
        <p:spPr>
          <a:xfrm>
            <a:off x="2385913" y="5939433"/>
            <a:ext cx="3236670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선정 기준으로 범위를 좁힙니다 · 폭은 실제 전환율이 아닙니다</a:t>
            </a:r>
            <a:endParaRPr lang="ko-KR" sz="1050" dirty="0"/>
          </a:p>
        </p:txBody>
      </p:sp>
      <p:sp>
        <p:nvSpPr>
          <p:cNvPr id="22" name="Shape 16"/>
          <p:cNvSpPr/>
          <p:nvPr/>
        </p:nvSpPr>
        <p:spPr>
          <a:xfrm>
            <a:off x="7519293" y="2590800"/>
            <a:ext cx="3910707" cy="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19293" y="27432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24" name="Text 18"/>
          <p:cNvSpPr/>
          <p:nvPr/>
        </p:nvSpPr>
        <p:spPr>
          <a:xfrm>
            <a:off x="7519293" y="3008313"/>
            <a:ext cx="302890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반복 질문과 자료 위치가 명확한 업무부터 후보로</a:t>
            </a:r>
            <a:endParaRPr lang="ko-KR" sz="1250" dirty="0"/>
          </a:p>
        </p:txBody>
      </p:sp>
      <p:sp>
        <p:nvSpPr>
          <p:cNvPr id="25" name="Text 19"/>
          <p:cNvSpPr/>
          <p:nvPr/>
        </p:nvSpPr>
        <p:spPr>
          <a:xfrm>
            <a:off x="7519293" y="3217863"/>
            <a:ext cx="27843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모읍니다. 자료 이용 조건을 함께 확인합니다.</a:t>
            </a:r>
            <a:endParaRPr lang="ko-KR" sz="1250" dirty="0"/>
          </a:p>
        </p:txBody>
      </p:sp>
      <p:sp>
        <p:nvSpPr>
          <p:cNvPr id="26" name="Shape 20"/>
          <p:cNvSpPr/>
          <p:nvPr/>
        </p:nvSpPr>
        <p:spPr>
          <a:xfrm>
            <a:off x="7519293" y="3839567"/>
            <a:ext cx="391070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519293" y="3960217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28" name="Text 22"/>
          <p:cNvSpPr/>
          <p:nvPr/>
        </p:nvSpPr>
        <p:spPr>
          <a:xfrm>
            <a:off x="7519293" y="4225330"/>
            <a:ext cx="2712498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작은 실험에서 확인할 질문과 제외할 행동을</a:t>
            </a:r>
            <a:endParaRPr lang="ko-KR" sz="1250" dirty="0"/>
          </a:p>
        </p:txBody>
      </p:sp>
      <p:sp>
        <p:nvSpPr>
          <p:cNvPr id="29" name="Text 23"/>
          <p:cNvSpPr/>
          <p:nvPr/>
        </p:nvSpPr>
        <p:spPr>
          <a:xfrm>
            <a:off x="7519293" y="4434880"/>
            <a:ext cx="2605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명확히 합니다. 보류한 이유도 기록합니다.</a:t>
            </a:r>
            <a:endParaRPr lang="ko-KR" sz="1250" dirty="0"/>
          </a:p>
        </p:txBody>
      </p:sp>
      <p:sp>
        <p:nvSpPr>
          <p:cNvPr id="30" name="Shape 24"/>
          <p:cNvSpPr/>
          <p:nvPr/>
        </p:nvSpPr>
        <p:spPr>
          <a:xfrm>
            <a:off x="7519293" y="5088434"/>
            <a:ext cx="391070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519293" y="5209084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32" name="Text 26"/>
          <p:cNvSpPr/>
          <p:nvPr/>
        </p:nvSpPr>
        <p:spPr>
          <a:xfrm>
            <a:off x="7519293" y="5474196"/>
            <a:ext cx="274841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폭은 정성적인 범위 축소만 나타냅니다. 고객</a:t>
            </a:r>
            <a:endParaRPr lang="ko-KR" sz="1250" dirty="0"/>
          </a:p>
        </p:txBody>
      </p:sp>
      <p:sp>
        <p:nvSpPr>
          <p:cNvPr id="33" name="Text 27"/>
          <p:cNvSpPr/>
          <p:nvPr/>
        </p:nvSpPr>
        <p:spPr>
          <a:xfrm>
            <a:off x="7519293" y="5683746"/>
            <a:ext cx="316037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도입률이나 실제 검증 성공률로 인용하지 않습니다.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904292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영향과 가능성을 나누어 대응 순서를 정합니다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3129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RISKMAP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31909" y="279400"/>
            <a:ext cx="22577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18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7261479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가상의 검토 연습입니다. 구역 배치는 실제 시스템의 위험 평가나 발생 확률을 뜻하지 않습니다.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590800"/>
            <a:ext cx="403578" cy="19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영향 ↑</a:t>
            </a:r>
            <a:endParaRPr lang="ko-KR" sz="1150" dirty="0"/>
          </a:p>
        </p:txBody>
      </p:sp>
      <p:sp>
        <p:nvSpPr>
          <p:cNvPr id="10" name="Text 8"/>
          <p:cNvSpPr/>
          <p:nvPr/>
        </p:nvSpPr>
        <p:spPr>
          <a:xfrm>
            <a:off x="5859264" y="6019800"/>
            <a:ext cx="1387233" cy="19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가능성 → 낮음에서 높음</a:t>
            </a:r>
            <a:endParaRPr lang="ko-KR" sz="1150" dirty="0"/>
          </a:p>
        </p:txBody>
      </p:sp>
      <p:sp>
        <p:nvSpPr>
          <p:cNvPr id="11" name="Shape 9"/>
          <p:cNvSpPr/>
          <p:nvPr/>
        </p:nvSpPr>
        <p:spPr>
          <a:xfrm>
            <a:off x="762000" y="2857500"/>
            <a:ext cx="3181747" cy="0"/>
          </a:xfrm>
          <a:prstGeom prst="line">
            <a:avLst/>
          </a:prstGeom>
          <a:noFill/>
          <a:ln w="19050">
            <a:solidFill>
              <a:srgbClr val="0E0E0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43747" y="2857500"/>
            <a:ext cx="0" cy="147955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4337050"/>
            <a:ext cx="318174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2857500"/>
            <a:ext cx="0" cy="147955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5350" y="3003550"/>
            <a:ext cx="125090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높은 영향 · 낮은 가능성</a:t>
            </a:r>
            <a:endParaRPr lang="ko-KR" sz="1050" dirty="0"/>
          </a:p>
        </p:txBody>
      </p:sp>
      <p:sp>
        <p:nvSpPr>
          <p:cNvPr id="16" name="Text 14"/>
          <p:cNvSpPr/>
          <p:nvPr/>
        </p:nvSpPr>
        <p:spPr>
          <a:xfrm>
            <a:off x="895350" y="3282950"/>
            <a:ext cx="1292380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권한 밖 자료 노출</a:t>
            </a:r>
            <a:endParaRPr lang="ko-KR" sz="1450" dirty="0"/>
          </a:p>
        </p:txBody>
      </p:sp>
      <p:sp>
        <p:nvSpPr>
          <p:cNvPr id="17" name="Text 15"/>
          <p:cNvSpPr/>
          <p:nvPr/>
        </p:nvSpPr>
        <p:spPr>
          <a:xfrm>
            <a:off x="895350" y="3576439"/>
            <a:ext cx="1562255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낮은 가능성으로 가정해도</a:t>
            </a:r>
            <a:endParaRPr lang="ko-KR" sz="1200" dirty="0"/>
          </a:p>
        </p:txBody>
      </p:sp>
      <p:sp>
        <p:nvSpPr>
          <p:cNvPr id="18" name="Text 16"/>
          <p:cNvSpPr/>
          <p:nvPr/>
        </p:nvSpPr>
        <p:spPr>
          <a:xfrm>
            <a:off x="895350" y="3774480"/>
            <a:ext cx="1636867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접근 통제와 점검을 둡니다.</a:t>
            </a:r>
            <a:endParaRPr lang="ko-KR" sz="1200" dirty="0"/>
          </a:p>
        </p:txBody>
      </p:sp>
      <p:sp>
        <p:nvSpPr>
          <p:cNvPr id="19" name="Shape 17"/>
          <p:cNvSpPr/>
          <p:nvPr/>
        </p:nvSpPr>
        <p:spPr>
          <a:xfrm>
            <a:off x="4032647" y="2857500"/>
            <a:ext cx="3181846" cy="147955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32647" y="2857500"/>
            <a:ext cx="3181846" cy="0"/>
          </a:xfrm>
          <a:prstGeom prst="line">
            <a:avLst/>
          </a:prstGeom>
          <a:noFill/>
          <a:ln w="19050">
            <a:solidFill>
              <a:srgbClr val="0F6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14493" y="2857500"/>
            <a:ext cx="0" cy="1479550"/>
          </a:xfrm>
          <a:prstGeom prst="line">
            <a:avLst/>
          </a:prstGeom>
          <a:noFill/>
          <a:ln w="6350">
            <a:solidFill>
              <a:srgbClr val="0F62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32647" y="4337050"/>
            <a:ext cx="3181846" cy="0"/>
          </a:xfrm>
          <a:prstGeom prst="line">
            <a:avLst/>
          </a:prstGeom>
          <a:noFill/>
          <a:ln w="6350">
            <a:solidFill>
              <a:srgbClr val="0F6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32647" y="2857500"/>
            <a:ext cx="0" cy="1479550"/>
          </a:xfrm>
          <a:prstGeom prst="line">
            <a:avLst/>
          </a:prstGeom>
          <a:noFill/>
          <a:ln w="6350">
            <a:solidFill>
              <a:srgbClr val="0F6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5997" y="3003550"/>
            <a:ext cx="125090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높은 영향 · 높은 가능성</a:t>
            </a:r>
            <a:endParaRPr lang="ko-KR" sz="1050" dirty="0"/>
          </a:p>
        </p:txBody>
      </p:sp>
      <p:sp>
        <p:nvSpPr>
          <p:cNvPr id="25" name="Text 23"/>
          <p:cNvSpPr/>
          <p:nvPr/>
        </p:nvSpPr>
        <p:spPr>
          <a:xfrm>
            <a:off x="4165997" y="3282950"/>
            <a:ext cx="145162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근거 없는 중요 답변</a:t>
            </a:r>
            <a:endParaRPr lang="ko-KR" sz="1450" dirty="0"/>
          </a:p>
        </p:txBody>
      </p:sp>
      <p:sp>
        <p:nvSpPr>
          <p:cNvPr id="26" name="Text 24"/>
          <p:cNvSpPr/>
          <p:nvPr/>
        </p:nvSpPr>
        <p:spPr>
          <a:xfrm>
            <a:off x="4165997" y="3576439"/>
            <a:ext cx="2903395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높은 영향과 가능성을 가정하고 우선 확인합니다.</a:t>
            </a:r>
            <a:endParaRPr lang="ko-KR" sz="1200" dirty="0"/>
          </a:p>
        </p:txBody>
      </p:sp>
      <p:sp>
        <p:nvSpPr>
          <p:cNvPr id="27" name="Shape 25"/>
          <p:cNvSpPr/>
          <p:nvPr/>
        </p:nvSpPr>
        <p:spPr>
          <a:xfrm>
            <a:off x="762000" y="4425950"/>
            <a:ext cx="3181747" cy="0"/>
          </a:xfrm>
          <a:prstGeom prst="line">
            <a:avLst/>
          </a:prstGeom>
          <a:noFill/>
          <a:ln w="19050">
            <a:solidFill>
              <a:srgbClr val="0E0E0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43747" y="4425950"/>
            <a:ext cx="0" cy="147955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" y="5905500"/>
            <a:ext cx="318174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2000" y="4425950"/>
            <a:ext cx="0" cy="147955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5350" y="4572000"/>
            <a:ext cx="125090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낮은 영향 · 낮은 가능성</a:t>
            </a:r>
            <a:endParaRPr lang="ko-KR" sz="1050" dirty="0"/>
          </a:p>
        </p:txBody>
      </p:sp>
      <p:sp>
        <p:nvSpPr>
          <p:cNvPr id="32" name="Text 30"/>
          <p:cNvSpPr/>
          <p:nvPr/>
        </p:nvSpPr>
        <p:spPr>
          <a:xfrm>
            <a:off x="895350" y="4851400"/>
            <a:ext cx="108461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드문 표시 오류</a:t>
            </a:r>
            <a:endParaRPr lang="ko-KR" sz="1450" dirty="0"/>
          </a:p>
        </p:txBody>
      </p:sp>
      <p:sp>
        <p:nvSpPr>
          <p:cNvPr id="33" name="Text 31"/>
          <p:cNvSpPr/>
          <p:nvPr/>
        </p:nvSpPr>
        <p:spPr>
          <a:xfrm>
            <a:off x="895350" y="5144889"/>
            <a:ext cx="2903395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낮은 영향으로 가정하고 변화 신호를 살펴봅니다.</a:t>
            </a:r>
            <a:endParaRPr lang="ko-KR" sz="1200" dirty="0"/>
          </a:p>
        </p:txBody>
      </p:sp>
      <p:sp>
        <p:nvSpPr>
          <p:cNvPr id="34" name="Shape 32"/>
          <p:cNvSpPr/>
          <p:nvPr/>
        </p:nvSpPr>
        <p:spPr>
          <a:xfrm>
            <a:off x="4032647" y="4425950"/>
            <a:ext cx="3181846" cy="1479550"/>
          </a:xfrm>
          <a:prstGeom prst="rect">
            <a:avLst/>
          </a:prstGeom>
          <a:solidFill>
            <a:srgbClr val="EDF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32647" y="4425950"/>
            <a:ext cx="3181846" cy="0"/>
          </a:xfrm>
          <a:prstGeom prst="line">
            <a:avLst/>
          </a:prstGeom>
          <a:noFill/>
          <a:ln w="19050">
            <a:solidFill>
              <a:srgbClr val="0E0E0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14493" y="4425950"/>
            <a:ext cx="0" cy="147955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32647" y="5905500"/>
            <a:ext cx="3181846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32647" y="4425950"/>
            <a:ext cx="0" cy="147955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5997" y="4572000"/>
            <a:ext cx="1250906" cy="177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낮은 영향 · 높은 가능성</a:t>
            </a:r>
            <a:endParaRPr lang="ko-KR" sz="1050" dirty="0"/>
          </a:p>
        </p:txBody>
      </p:sp>
      <p:sp>
        <p:nvSpPr>
          <p:cNvPr id="40" name="Text 38"/>
          <p:cNvSpPr/>
          <p:nvPr/>
        </p:nvSpPr>
        <p:spPr>
          <a:xfrm>
            <a:off x="4165997" y="4851400"/>
            <a:ext cx="1084616" cy="24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반복 형식 오류</a:t>
            </a:r>
            <a:endParaRPr lang="ko-KR" sz="1450" dirty="0"/>
          </a:p>
        </p:txBody>
      </p:sp>
      <p:sp>
        <p:nvSpPr>
          <p:cNvPr id="41" name="Text 39"/>
          <p:cNvSpPr/>
          <p:nvPr/>
        </p:nvSpPr>
        <p:spPr>
          <a:xfrm>
            <a:off x="4165997" y="5144889"/>
            <a:ext cx="160233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작은 실패가 반복되지 않게</a:t>
            </a:r>
            <a:endParaRPr lang="ko-KR" sz="1200" dirty="0"/>
          </a:p>
        </p:txBody>
      </p:sp>
      <p:sp>
        <p:nvSpPr>
          <p:cNvPr id="42" name="Text 40"/>
          <p:cNvSpPr/>
          <p:nvPr/>
        </p:nvSpPr>
        <p:spPr>
          <a:xfrm>
            <a:off x="4165997" y="5342930"/>
            <a:ext cx="1470974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입력·출력을 점검합니다.</a:t>
            </a:r>
            <a:endParaRPr lang="ko-KR" sz="1200" dirty="0"/>
          </a:p>
        </p:txBody>
      </p:sp>
      <p:sp>
        <p:nvSpPr>
          <p:cNvPr id="43" name="Shape 41"/>
          <p:cNvSpPr/>
          <p:nvPr/>
        </p:nvSpPr>
        <p:spPr>
          <a:xfrm>
            <a:off x="7519293" y="2590800"/>
            <a:ext cx="3910707" cy="0"/>
          </a:xfrm>
          <a:prstGeom prst="line">
            <a:avLst/>
          </a:prstGeom>
          <a:noFill/>
          <a:ln w="38100">
            <a:solidFill>
              <a:srgbClr val="0F62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19293" y="274320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45" name="Text 43"/>
          <p:cNvSpPr/>
          <p:nvPr/>
        </p:nvSpPr>
        <p:spPr>
          <a:xfrm>
            <a:off x="7519293" y="3008313"/>
            <a:ext cx="274256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영향은 위로, 가능성은 오른쪽으로 커집니다.</a:t>
            </a:r>
            <a:endParaRPr lang="ko-KR" sz="1250" dirty="0"/>
          </a:p>
        </p:txBody>
      </p:sp>
      <p:sp>
        <p:nvSpPr>
          <p:cNvPr id="46" name="Text 44"/>
          <p:cNvSpPr/>
          <p:nvPr/>
        </p:nvSpPr>
        <p:spPr>
          <a:xfrm>
            <a:off x="7519293" y="3217863"/>
            <a:ext cx="233645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축의 판단 기준을 먼저 합의합니다.</a:t>
            </a:r>
            <a:endParaRPr lang="ko-KR" sz="1250" dirty="0"/>
          </a:p>
        </p:txBody>
      </p:sp>
      <p:sp>
        <p:nvSpPr>
          <p:cNvPr id="47" name="Shape 45"/>
          <p:cNvSpPr/>
          <p:nvPr/>
        </p:nvSpPr>
        <p:spPr>
          <a:xfrm>
            <a:off x="7519293" y="3839567"/>
            <a:ext cx="391070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19293" y="3960217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49" name="Text 47"/>
          <p:cNvSpPr/>
          <p:nvPr/>
        </p:nvSpPr>
        <p:spPr>
          <a:xfrm>
            <a:off x="7519293" y="4225330"/>
            <a:ext cx="26169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문제도 입력 자료와 허용 행동에 따라</a:t>
            </a:r>
            <a:endParaRPr lang="ko-KR" sz="1250" dirty="0"/>
          </a:p>
        </p:txBody>
      </p:sp>
      <p:sp>
        <p:nvSpPr>
          <p:cNvPr id="50" name="Text 48"/>
          <p:cNvSpPr/>
          <p:nvPr/>
        </p:nvSpPr>
        <p:spPr>
          <a:xfrm>
            <a:off x="7519293" y="4434880"/>
            <a:ext cx="30589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위치가 달라집니다. 증거에 따라 다시 분류합니다.</a:t>
            </a:r>
            <a:endParaRPr lang="ko-KR" sz="1250" dirty="0"/>
          </a:p>
        </p:txBody>
      </p:sp>
      <p:sp>
        <p:nvSpPr>
          <p:cNvPr id="51" name="Shape 49"/>
          <p:cNvSpPr/>
          <p:nvPr/>
        </p:nvSpPr>
        <p:spPr>
          <a:xfrm>
            <a:off x="7519293" y="5088434"/>
            <a:ext cx="3910707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19293" y="5209084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53" name="Text 51"/>
          <p:cNvSpPr/>
          <p:nvPr/>
        </p:nvSpPr>
        <p:spPr>
          <a:xfrm>
            <a:off x="7519293" y="5474196"/>
            <a:ext cx="3064824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표시한 위치는 설명용 가정입니다. 실제 위험 수용</a:t>
            </a:r>
            <a:endParaRPr lang="ko-KR" sz="1250" dirty="0"/>
          </a:p>
        </p:txBody>
      </p:sp>
      <p:sp>
        <p:nvSpPr>
          <p:cNvPr id="54" name="Text 52"/>
          <p:cNvSpPr/>
          <p:nvPr/>
        </p:nvSpPr>
        <p:spPr>
          <a:xfrm>
            <a:off x="7519293" y="5683746"/>
            <a:ext cx="2617446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·출시 승인은 담당자의 검토가 필요합니다.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09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4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19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4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29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4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39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4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4" dur="7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59" dur="7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4" dur="7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69" dur="7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566948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단계마다 맡을 일과 넘길 근거를 연결합니다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67020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SWIMLANE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834787" y="279400"/>
            <a:ext cx="22290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19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752937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spc="-29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가상의 협업 예시입니다. 행은 담당 역할, 열은 단계이며 실제 조직의 역할 배정을 뜻하지 않습니다.</a:t>
            </a:r>
            <a:endParaRPr lang="ko-KR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90800"/>
          <a:ext cx="10668000" cy="2143125"/>
        </p:xfrm>
        <a:graphic>
          <a:graphicData uri="http://schemas.openxmlformats.org/drawingml/2006/table">
            <a:tbl>
              <a:tblPr/>
              <a:tblGrid>
                <a:gridCol w="1524000"/>
                <a:gridCol w="3048000"/>
                <a:gridCol w="3048000"/>
                <a:gridCol w="3048000"/>
              </a:tblGrid>
              <a:tr h="395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역할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범위·근거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구현·평가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출시·운영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2FE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업무 담당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업무·대표 질문 정의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답변 검토 기준 제공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사용 범위와 보류 조건 확인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개발 담당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자료 접근 조건 확인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응용 구현·실패 사례 기록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릴리스 근거·남은 문제 인계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운영 담당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관측·기록 범위 합의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신호·대응 절차 검토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0E0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상태 확인·재검토 연결</a:t>
                      </a:r>
                      <a:endParaRPr lang="en-US" sz="12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27000" marR="127000" marT="88900" marB="88900" anchor="ctr">
                    <a:lnL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4864100"/>
            <a:ext cx="3454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2000" y="49466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판단 기준</a:t>
            </a:r>
            <a:endParaRPr lang="ko-KR" sz="1250" dirty="0"/>
          </a:p>
        </p:txBody>
      </p:sp>
      <p:sp>
        <p:nvSpPr>
          <p:cNvPr id="12" name="Text 9"/>
          <p:cNvSpPr/>
          <p:nvPr/>
        </p:nvSpPr>
        <p:spPr>
          <a:xfrm>
            <a:off x="762000" y="5211763"/>
            <a:ext cx="2531126" cy="19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셀은 해당 역할의 행동과 전달할 근거입니다.</a:t>
            </a:r>
            <a:endParaRPr lang="ko-KR" sz="1150" dirty="0"/>
          </a:p>
        </p:txBody>
      </p:sp>
      <p:sp>
        <p:nvSpPr>
          <p:cNvPr id="13" name="Text 10"/>
          <p:cNvSpPr/>
          <p:nvPr/>
        </p:nvSpPr>
        <p:spPr>
          <a:xfrm>
            <a:off x="762000" y="5404545"/>
            <a:ext cx="2948539" cy="19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색상은 권한이나 승인 완료 상태를 뜻하지 않습니다.</a:t>
            </a:r>
            <a:endParaRPr lang="ko-KR" sz="1150" dirty="0"/>
          </a:p>
        </p:txBody>
      </p:sp>
      <p:sp>
        <p:nvSpPr>
          <p:cNvPr id="14" name="Shape 11"/>
          <p:cNvSpPr/>
          <p:nvPr/>
        </p:nvSpPr>
        <p:spPr>
          <a:xfrm>
            <a:off x="4368800" y="4864100"/>
            <a:ext cx="3454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8800" y="49466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읽는 관점</a:t>
            </a:r>
            <a:endParaRPr lang="ko-KR" sz="1250" dirty="0"/>
          </a:p>
        </p:txBody>
      </p:sp>
      <p:sp>
        <p:nvSpPr>
          <p:cNvPr id="16" name="Text 13"/>
          <p:cNvSpPr/>
          <p:nvPr/>
        </p:nvSpPr>
        <p:spPr>
          <a:xfrm>
            <a:off x="4368800" y="5211763"/>
            <a:ext cx="2531126" cy="19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각 인계에는 조건과 담당자를 남깁니다. 개발</a:t>
            </a:r>
            <a:endParaRPr lang="ko-KR" sz="1150" dirty="0"/>
          </a:p>
        </p:txBody>
      </p:sp>
      <p:sp>
        <p:nvSpPr>
          <p:cNvPr id="17" name="Text 14"/>
          <p:cNvSpPr/>
          <p:nvPr/>
        </p:nvSpPr>
        <p:spPr>
          <a:xfrm>
            <a:off x="4368800" y="5404545"/>
            <a:ext cx="2492728" cy="19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완료만으로 출시 승인을 대신하지 않습니다.</a:t>
            </a:r>
            <a:endParaRPr lang="ko-KR" sz="1150" dirty="0"/>
          </a:p>
        </p:txBody>
      </p:sp>
      <p:sp>
        <p:nvSpPr>
          <p:cNvPr id="18" name="Shape 15"/>
          <p:cNvSpPr/>
          <p:nvPr/>
        </p:nvSpPr>
        <p:spPr>
          <a:xfrm>
            <a:off x="7975600" y="4864100"/>
            <a:ext cx="34544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75600" y="4946650"/>
            <a:ext cx="760369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범위와 한계</a:t>
            </a:r>
            <a:endParaRPr lang="ko-KR" sz="1250" dirty="0"/>
          </a:p>
        </p:txBody>
      </p:sp>
      <p:sp>
        <p:nvSpPr>
          <p:cNvPr id="20" name="Text 17"/>
          <p:cNvSpPr/>
          <p:nvPr/>
        </p:nvSpPr>
        <p:spPr>
          <a:xfrm>
            <a:off x="7975600" y="5211763"/>
            <a:ext cx="2872240" cy="19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팀의 책임·승인·운영 절차는 별도 합의합니다.</a:t>
            </a:r>
            <a:endParaRPr lang="ko-KR" sz="1150" dirty="0"/>
          </a:p>
        </p:txBody>
      </p:sp>
      <p:sp>
        <p:nvSpPr>
          <p:cNvPr id="21" name="Text 18"/>
          <p:cNvSpPr/>
          <p:nvPr/>
        </p:nvSpPr>
        <p:spPr>
          <a:xfrm>
            <a:off x="7975600" y="5404545"/>
            <a:ext cx="2442920" cy="19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표는 조직별 RACI를 대체하지 않습니다.</a:t>
            </a:r>
            <a:endParaRPr lang="ko-KR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229703" cy="507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3200" b="1" spc="-11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작은 업무와 명확한 출시 근거를 남깁니다</a:t>
            </a:r>
            <a:endParaRPr lang="ko-KR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622300"/>
            <a:ext cx="106680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330200"/>
            <a:ext cx="127000" cy="1270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95275"/>
            <a:ext cx="15131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300" b="1" spc="-13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/ CLOSING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10792619" y="279400"/>
            <a:ext cx="26506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b="1" spc="30" kern="0" dirty="0">
                <a:solidFill>
                  <a:srgbClr val="0E0E0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11025684" y="279400"/>
            <a:ext cx="4363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500" spc="30" kern="0" dirty="0">
                <a:solidFill>
                  <a:srgbClr val="AFAFA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20</a:t>
            </a:r>
            <a:endParaRPr lang="ko-KR" sz="1500" dirty="0"/>
          </a:p>
        </p:txBody>
      </p:sp>
      <p:sp>
        <p:nvSpPr>
          <p:cNvPr id="8" name="Shape 6"/>
          <p:cNvSpPr/>
          <p:nvPr/>
        </p:nvSpPr>
        <p:spPr>
          <a:xfrm>
            <a:off x="762000" y="2032000"/>
            <a:ext cx="3365500" cy="0"/>
          </a:xfrm>
          <a:prstGeom prst="line">
            <a:avLst/>
          </a:prstGeom>
          <a:noFill/>
          <a:ln w="508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2152650"/>
            <a:ext cx="482457" cy="64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41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→</a:t>
            </a:r>
            <a:endParaRPr lang="ko-KR" sz="4100" dirty="0"/>
          </a:p>
        </p:txBody>
      </p:sp>
      <p:sp>
        <p:nvSpPr>
          <p:cNvPr id="10" name="Text 8"/>
          <p:cNvSpPr/>
          <p:nvPr/>
        </p:nvSpPr>
        <p:spPr>
          <a:xfrm>
            <a:off x="762000" y="2889250"/>
            <a:ext cx="3208195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spc="-3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Foundry 도입은 기능 목록보다 업무·</a:t>
            </a:r>
            <a:endParaRPr lang="ko-KR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3186410"/>
            <a:ext cx="2776196" cy="2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800" spc="-32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통제·검증을 연결하는 일입니다.</a:t>
            </a:r>
            <a:endParaRPr lang="ko-KR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468838"/>
            <a:ext cx="336550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5551388"/>
            <a:ext cx="80214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이제 정할 것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762000" y="5810151"/>
            <a:ext cx="338123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모델과 도구, 에이전트의 역할을 구분한 뒤 필요한 구현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762000" y="6016526"/>
            <a:ext cx="12082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범위를 선택합니다.</a:t>
            </a:r>
            <a:endParaRPr lang="ko-KR" sz="1250" dirty="0"/>
          </a:p>
        </p:txBody>
      </p:sp>
      <p:sp>
        <p:nvSpPr>
          <p:cNvPr id="16" name="Shape 14"/>
          <p:cNvSpPr/>
          <p:nvPr/>
        </p:nvSpPr>
        <p:spPr>
          <a:xfrm>
            <a:off x="4381500" y="2032000"/>
            <a:ext cx="7048500" cy="0"/>
          </a:xfrm>
          <a:prstGeom prst="line">
            <a:avLst/>
          </a:prstGeom>
          <a:noFill/>
          <a:ln w="12700">
            <a:solidFill>
              <a:srgbClr val="0E0E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1500" y="2878634"/>
            <a:ext cx="7048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1500" y="2350492"/>
            <a:ext cx="212880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01</a:t>
            </a:r>
            <a:endParaRPr lang="ko-KR" sz="1400" dirty="0"/>
          </a:p>
        </p:txBody>
      </p:sp>
      <p:sp>
        <p:nvSpPr>
          <p:cNvPr id="19" name="Text 17"/>
          <p:cNvSpPr/>
          <p:nvPr/>
        </p:nvSpPr>
        <p:spPr>
          <a:xfrm>
            <a:off x="4775200" y="2328962"/>
            <a:ext cx="1494290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첫 업무를 고릅니다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6667500" y="2355255"/>
            <a:ext cx="384756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질문·데이터·허용 행동이 명확한 사례 하나로 범위를 좁힙니다.</a:t>
            </a:r>
            <a:endParaRPr lang="ko-KR" sz="1250" dirty="0"/>
          </a:p>
        </p:txBody>
      </p:sp>
      <p:sp>
        <p:nvSpPr>
          <p:cNvPr id="21" name="Shape 19"/>
          <p:cNvSpPr/>
          <p:nvPr/>
        </p:nvSpPr>
        <p:spPr>
          <a:xfrm>
            <a:off x="4381500" y="3712567"/>
            <a:ext cx="7048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1500" y="3184426"/>
            <a:ext cx="241157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ko-KR" sz="1400" dirty="0"/>
          </a:p>
        </p:txBody>
      </p:sp>
      <p:sp>
        <p:nvSpPr>
          <p:cNvPr id="23" name="Text 21"/>
          <p:cNvSpPr/>
          <p:nvPr/>
        </p:nvSpPr>
        <p:spPr>
          <a:xfrm>
            <a:off x="4775200" y="3046016"/>
            <a:ext cx="1104559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필요한 증거를</a:t>
            </a:r>
            <a:endParaRPr lang="ko-KR" sz="1600" dirty="0"/>
          </a:p>
        </p:txBody>
      </p:sp>
      <p:sp>
        <p:nvSpPr>
          <p:cNvPr id="24" name="Text 22"/>
          <p:cNvSpPr/>
          <p:nvPr/>
        </p:nvSpPr>
        <p:spPr>
          <a:xfrm>
            <a:off x="4775200" y="3279676"/>
            <a:ext cx="714827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정합니다</a:t>
            </a:r>
            <a:endParaRPr lang="ko-KR" sz="1600" dirty="0"/>
          </a:p>
        </p:txBody>
      </p:sp>
      <p:sp>
        <p:nvSpPr>
          <p:cNvPr id="25" name="Text 23"/>
          <p:cNvSpPr/>
          <p:nvPr/>
        </p:nvSpPr>
        <p:spPr>
          <a:xfrm>
            <a:off x="6667500" y="3189188"/>
            <a:ext cx="3286081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대표 질문, 실패 조건과 출시·보류 기준을 합의합니다.</a:t>
            </a:r>
            <a:endParaRPr lang="ko-KR" sz="1250" dirty="0"/>
          </a:p>
        </p:txBody>
      </p:sp>
      <p:sp>
        <p:nvSpPr>
          <p:cNvPr id="26" name="Shape 24"/>
          <p:cNvSpPr/>
          <p:nvPr/>
        </p:nvSpPr>
        <p:spPr>
          <a:xfrm>
            <a:off x="4381500" y="4546501"/>
            <a:ext cx="7048500" cy="0"/>
          </a:xfrm>
          <a:prstGeom prst="line">
            <a:avLst/>
          </a:prstGeom>
          <a:noFill/>
          <a:ln w="6350">
            <a:solidFill>
              <a:srgbClr val="E7E7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1500" y="4018359"/>
            <a:ext cx="240066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F62F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ko-KR" sz="1400" dirty="0"/>
          </a:p>
        </p:txBody>
      </p:sp>
      <p:sp>
        <p:nvSpPr>
          <p:cNvPr id="28" name="Text 26"/>
          <p:cNvSpPr/>
          <p:nvPr/>
        </p:nvSpPr>
        <p:spPr>
          <a:xfrm>
            <a:off x="4775200" y="3879949"/>
            <a:ext cx="933902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검토 책임을</a:t>
            </a:r>
            <a:endParaRPr lang="ko-KR" sz="1600" dirty="0"/>
          </a:p>
        </p:txBody>
      </p:sp>
      <p:sp>
        <p:nvSpPr>
          <p:cNvPr id="29" name="Text 27"/>
          <p:cNvSpPr/>
          <p:nvPr/>
        </p:nvSpPr>
        <p:spPr>
          <a:xfrm>
            <a:off x="4775200" y="4113609"/>
            <a:ext cx="885484" cy="265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600" b="1" spc="-40" kern="0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연결합니다</a:t>
            </a:r>
            <a:endParaRPr lang="ko-KR" sz="1600" dirty="0"/>
          </a:p>
        </p:txBody>
      </p:sp>
      <p:sp>
        <p:nvSpPr>
          <p:cNvPr id="30" name="Text 28"/>
          <p:cNvSpPr/>
          <p:nvPr/>
        </p:nvSpPr>
        <p:spPr>
          <a:xfrm>
            <a:off x="6667500" y="4023122"/>
            <a:ext cx="3100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담당자, 남은 질문과 다음 확인 시점을 기록합니다.</a:t>
            </a:r>
            <a:endParaRPr lang="ko-KR" sz="1250" dirty="0"/>
          </a:p>
        </p:txBody>
      </p:sp>
      <p:sp>
        <p:nvSpPr>
          <p:cNvPr id="31" name="Shape 29"/>
          <p:cNvSpPr/>
          <p:nvPr/>
        </p:nvSpPr>
        <p:spPr>
          <a:xfrm>
            <a:off x="4381500" y="4648200"/>
            <a:ext cx="342265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1500" y="47307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남길 합의</a:t>
            </a:r>
            <a:endParaRPr lang="ko-KR" sz="1250" dirty="0"/>
          </a:p>
        </p:txBody>
      </p:sp>
      <p:sp>
        <p:nvSpPr>
          <p:cNvPr id="33" name="Text 31"/>
          <p:cNvSpPr/>
          <p:nvPr/>
        </p:nvSpPr>
        <p:spPr>
          <a:xfrm>
            <a:off x="4381500" y="4989513"/>
            <a:ext cx="3106595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작게 시작하되 접근 조건과 평가 기록, 운영 책임은</a:t>
            </a:r>
            <a:endParaRPr lang="ko-KR" sz="1250" dirty="0"/>
          </a:p>
        </p:txBody>
      </p:sp>
      <p:sp>
        <p:nvSpPr>
          <p:cNvPr id="34" name="Text 32"/>
          <p:cNvSpPr/>
          <p:nvPr/>
        </p:nvSpPr>
        <p:spPr>
          <a:xfrm>
            <a:off x="4381500" y="5195888"/>
            <a:ext cx="166197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처음부터 함께 설계합니다.</a:t>
            </a:r>
            <a:endParaRPr lang="ko-KR" sz="1250" dirty="0"/>
          </a:p>
        </p:txBody>
      </p:sp>
      <p:sp>
        <p:nvSpPr>
          <p:cNvPr id="35" name="Shape 33"/>
          <p:cNvSpPr/>
          <p:nvPr/>
        </p:nvSpPr>
        <p:spPr>
          <a:xfrm>
            <a:off x="8007350" y="4648200"/>
            <a:ext cx="3422650" cy="0"/>
          </a:xfrm>
          <a:prstGeom prst="line">
            <a:avLst/>
          </a:prstGeom>
          <a:noFill/>
          <a:ln w="6350">
            <a:solidFill>
              <a:srgbClr val="0E0E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7350" y="4730750"/>
            <a:ext cx="623050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E0E0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남길 질문</a:t>
            </a:r>
            <a:endParaRPr lang="ko-KR" sz="1250" dirty="0"/>
          </a:p>
        </p:txBody>
      </p:sp>
      <p:sp>
        <p:nvSpPr>
          <p:cNvPr id="37" name="Text 35"/>
          <p:cNvSpPr/>
          <p:nvPr/>
        </p:nvSpPr>
        <p:spPr>
          <a:xfrm>
            <a:off x="8007350" y="4989513"/>
            <a:ext cx="3083377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미확인 기능·리전·비용과 남은 실패 사례를 숨기지</a:t>
            </a:r>
            <a:endParaRPr lang="ko-KR" sz="1250" dirty="0"/>
          </a:p>
        </p:txBody>
      </p:sp>
      <p:sp>
        <p:nvSpPr>
          <p:cNvPr id="38" name="Text 36"/>
          <p:cNvSpPr/>
          <p:nvPr/>
        </p:nvSpPr>
        <p:spPr>
          <a:xfrm>
            <a:off x="8007350" y="5195888"/>
            <a:ext cx="3100642" cy="21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6B6B6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않습니다. 이 자료는 실제 배포 보고서가 아닙니다.</a:t>
            </a:r>
            <a:endParaRPr lang="ko-KR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4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4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4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6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7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8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9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09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4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19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2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3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2" presetClass="path" presetSubtype="0" decel="10000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49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59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4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6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4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79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4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42" presetClass="path" presetSubtype="0" decel="10000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0000 0.02778 L 0 0 " pathEditMode="relative" rAng="0" ptsTypes="AA">
                                      <p:cBhvr>
                                        <p:cTn id="189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Foundry on Azure · All 20 templates</dc:title>
  <dc:subject>PptxGenJS Presentation</dc:subject>
  <dc:creator>PptxGenJS</dc:creator>
  <cp:lastModifiedBy>PptxGenJS</cp:lastModifiedBy>
  <cp:revision>1</cp:revision>
  <dcterms:created xsi:type="dcterms:W3CDTF">2026-09-30T14:08:34Z</dcterms:created>
  <dcterms:modified xsi:type="dcterms:W3CDTF">2026-09-30T14:08:34Z</dcterms:modified>
</cp:coreProperties>
</file>